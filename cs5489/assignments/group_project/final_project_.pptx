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3E6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775" autoAdjust="0"/>
  </p:normalViewPr>
  <p:slideViewPr>
    <p:cSldViewPr snapToGrid="0">
      <p:cViewPr varScale="1">
        <p:scale>
          <a:sx n="79" d="100"/>
          <a:sy n="79" d="100"/>
        </p:scale>
        <p:origin x="2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EC563-1761-4DCB-98E3-B4F6BD088F6F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447C-A375-4559-B191-9631F20CB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4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hello </a:t>
            </a:r>
            <a:r>
              <a:rPr lang="en-US" altLang="zh-CN" dirty="0" err="1"/>
              <a:t>eeveryone</a:t>
            </a:r>
            <a:r>
              <a:rPr lang="en-US" altLang="zh-CN" dirty="0"/>
              <a:t>, we are group 98. this is </a:t>
            </a:r>
            <a:r>
              <a:rPr lang="en-US" altLang="zh-CN" dirty="0" err="1"/>
              <a:t>yilin</a:t>
            </a:r>
            <a:r>
              <a:rPr lang="en-US" altLang="zh-CN" dirty="0"/>
              <a:t> and </a:t>
            </a:r>
            <a:r>
              <a:rPr lang="en-US" altLang="zh-CN" dirty="0" err="1"/>
              <a:t>han</a:t>
            </a:r>
            <a:r>
              <a:rPr lang="en-US" altLang="zh-CN" dirty="0"/>
              <a:t> </a:t>
            </a:r>
            <a:r>
              <a:rPr lang="en-US" altLang="zh-CN" dirty="0" err="1"/>
              <a:t>zhuo</a:t>
            </a:r>
            <a:r>
              <a:rPr lang="en-US" altLang="zh-CN" dirty="0"/>
              <a:t>. our final project is about </a:t>
            </a:r>
            <a:r>
              <a:rPr lang="en-US" altLang="zh-CN" dirty="0" err="1"/>
              <a:t>nmt</a:t>
            </a:r>
            <a:r>
              <a:rPr lang="en-US" altLang="zh-CN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“We built a unified NMT framework and ran a systematic study across architectures, tokenization, and training strategies.</a:t>
            </a:r>
            <a:br>
              <a:rPr lang="en-US" altLang="zh-CN" dirty="0"/>
            </a:br>
            <a:r>
              <a:rPr lang="en-US" altLang="zh-CN" dirty="0"/>
              <a:t>Our goal was not only to compare performance, but to understand </a:t>
            </a:r>
            <a:r>
              <a:rPr lang="en-US" altLang="zh-CN" i="1" dirty="0"/>
              <a:t>why</a:t>
            </a:r>
            <a:r>
              <a:rPr lang="en-US" altLang="zh-CN" dirty="0"/>
              <a:t> different choices matter.”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26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5CB0-046C-9406-9473-D0BE9821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BD5A90-3FAC-9902-40B6-4B8A8A6F6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B8461B-8792-628C-7043-E2D525CA1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“Our task is </a:t>
            </a:r>
            <a:r>
              <a:rPr lang="en-US" altLang="zh-CN" dirty="0" err="1"/>
              <a:t>English→German</a:t>
            </a:r>
            <a:r>
              <a:rPr lang="en-US" altLang="zh-CN" dirty="0"/>
              <a:t> translation on IWSLT17.</a:t>
            </a:r>
            <a:br>
              <a:rPr lang="en-US" altLang="zh-CN" dirty="0"/>
            </a:br>
            <a:r>
              <a:rPr lang="en-US" altLang="zh-CN" dirty="0"/>
              <a:t>The dataset is small enough to allow extensive controlled experiments.</a:t>
            </a:r>
            <a:br>
              <a:rPr lang="en-US" altLang="zh-CN" dirty="0"/>
            </a:br>
            <a:r>
              <a:rPr lang="en-US" altLang="zh-CN" dirty="0"/>
              <a:t>We evaluate with BLEU and chrF under both greedy and beam search.</a:t>
            </a:r>
          </a:p>
          <a:p>
            <a:r>
              <a:rPr lang="en-US" altLang="zh-CN" dirty="0"/>
              <a:t>As we all know, NMT performance depends not only on the model but also on tokenization, regularization, and training dynamics. So this is the most crucial start point for this project: We want to understand these effects systematically.”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D9B6E-A738-C1D0-DBFC-7F301174D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999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5EE7-1370-27F8-CA02-7A39E56A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A58D2A-E475-202C-315E-912ADC30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46248D-530A-20F9-581D-72242FF7B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“We implemented three encoder–decoder architectures in one framework:</a:t>
            </a:r>
          </a:p>
          <a:p>
            <a:r>
              <a:rPr lang="en-US" altLang="zh-CN" dirty="0"/>
              <a:t>GRU + attention</a:t>
            </a:r>
          </a:p>
          <a:p>
            <a:r>
              <a:rPr lang="en-US" altLang="zh-CN" dirty="0"/>
              <a:t>LSTM + attention</a:t>
            </a:r>
          </a:p>
          <a:p>
            <a:r>
              <a:rPr lang="en-US" altLang="zh-CN" dirty="0"/>
              <a:t>Transformer encoder–decoder</a:t>
            </a:r>
          </a:p>
          <a:p>
            <a:r>
              <a:rPr lang="en-US" altLang="zh-CN" dirty="0"/>
              <a:t>We also tested three fundamentally different tokenization strategies:</a:t>
            </a:r>
          </a:p>
          <a:p>
            <a:r>
              <a:rPr lang="en-US" altLang="zh-CN" dirty="0"/>
              <a:t>whitespace</a:t>
            </a:r>
          </a:p>
          <a:p>
            <a:r>
              <a:rPr lang="en-US" altLang="zh-CN" dirty="0"/>
              <a:t>character-level</a:t>
            </a:r>
          </a:p>
          <a:p>
            <a:r>
              <a:rPr lang="en-US" altLang="zh-CN" dirty="0"/>
              <a:t>sentencepiece </a:t>
            </a:r>
          </a:p>
          <a:p>
            <a:r>
              <a:rPr lang="en-US" altLang="zh-CN" dirty="0"/>
              <a:t>Altogether this gives us nine meaningful combinations, forming the core of our baseline study.”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52FFE-1AF5-4AD6-DDD7-C69E29F8C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83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1448-E990-97F6-A739-8A6456AB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36E4DB-A1E4-AEFE-863D-224D54D2B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36739-7B53-CE14-B45F-3EA93E9DC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“Beyond the base models, we explored several important training components:</a:t>
            </a:r>
          </a:p>
          <a:p>
            <a:r>
              <a:rPr lang="en-US" altLang="zh-CN" dirty="0"/>
              <a:t>label smoothing,</a:t>
            </a:r>
          </a:p>
          <a:p>
            <a:r>
              <a:rPr lang="en-US" altLang="zh-CN" dirty="0"/>
              <a:t>Noam learning rate schedule + warmup,</a:t>
            </a:r>
          </a:p>
          <a:p>
            <a:r>
              <a:rPr lang="en-US" altLang="zh-CN" dirty="0"/>
              <a:t>greedy vs beam search,</a:t>
            </a:r>
          </a:p>
          <a:p>
            <a:r>
              <a:rPr lang="en-US" altLang="zh-CN" dirty="0"/>
              <a:t>different size of vocabulary,</a:t>
            </a:r>
          </a:p>
          <a:p>
            <a:r>
              <a:rPr lang="en-US" altLang="zh-CN" dirty="0"/>
              <a:t>different random seeds,</a:t>
            </a:r>
          </a:p>
          <a:p>
            <a:r>
              <a:rPr lang="en-US" altLang="zh-CN" dirty="0"/>
              <a:t>and a simple multilingual extension with </a:t>
            </a:r>
            <a:r>
              <a:rPr lang="en-US" altLang="zh-CN" dirty="0" err="1"/>
              <a:t>English→French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These are well-known MT techniques, but their impact at this scale is usually unclear. So we evaluate them carefully.”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9B4988-8F4C-A6C0-E840-F40E347E4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641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77B8-7F58-3824-B932-DFCF8C9F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DEB165-BC81-26D6-DF8D-2AA6AB037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B64BF5-216D-5C9D-FC02-E7861134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here are the results of our </a:t>
            </a:r>
            <a:r>
              <a:rPr lang="en-US" altLang="zh-CN" b="1" dirty="0" err="1"/>
              <a:t>experiemnts</a:t>
            </a:r>
            <a:r>
              <a:rPr lang="en-US" altLang="zh-CN" b="1" dirty="0"/>
              <a:t> and corresponding insights. </a:t>
            </a:r>
          </a:p>
          <a:p>
            <a:r>
              <a:rPr lang="en-US" altLang="zh-CN" b="1" dirty="0"/>
              <a:t>First</a:t>
            </a:r>
            <a:r>
              <a:rPr lang="en-US" altLang="zh-CN" dirty="0"/>
              <a:t>, tokenization affects performance more than the model architecture.</a:t>
            </a:r>
            <a:br>
              <a:rPr lang="en-US" altLang="zh-CN" dirty="0"/>
            </a:br>
            <a:r>
              <a:rPr lang="en-US" altLang="zh-CN" dirty="0"/>
              <a:t>Changing the tokenizer can shift BLEU by over 7 points, while GRU, LSTM, and Transformer differ by only around 1–2 points.</a:t>
            </a:r>
            <a:br>
              <a:rPr lang="en-US" altLang="zh-CN" dirty="0"/>
            </a:br>
            <a:r>
              <a:rPr lang="en-US" altLang="zh-CN" dirty="0"/>
              <a:t>Whitespace tends to be stable, sentencepiece sometimes performs well in chrF but not always in BLEU, and character-level suffers because sequences become extremely long.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/>
              <a:t>Second</a:t>
            </a:r>
            <a:r>
              <a:rPr lang="en-US" altLang="zh-CN" dirty="0"/>
              <a:t>, RNNs remain very strong on small datasets.</a:t>
            </a:r>
            <a:br>
              <a:rPr lang="en-US" altLang="zh-CN" dirty="0"/>
            </a:br>
            <a:r>
              <a:rPr lang="en-US" altLang="zh-CN" dirty="0"/>
              <a:t>On whitespace tokenization, Transformer achieves nearly 29 BLEU with beam search, but LSTM reaches below 28 and GRU around 26.</a:t>
            </a:r>
            <a:br>
              <a:rPr lang="en-US" altLang="zh-CN" dirty="0"/>
            </a:br>
            <a:r>
              <a:rPr lang="en-US" altLang="zh-CN" dirty="0"/>
              <a:t>This reminds us that Transformers need larger datasets to fully outperform RNNs.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B90BA-6B7F-FBBD-7B2D-5F20F02C1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833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B42D-8ACC-6A1F-7353-1E68972B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483E26-E6E2-C960-3702-CEE743ED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0D1084-072E-09C3-A036-A4A6C2ED5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Third</a:t>
            </a:r>
            <a:r>
              <a:rPr lang="en-US" altLang="zh-CN" dirty="0"/>
              <a:t>, label smoothing has a clear sweet spot.</a:t>
            </a:r>
            <a:br>
              <a:rPr lang="en-US" altLang="zh-CN" dirty="0"/>
            </a:br>
            <a:r>
              <a:rPr lang="en-US" altLang="zh-CN" dirty="0"/>
              <a:t>For whitespace tokenization, 0.2 smoothing gives the best BLEU score of 31.16.</a:t>
            </a:r>
            <a:br>
              <a:rPr lang="en-US" altLang="zh-CN" dirty="0"/>
            </a:br>
            <a:r>
              <a:rPr lang="en-US" altLang="zh-CN" dirty="0"/>
              <a:t>But the effect depends heavily on tokenization: sentencepiece is less sensitive, and character-level models actually get worse with larger smoothing.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690B7D-4554-B3CC-41D1-9A3F6A6AD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3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3FA0-6EA7-9A4D-028F-1D9AF439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6EF032-3FF3-9620-89E9-BA85DC36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ADA89D-4E34-1CDC-3E79-EA0D854A7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Fourth</a:t>
            </a:r>
            <a:r>
              <a:rPr lang="en-US" altLang="zh-CN" dirty="0"/>
              <a:t>, learning-rate scheduling is critical for Transformer training.</a:t>
            </a:r>
            <a:br>
              <a:rPr lang="en-US" altLang="zh-CN" dirty="0"/>
            </a:br>
            <a:r>
              <a:rPr lang="en-US" altLang="zh-CN" dirty="0"/>
              <a:t>Noam with the right warmup—around 2.5k steps—outperforms Plateau </a:t>
            </a:r>
            <a:r>
              <a:rPr lang="en-US" altLang="zh-CN" dirty="0" err="1"/>
              <a:t>lr</a:t>
            </a:r>
            <a:r>
              <a:rPr lang="en-US" altLang="zh-CN" dirty="0"/>
              <a:t> scheduler.</a:t>
            </a:r>
            <a:br>
              <a:rPr lang="en-US" altLang="zh-CN" dirty="0"/>
            </a:br>
            <a:r>
              <a:rPr lang="en-US" altLang="zh-CN" dirty="0"/>
              <a:t>If warmup is too small the model becomes unstable; if it’s too large learning slows down.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Fifth</a:t>
            </a:r>
            <a:r>
              <a:rPr lang="en-US" altLang="zh-CN" dirty="0"/>
              <a:t>, vocabulary size matters a lot.</a:t>
            </a:r>
            <a:br>
              <a:rPr lang="en-US" altLang="zh-CN" dirty="0"/>
            </a:br>
            <a:r>
              <a:rPr lang="en-US" altLang="zh-CN" dirty="0"/>
              <a:t>Surprisingly, the smallest vocabulary (8K) performs best, achieving more than 34 BLEU, which is higher than 16K or 20K.</a:t>
            </a:r>
            <a:br>
              <a:rPr lang="en-US" altLang="zh-CN" dirty="0"/>
            </a:br>
            <a:r>
              <a:rPr lang="en-US" altLang="zh-CN" dirty="0"/>
              <a:t>Smaller vocabularies create more shared </a:t>
            </a:r>
            <a:r>
              <a:rPr lang="en-US" altLang="zh-CN" dirty="0" err="1"/>
              <a:t>subwords</a:t>
            </a:r>
            <a:r>
              <a:rPr lang="en-US" altLang="zh-CN" dirty="0"/>
              <a:t> and reduce sparsity, which is especially helpful in low-resource settings.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47B90-A0A4-967D-1B58-B4955BD40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448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F756-9F84-9957-7612-BB859F2E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A91DB9-447F-3657-C03E-BA2B52074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00F373-28CB-629B-3818-992B4DFF2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Finally</a:t>
            </a:r>
            <a:r>
              <a:rPr lang="en-US" altLang="zh-CN" dirty="0"/>
              <a:t>, multilingual training can provide positive transfer.</a:t>
            </a:r>
            <a:br>
              <a:rPr lang="en-US" altLang="zh-CN" dirty="0"/>
            </a:br>
            <a:r>
              <a:rPr lang="en-US" altLang="zh-CN" dirty="0"/>
              <a:t>Adding English-</a:t>
            </a:r>
            <a:r>
              <a:rPr lang="en-US" altLang="zh-CN" dirty="0" err="1"/>
              <a:t>fr</a:t>
            </a:r>
            <a:r>
              <a:rPr lang="en-US" altLang="zh-CN" dirty="0"/>
              <a:t> data improves </a:t>
            </a:r>
            <a:r>
              <a:rPr lang="en-US" altLang="zh-CN" dirty="0" err="1"/>
              <a:t>English→German</a:t>
            </a:r>
            <a:r>
              <a:rPr lang="en-US" altLang="zh-CN" dirty="0"/>
              <a:t> performance, especially for whitespace tokenization.</a:t>
            </a:r>
            <a:br>
              <a:rPr lang="en-US" altLang="zh-CN" dirty="0"/>
            </a:br>
            <a:r>
              <a:rPr lang="en-US" altLang="zh-CN" dirty="0"/>
              <a:t>For example, BLEU goes from 31 in mono-lingual training to nearly 34 in multilingual training.</a:t>
            </a:r>
            <a:br>
              <a:rPr lang="en-US" altLang="zh-CN" dirty="0"/>
            </a:br>
            <a:r>
              <a:rPr lang="en-US" altLang="zh-CN" dirty="0"/>
              <a:t>So even a small auxiliary language can help.”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C5707-211A-C2C7-F46A-66ECDAE6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159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C47C-0E27-700A-D361-564A7079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1D0BF1-BFFB-CF91-3883-F8D508CC6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443840-CA41-A103-63F8-7EB6262EE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this figure, we can see character-level tokenization consistently produces much longer sequences than whitespace or sentencepiece tokenization on both the source and target sides.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0A47F-43A9-54A1-2E24-44A614799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736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C7F60-1BF9-04E7-3D7C-3BB9621E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A9B150-204F-BAC0-0E54-D07E52F5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E8176F-1BFF-7635-97EC-A5CF9E59D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“To conclude there 3 key insights from our project. [</a:t>
            </a:r>
            <a:r>
              <a:rPr lang="zh-CN" altLang="en-US" dirty="0"/>
              <a:t>念</a:t>
            </a:r>
            <a:r>
              <a:rPr lang="en-US" altLang="zh-CN" dirty="0"/>
              <a:t>]</a:t>
            </a:r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our study shows that NMT performance depends on a combination of architecture, tokenization, and training dynamics—not just the model alone!</a:t>
            </a:r>
            <a:endParaRPr lang="en-US" altLang="zh-CN" dirty="0"/>
          </a:p>
          <a:p>
            <a:r>
              <a:rPr lang="en-US" altLang="zh-CN" dirty="0"/>
              <a:t>Thank you.”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566D95-F06F-E9EE-3324-EC44A135D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54944-674C-41D6-AD19-1AE04A951B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55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86C16-2979-C77E-3C91-3AFF65260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BD48A2-E409-2C00-EC94-81D0EF7C2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E05D0-3F4E-B418-4405-23C2DA5F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FC5EC-AA42-404A-C81B-FDBF64FC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CACCD-C104-DA2B-A2AF-89B857B0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86CD4-D747-61FF-617B-484DD6B2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FBF2B-CF29-8D33-F93A-E6777C76A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3B027-F691-C974-8148-70CF8E0C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74B-7527-34C8-CE88-AAF0CC9A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1FF0B-2F3F-FAA4-3E80-FB18EC53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2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2D08D-A81C-FE2E-3C4A-4BFD7525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08C95-80A5-33D2-9FB9-8CFC07538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186961-5D80-99FE-89A3-D35D1443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AE242-E925-20CA-9727-B294502D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3289A7-D53C-E8A7-6C5B-902C8E2A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51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229DC-4C4F-7EAE-7205-1541F9C7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CCCE1-2AEA-613D-F7B0-CAC79F5ED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A740E1-3819-95CD-4374-9CE5D3743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65BF10-A0E5-4959-3289-682DF4A6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BFB7F9-45A6-D3C9-0607-19509F3D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4926C-4F84-F166-FC7A-DEB4A986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0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9C92D-47F9-7B6B-6138-A55456B3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1D765-738D-20AD-C12E-94EDC0FD6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C016BE-FDFF-4EB9-2FA6-307FA4742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C39F50-22AE-32CF-5151-7E49B9A7D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78343A-CA2D-99D3-4D83-5C09CEEBC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3060A4-7A8F-0A44-85D3-9A4EFBBF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07DBAE-5E68-A6FC-ECAE-C7699818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FE7176-4ADA-6505-D97D-17F6E67C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95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487CD-950F-ED42-488F-1C7B05C1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ED84CC-B878-694A-0FB8-53D78201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141C4F-9DB8-CA1E-D426-9AFB8686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AF759F-7EF1-E557-A0C3-697EDC6C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CEA83F-6622-7E14-B442-E8733AC1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9074BD-F3D9-7E88-506B-F203083F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413CD-B2A2-4142-D6C2-F0814E87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13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355C5-44C3-6CCE-FD0A-3D199D9E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B728F5-AB49-8E79-58E6-414B9EC30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B5DF44-5789-C4D5-C3B4-0700E3051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31A11A-8A25-AB36-38D7-DD48949F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734C4-FE04-0023-8C71-5C03AC35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ACFA3C-D83B-4064-A5B9-AE019866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8C98F-B065-C2F8-8789-DAB6791C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9B0140-7522-E523-6908-452DCD59F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9A6687-5386-6BB4-B099-454D681FA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01AC80-F8BB-4C63-072C-1DAF1C6D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3A70E5-BCB8-B4FB-0B4C-50529521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240CA3-1348-7DAB-1668-0E076783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18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E9555-A94D-3E58-0E3C-AB2C7022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7279A3-0A72-B214-CED1-F8808A1AD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BFA8E-81FD-B38E-8957-398729FB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96862-DAEE-1FBF-6F33-17E28B04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F657E-4F66-95B3-878D-D32381C8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5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FC1C0C-A090-D1ED-401A-6F4EBDAF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B1EDB6-0B4B-0C75-5416-9FF44E4B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CE330-E100-C6B1-6105-1587025A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75389-0275-9379-4EDD-888C11CC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E29024-8946-DB93-CED1-41A6DE6C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14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37357-D7F6-5B52-06C2-B1868B75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6F4D4-73BB-1AA3-3A49-01DE1432E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9C1AA-0B99-E9BE-804D-90B0006C6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78F4E-A33A-4607-B602-48708026CEC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0963-CF4F-162D-810D-79A95B077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C0A60-14CB-DDDE-9655-07AAC2B7E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67092-C038-485A-9745-D96343519D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0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8CB4DE-681B-8571-F8D5-040EE9F791C4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7FDED9-579F-80F0-4FF5-1270E6489350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4DD56D-6770-524D-37F7-68604A9B4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963" y="4764668"/>
            <a:ext cx="1812073" cy="102958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26313B-BCB3-12D5-4F05-AB4917835A9C}"/>
              </a:ext>
            </a:extLst>
          </p:cNvPr>
          <p:cNvSpPr/>
          <p:nvPr/>
        </p:nvSpPr>
        <p:spPr>
          <a:xfrm>
            <a:off x="0" y="1151223"/>
            <a:ext cx="12191999" cy="1488367"/>
          </a:xfrm>
          <a:prstGeom prst="roundRect">
            <a:avLst/>
          </a:prstGeom>
          <a:solidFill>
            <a:srgbClr val="AE1F53">
              <a:alpha val="7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Machine Translation on IWSLT 2017:</a:t>
            </a:r>
          </a:p>
          <a:p>
            <a:pPr lvl="0" algn="ctr">
              <a:lnSpc>
                <a:spcPct val="130000"/>
              </a:lnSpc>
            </a:pPr>
            <a:r>
              <a:rPr lang="en-US" altLang="zh-CN" sz="28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Study of Architectures, Tokenization, and Training Strategies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621E18-5B7F-32C5-F735-15042E5D0130}"/>
              </a:ext>
            </a:extLst>
          </p:cNvPr>
          <p:cNvSpPr txBox="1"/>
          <p:nvPr/>
        </p:nvSpPr>
        <p:spPr>
          <a:xfrm>
            <a:off x="3734459" y="3018081"/>
            <a:ext cx="4723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Group 98: Yilin Xu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Zhuo Han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Date: 2-Dec-2025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A198CD-CC65-B308-1BD9-C83134F41E64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0CF566-D233-E737-D597-37706B6343A0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BCE999-7C5F-9D63-E613-DCF65EF9538D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5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85EE-8439-66B6-629C-454FB089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ED69E0-DA3E-C8A0-C52E-3E31B43C1750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814529-535A-F257-64D6-219FAA925AB8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3B752B-25EC-EC97-68E9-73BC33FE293E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C0BE24-EC72-FDF7-ED83-A86652D5F24E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5424C0-2CBD-FE64-76D9-877EC5D11851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DEAE3E-7A79-8F1B-34EA-C899F6FEDDBE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Task and Dataset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00DC448-7DE4-A9C8-A503-8AE88FC94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467ACFC-5C6F-FE70-11EF-1FC350579D6F}"/>
              </a:ext>
            </a:extLst>
          </p:cNvPr>
          <p:cNvSpPr txBox="1"/>
          <p:nvPr/>
        </p:nvSpPr>
        <p:spPr>
          <a:xfrm>
            <a:off x="187891" y="1235932"/>
            <a:ext cx="8179495" cy="166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Task: English → German neural machine translation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IWSLT 2017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BLEU + chrF, greedy &amp; beam search</a:t>
            </a:r>
          </a:p>
        </p:txBody>
      </p:sp>
      <p:pic>
        <p:nvPicPr>
          <p:cNvPr id="19" name="图片 18" descr="表格&#10;&#10;AI 生成的内容可能不正确。">
            <a:extLst>
              <a:ext uri="{FF2B5EF4-FFF2-40B4-BE49-F238E27FC236}">
                <a16:creationId xmlns:a16="http://schemas.microsoft.com/office/drawing/2014/main" id="{B56209C7-DBA7-9E7F-8792-4D4CE6550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237" y="3429000"/>
            <a:ext cx="8484790" cy="260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5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FD89-4F43-E718-0AD1-6F95C674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CAA708-C1EE-1EFA-4B9F-4771813AE094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64C44A-7FC1-F0B8-D514-AB4855025963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BE91FB-6207-B4D7-C620-9DBCE4E2BBC6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DE5BEF-16C6-BCD1-836D-C6951BF3751A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CB668F-EE6D-BA0B-A509-E78C6EE8B0ED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A2445E-1638-2691-D44F-BED74E7304EA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Three Models plus Three Tokenizers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5FC7FFB-05B0-1E82-001C-55CBE03F7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E7B025EB-9930-5516-E06E-2A6D1D149405}"/>
              </a:ext>
            </a:extLst>
          </p:cNvPr>
          <p:cNvGrpSpPr/>
          <p:nvPr/>
        </p:nvGrpSpPr>
        <p:grpSpPr>
          <a:xfrm>
            <a:off x="225469" y="1185775"/>
            <a:ext cx="8624167" cy="1412150"/>
            <a:chOff x="225469" y="1185775"/>
            <a:chExt cx="8624167" cy="141215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A3449CD-347E-6FF9-E099-9FCCC0683960}"/>
                </a:ext>
              </a:extLst>
            </p:cNvPr>
            <p:cNvSpPr txBox="1"/>
            <p:nvPr/>
          </p:nvSpPr>
          <p:spPr>
            <a:xfrm>
              <a:off x="670141" y="1441839"/>
              <a:ext cx="8179495" cy="1156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GRU + Attention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LSTM + Attention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encoder–decoder</a:t>
              </a: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0FE3C11-4255-9B45-6CD8-9D08151B8663}"/>
                </a:ext>
              </a:extLst>
            </p:cNvPr>
            <p:cNvSpPr/>
            <p:nvPr/>
          </p:nvSpPr>
          <p:spPr>
            <a:xfrm>
              <a:off x="225469" y="1226441"/>
              <a:ext cx="288000" cy="288000"/>
            </a:xfrm>
            <a:prstGeom prst="ellipse">
              <a:avLst/>
            </a:prstGeom>
            <a:solidFill>
              <a:srgbClr val="BF4E7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20399994" rev="0"/>
              </a:camera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0FDC798-DADC-23A3-8D01-53A2C055DE0E}"/>
                </a:ext>
              </a:extLst>
            </p:cNvPr>
            <p:cNvSpPr txBox="1"/>
            <p:nvPr/>
          </p:nvSpPr>
          <p:spPr>
            <a:xfrm>
              <a:off x="670142" y="1185775"/>
              <a:ext cx="1473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 Models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1B5F40-1B0B-59BF-527A-6689366749AA}"/>
              </a:ext>
            </a:extLst>
          </p:cNvPr>
          <p:cNvGrpSpPr/>
          <p:nvPr/>
        </p:nvGrpSpPr>
        <p:grpSpPr>
          <a:xfrm>
            <a:off x="225469" y="3349991"/>
            <a:ext cx="8624166" cy="1453841"/>
            <a:chOff x="225469" y="3349991"/>
            <a:chExt cx="8624166" cy="145384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3C02FFE-A666-69DC-EA9E-C4F0DDBDBAA8}"/>
                </a:ext>
              </a:extLst>
            </p:cNvPr>
            <p:cNvSpPr/>
            <p:nvPr/>
          </p:nvSpPr>
          <p:spPr>
            <a:xfrm>
              <a:off x="225469" y="3359746"/>
              <a:ext cx="288000" cy="288000"/>
            </a:xfrm>
            <a:prstGeom prst="ellipse">
              <a:avLst/>
            </a:prstGeom>
            <a:solidFill>
              <a:srgbClr val="BF4E7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20399994" rev="0"/>
              </a:camera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3D39335-681D-8848-BDFB-9DE033E3D807}"/>
                </a:ext>
              </a:extLst>
            </p:cNvPr>
            <p:cNvGrpSpPr/>
            <p:nvPr/>
          </p:nvGrpSpPr>
          <p:grpSpPr>
            <a:xfrm>
              <a:off x="670140" y="3349991"/>
              <a:ext cx="8179495" cy="1453841"/>
              <a:chOff x="670140" y="3349991"/>
              <a:chExt cx="8179495" cy="1453841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DA40E11-5D10-0D7B-98A3-BFE374ECF6DB}"/>
                  </a:ext>
                </a:extLst>
              </p:cNvPr>
              <p:cNvSpPr txBox="1"/>
              <p:nvPr/>
            </p:nvSpPr>
            <p:spPr>
              <a:xfrm>
                <a:off x="670142" y="3349991"/>
                <a:ext cx="2148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Three Tokenizers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274153E-A6ED-B614-F0A5-A3B0E91282AD}"/>
                  </a:ext>
                </a:extLst>
              </p:cNvPr>
              <p:cNvSpPr txBox="1"/>
              <p:nvPr/>
            </p:nvSpPr>
            <p:spPr>
              <a:xfrm>
                <a:off x="670140" y="3647746"/>
                <a:ext cx="8179495" cy="1156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 Space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character-level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sentencepiece (subword)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830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6559-B985-7DB7-9248-D1BEE934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360882-86A1-75AD-E442-2A7017175A52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D36686-B6C2-6B1F-A707-278328BEF8B5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9826F0-EA74-61A9-DCA8-6C40964B86A6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A3287E-1D26-7403-CCEA-52485E9A0F0C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DCD0D4-73FE-08BB-035A-537D7BC79418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54281F-354C-81CC-CD65-9D59D993A09F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Training Techniques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271D7D9-4AB2-DF60-B851-A7DF31DE9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7665FCD-5528-52F8-0B93-AEDDBAF9B41A}"/>
              </a:ext>
            </a:extLst>
          </p:cNvPr>
          <p:cNvSpPr txBox="1"/>
          <p:nvPr/>
        </p:nvSpPr>
        <p:spPr>
          <a:xfrm>
            <a:off x="237994" y="1402914"/>
            <a:ext cx="8091813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smoothing: 0, 0.1, 0.2, 0.4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schedulers: Noam, ReduceLROnPlateau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warmup experiments: 1000, 1500, 2500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vs greedy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seeds (0, 42, 128, 512) &amp; vocab variations (8K, 16K, 20K)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extension (En → De, En → Fr)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17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CC01-4BA2-D697-A322-353D854C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7B9455-36F8-03D9-9DF6-1F15DD91426D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B77D7C-FA0B-E746-19E4-B3CBCDAFB873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D820E0-7AAE-D1B1-7B22-47FD834D2D78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D28EF-F1AC-C57C-47AB-92441A452AE3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56AC44-793B-E2D0-CBE2-24A699A95136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4FA87A-C4BF-750E-CB30-D7A8CE95A67C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Key Results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233CE6F-F9F8-E80A-9AD0-232563912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97BBBA-4B7E-43C5-53AA-CF0A4DC64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4" y="1134776"/>
            <a:ext cx="7872649" cy="408100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8D1E2A8-9606-EE48-3639-7AEC4E631A00}"/>
              </a:ext>
            </a:extLst>
          </p:cNvPr>
          <p:cNvSpPr txBox="1"/>
          <p:nvPr/>
        </p:nvSpPr>
        <p:spPr>
          <a:xfrm>
            <a:off x="2355263" y="5348238"/>
            <a:ext cx="7358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I. Main results under different architectures and tokenization strategies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4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4193-EFAF-9100-B775-7B8CC9E8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6D609D-1042-B65A-470A-49E65F61E53F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8AD50E-2C3B-82EB-59D4-65E24CE28688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C57828-FE32-2842-2685-9D30C070E273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6CC755-75AD-665B-FE06-16A522EB95E4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A0268C-80FF-5A0D-2E5B-6660C2031BB3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F64A78-C93D-FB28-7152-72ABC7BD293F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Key Results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FDF8C9-2C99-9CBF-BE83-7D2C38B7B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ADBA4814-4253-8342-3D85-157B80162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518" y="1073183"/>
            <a:ext cx="6876171" cy="46045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0A8446-0E16-A497-AE7F-8EC8E8419F93}"/>
              </a:ext>
            </a:extLst>
          </p:cNvPr>
          <p:cNvSpPr txBox="1"/>
          <p:nvPr/>
        </p:nvSpPr>
        <p:spPr>
          <a:xfrm>
            <a:off x="4388319" y="5763894"/>
            <a:ext cx="329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 Effect of label smoothing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10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3F1E-9666-6F4B-7766-B22AC0D4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95661D-5F57-9EA4-2EF4-22E52E19AFB6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BF62F-0CED-2059-E816-475B4D642997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94FB7E-8953-8FCD-1E2F-BA399D32C084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AFA2AB-C852-9748-45EB-9646A707AD53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2CAD3A-084A-5F04-13F0-1FC7D8046790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34969D-0561-42CC-AEFC-FFFE91A0F686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AE3E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  <a:endParaRPr lang="zh-CN" altLang="en-US" sz="4000" dirty="0">
              <a:solidFill>
                <a:srgbClr val="AE3E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3C964C1-E088-CD52-019B-B064DF898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FBB43F6C-DAA7-EB86-8DCE-928D5E17F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08" b="2562"/>
          <a:stretch>
            <a:fillRect/>
          </a:stretch>
        </p:blipFill>
        <p:spPr>
          <a:xfrm>
            <a:off x="2413545" y="4119928"/>
            <a:ext cx="6948525" cy="2040456"/>
          </a:xfrm>
          <a:prstGeom prst="rect">
            <a:avLst/>
          </a:prstGeom>
        </p:spPr>
      </p:pic>
      <p:pic>
        <p:nvPicPr>
          <p:cNvPr id="13" name="图片 12" descr="表格&#10;&#10;AI 生成的内容可能不正确。">
            <a:extLst>
              <a:ext uri="{FF2B5EF4-FFF2-40B4-BE49-F238E27FC236}">
                <a16:creationId xmlns:a16="http://schemas.microsoft.com/office/drawing/2014/main" id="{3614B2F6-32CE-C5CC-F5B5-680E7151F4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12"/>
          <a:stretch>
            <a:fillRect/>
          </a:stretch>
        </p:blipFill>
        <p:spPr>
          <a:xfrm>
            <a:off x="1655817" y="1134776"/>
            <a:ext cx="8463982" cy="23006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4078329-A333-472B-DE21-854DB66B0D34}"/>
              </a:ext>
            </a:extLst>
          </p:cNvPr>
          <p:cNvSpPr txBox="1"/>
          <p:nvPr/>
        </p:nvSpPr>
        <p:spPr>
          <a:xfrm>
            <a:off x="4407556" y="6160384"/>
            <a:ext cx="325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4. Effect of vocabulary size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4E553-677E-1363-EFD2-F04B78350A4A}"/>
              </a:ext>
            </a:extLst>
          </p:cNvPr>
          <p:cNvSpPr txBox="1"/>
          <p:nvPr/>
        </p:nvSpPr>
        <p:spPr>
          <a:xfrm>
            <a:off x="3482789" y="3378856"/>
            <a:ext cx="481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3. Effect of different learning rate scheduler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3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A1D4A-90E6-0518-0AFD-A066611F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0E7E01-D49B-7CCF-81BB-D0717B8E7F27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24F329-535C-F473-A08E-0B47B0F35675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A9171F-DA21-278C-5569-13039E3F75E3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0C208-30DA-3B88-398F-8344C81693FE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F1771-A767-7678-6D83-1C0756684787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839960-2373-2968-C370-815E9A3D01DC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Key Results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A40CF87-008B-180E-FBD4-ADCE2CE03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F191E2C2-509C-3FDF-C3E4-9990A937B0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1"/>
          <a:stretch>
            <a:fillRect/>
          </a:stretch>
        </p:blipFill>
        <p:spPr>
          <a:xfrm>
            <a:off x="2181928" y="1116024"/>
            <a:ext cx="7828144" cy="46259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2660840-81FC-2797-40C0-7B97719C26C5}"/>
              </a:ext>
            </a:extLst>
          </p:cNvPr>
          <p:cNvSpPr txBox="1"/>
          <p:nvPr/>
        </p:nvSpPr>
        <p:spPr>
          <a:xfrm>
            <a:off x="3268142" y="5796001"/>
            <a:ext cx="538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5. Multilingual training vs. Monolingual baselines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10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AE1B-CE73-1907-5538-5764B6B3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00C73E-18A6-C4CF-00C9-51E646AC61FB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BA00F1-19DF-DC59-8DA4-E2C059C9BDEA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59F202-5303-0E96-AB9C-DF25FB8307DE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DFDE12-1ED1-BB54-C7D7-E3B3883F6109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FCDA74-9DBD-B170-5AC0-5FB79F26BACC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744127-C96B-C3DC-4CC6-31BDA14A5672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Visualization Insights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41E97A8-364B-42FF-6925-9195C1EA7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81B6BDB5-42D9-5D77-690A-AAE4C2A93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889" y="1235932"/>
            <a:ext cx="7947429" cy="44157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14E3FD-B872-79C8-265B-B593F7684515}"/>
              </a:ext>
            </a:extLst>
          </p:cNvPr>
          <p:cNvSpPr txBox="1"/>
          <p:nvPr/>
        </p:nvSpPr>
        <p:spPr>
          <a:xfrm>
            <a:off x="2783686" y="5784323"/>
            <a:ext cx="7224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Sentence length distributions between different model structures.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87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C171-D4AC-0B57-0A30-CB57ACB5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C9CD5D-F878-B3AB-6587-C8EADD33481F}"/>
              </a:ext>
            </a:extLst>
          </p:cNvPr>
          <p:cNvSpPr/>
          <p:nvPr/>
        </p:nvSpPr>
        <p:spPr>
          <a:xfrm>
            <a:off x="0" y="0"/>
            <a:ext cx="6096000" cy="269310"/>
          </a:xfrm>
          <a:prstGeom prst="rect">
            <a:avLst/>
          </a:prstGeom>
          <a:solidFill>
            <a:srgbClr val="BF4E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075784-3290-3542-C842-F77544CC77A3}"/>
              </a:ext>
            </a:extLst>
          </p:cNvPr>
          <p:cNvSpPr/>
          <p:nvPr/>
        </p:nvSpPr>
        <p:spPr>
          <a:xfrm>
            <a:off x="6096000" y="0"/>
            <a:ext cx="6096000" cy="269310"/>
          </a:xfrm>
          <a:prstGeom prst="rect">
            <a:avLst/>
          </a:prstGeom>
          <a:solidFill>
            <a:srgbClr val="BF4E77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EB60C-B41C-580C-96B9-47147044D646}"/>
              </a:ext>
            </a:extLst>
          </p:cNvPr>
          <p:cNvSpPr/>
          <p:nvPr/>
        </p:nvSpPr>
        <p:spPr>
          <a:xfrm>
            <a:off x="1" y="6588690"/>
            <a:ext cx="4025990" cy="269310"/>
          </a:xfrm>
          <a:prstGeom prst="rect">
            <a:avLst/>
          </a:prstGeom>
          <a:solidFill>
            <a:srgbClr val="AE3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26C43B-6A9F-446B-6BA1-D3AD9BE7573E}"/>
              </a:ext>
            </a:extLst>
          </p:cNvPr>
          <p:cNvSpPr/>
          <p:nvPr/>
        </p:nvSpPr>
        <p:spPr>
          <a:xfrm>
            <a:off x="4021609" y="6588690"/>
            <a:ext cx="4025990" cy="269310"/>
          </a:xfrm>
          <a:prstGeom prst="rect">
            <a:avLst/>
          </a:prstGeom>
          <a:solidFill>
            <a:srgbClr val="BF4E7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City University of Hong Kong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CAF8A3-EB15-5604-DDBF-38EF92611959}"/>
              </a:ext>
            </a:extLst>
          </p:cNvPr>
          <p:cNvSpPr/>
          <p:nvPr/>
        </p:nvSpPr>
        <p:spPr>
          <a:xfrm>
            <a:off x="8047598" y="6588690"/>
            <a:ext cx="4144402" cy="269310"/>
          </a:xfrm>
          <a:prstGeom prst="rect">
            <a:avLst/>
          </a:prstGeom>
          <a:solidFill>
            <a:srgbClr val="BF4E7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A9DC6F-D7A2-82DD-0FCD-8119F7F22FB1}"/>
              </a:ext>
            </a:extLst>
          </p:cNvPr>
          <p:cNvSpPr/>
          <p:nvPr/>
        </p:nvSpPr>
        <p:spPr>
          <a:xfrm>
            <a:off x="0" y="269310"/>
            <a:ext cx="12192000" cy="697312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AE3E6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Conclusion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AE3E6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BE93699-DBE6-0703-A71A-B03184819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95" y="5784323"/>
            <a:ext cx="1119736" cy="6362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7201A02-432F-9FC3-4A58-65AF4615E9CF}"/>
              </a:ext>
            </a:extLst>
          </p:cNvPr>
          <p:cNvSpPr txBox="1"/>
          <p:nvPr/>
        </p:nvSpPr>
        <p:spPr>
          <a:xfrm>
            <a:off x="239590" y="1120676"/>
            <a:ext cx="11841041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key lessons: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matters as much as the model architecture.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strategies like label smoothing and LR warmup have major impact.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simple RNN models can be strong at this scale.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our study shows that NMT performance depends on a combination of architecture, tokenization, and training dynamics—not just the model alone!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F1F5BA-9641-376C-D416-A2F836D65D72}"/>
              </a:ext>
            </a:extLst>
          </p:cNvPr>
          <p:cNvSpPr txBox="1"/>
          <p:nvPr/>
        </p:nvSpPr>
        <p:spPr>
          <a:xfrm>
            <a:off x="4465177" y="5152549"/>
            <a:ext cx="3138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 dirty="0">
                <a:solidFill>
                  <a:srgbClr val="AE3E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zh-CN" altLang="en-US" sz="3200" b="1" i="1" dirty="0">
              <a:solidFill>
                <a:srgbClr val="AE3E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6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999</Words>
  <Application>Microsoft Macintosh PowerPoint</Application>
  <PresentationFormat>宽屏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一琳 许</dc:creator>
  <cp:lastModifiedBy>HAN Zhuo</cp:lastModifiedBy>
  <cp:revision>31</cp:revision>
  <dcterms:created xsi:type="dcterms:W3CDTF">2025-12-01T12:15:39Z</dcterms:created>
  <dcterms:modified xsi:type="dcterms:W3CDTF">2025-12-02T01:20:21Z</dcterms:modified>
</cp:coreProperties>
</file>