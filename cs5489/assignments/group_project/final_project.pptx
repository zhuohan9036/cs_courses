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9" r:id="rId4"/>
    <p:sldId id="260" r:id="rId5"/>
    <p:sldId id="261" r:id="rId6"/>
    <p:sldId id="264" r:id="rId7"/>
    <p:sldId id="262" r:id="rId8"/>
    <p:sldId id="263" r:id="rId9"/>
    <p:sldId id="265" r:id="rId10"/>
    <p:sldId id="26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3E6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801" autoAdjust="0"/>
  </p:normalViewPr>
  <p:slideViewPr>
    <p:cSldViewPr snapToGrid="0">
      <p:cViewPr varScale="1">
        <p:scale>
          <a:sx n="109" d="100"/>
          <a:sy n="109" d="100"/>
        </p:scale>
        <p:origin x="20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C563-1761-4DCB-98E3-B4F6BD088F6F}"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2447C-A375-4559-B191-9631F20CB123}" type="slidenum">
              <a:rPr lang="zh-CN" altLang="en-US" smtClean="0"/>
              <a:t>‹#›</a:t>
            </a:fld>
            <a:endParaRPr lang="zh-CN" altLang="en-US"/>
          </a:p>
        </p:txBody>
      </p:sp>
    </p:spTree>
    <p:extLst>
      <p:ext uri="{BB962C8B-B14F-4D97-AF65-F5344CB8AC3E}">
        <p14:creationId xmlns:p14="http://schemas.microsoft.com/office/powerpoint/2010/main" val="730247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built a unified NMT framework and ran a systematic study across architectures, tokenization, and training strategies.</a:t>
            </a:r>
            <a:br>
              <a:rPr lang="en-US" altLang="zh-CN" dirty="0"/>
            </a:br>
            <a:r>
              <a:rPr lang="en-US" altLang="zh-CN" dirty="0"/>
              <a:t>Our goal was not only to compare performance, but to understand </a:t>
            </a:r>
            <a:r>
              <a:rPr lang="en-US" altLang="zh-CN" i="1" dirty="0"/>
              <a:t>why</a:t>
            </a:r>
            <a:r>
              <a:rPr lang="en-US" altLang="zh-CN" dirty="0"/>
              <a:t> different choices matter.”</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62265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5CB0-046C-9406-9473-D0BE9821C4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BD5A90-3FAC-9902-40B6-4B8A8A6F615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7B8461B-8792-628C-7043-E2D525CA1AD7}"/>
              </a:ext>
            </a:extLst>
          </p:cNvPr>
          <p:cNvSpPr>
            <a:spLocks noGrp="1"/>
          </p:cNvSpPr>
          <p:nvPr>
            <p:ph type="body" idx="1"/>
          </p:nvPr>
        </p:nvSpPr>
        <p:spPr/>
        <p:txBody>
          <a:bodyPr/>
          <a:lstStyle/>
          <a:p>
            <a:r>
              <a:rPr lang="en-US" altLang="zh-CN" dirty="0"/>
              <a:t>“Our task is </a:t>
            </a:r>
            <a:r>
              <a:rPr lang="en-US" altLang="zh-CN" dirty="0" err="1"/>
              <a:t>English→German</a:t>
            </a:r>
            <a:r>
              <a:rPr lang="en-US" altLang="zh-CN" dirty="0"/>
              <a:t> translation on IWSLT17.</a:t>
            </a:r>
            <a:br>
              <a:rPr lang="en-US" altLang="zh-CN" dirty="0"/>
            </a:br>
            <a:r>
              <a:rPr lang="en-US" altLang="zh-CN" dirty="0"/>
              <a:t>The dataset is small enough to allow extensive controlled experiments.</a:t>
            </a:r>
            <a:br>
              <a:rPr lang="en-US" altLang="zh-CN" dirty="0"/>
            </a:br>
            <a:r>
              <a:rPr lang="en-US" altLang="zh-CN" dirty="0"/>
              <a:t>We evaluate with BLEU and chrF under both greedy and beam search.</a:t>
            </a:r>
          </a:p>
          <a:p>
            <a:r>
              <a:rPr lang="en-US" altLang="zh-CN" dirty="0"/>
              <a:t>As we all know, NMT performance depends not only on the model but also on tokenization, regularization, and training dynamics. So this is the most crucial start point for this project: We want to understand these effects systematically.”</a:t>
            </a:r>
          </a:p>
        </p:txBody>
      </p:sp>
      <p:sp>
        <p:nvSpPr>
          <p:cNvPr id="4" name="灯片编号占位符 3">
            <a:extLst>
              <a:ext uri="{FF2B5EF4-FFF2-40B4-BE49-F238E27FC236}">
                <a16:creationId xmlns:a16="http://schemas.microsoft.com/office/drawing/2014/main" id="{379D9B6E-A738-C1D0-DBFC-7F301174DF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75999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45EE7-1370-27F8-CA02-7A39E56A2B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A58D2A-E475-202C-315E-912ADC30D0E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F46248D-530A-20F9-581D-72242FF7B9B5}"/>
              </a:ext>
            </a:extLst>
          </p:cNvPr>
          <p:cNvSpPr>
            <a:spLocks noGrp="1"/>
          </p:cNvSpPr>
          <p:nvPr>
            <p:ph type="body" idx="1"/>
          </p:nvPr>
        </p:nvSpPr>
        <p:spPr/>
        <p:txBody>
          <a:bodyPr/>
          <a:lstStyle/>
          <a:p>
            <a:r>
              <a:rPr lang="en-US" altLang="zh-CN" dirty="0"/>
              <a:t>“We implemented three encoder–decoder architectures in one framework:</a:t>
            </a:r>
          </a:p>
          <a:p>
            <a:r>
              <a:rPr lang="en-US" altLang="zh-CN" dirty="0"/>
              <a:t>GRU + attention</a:t>
            </a:r>
          </a:p>
          <a:p>
            <a:r>
              <a:rPr lang="en-US" altLang="zh-CN" dirty="0"/>
              <a:t>LSTM + attention</a:t>
            </a:r>
          </a:p>
          <a:p>
            <a:r>
              <a:rPr lang="en-US" altLang="zh-CN" dirty="0"/>
              <a:t>Transformer encoder–decoder</a:t>
            </a:r>
          </a:p>
          <a:p>
            <a:r>
              <a:rPr lang="en-US" altLang="zh-CN" dirty="0"/>
              <a:t>We also tested three fundamentally different tokenization strategies:</a:t>
            </a:r>
          </a:p>
          <a:p>
            <a:r>
              <a:rPr lang="en-US" altLang="zh-CN" dirty="0"/>
              <a:t>whitespace</a:t>
            </a:r>
          </a:p>
          <a:p>
            <a:r>
              <a:rPr lang="en-US" altLang="zh-CN" dirty="0"/>
              <a:t>character-level</a:t>
            </a:r>
          </a:p>
          <a:p>
            <a:r>
              <a:rPr lang="en-US" altLang="zh-CN" dirty="0"/>
              <a:t>sentencepiece </a:t>
            </a:r>
          </a:p>
          <a:p>
            <a:r>
              <a:rPr lang="en-US" altLang="zh-CN" dirty="0"/>
              <a:t>Altogether this gives us nine meaningful combinations, forming the core of our baseline study.”</a:t>
            </a:r>
          </a:p>
        </p:txBody>
      </p:sp>
      <p:sp>
        <p:nvSpPr>
          <p:cNvPr id="4" name="灯片编号占位符 3">
            <a:extLst>
              <a:ext uri="{FF2B5EF4-FFF2-40B4-BE49-F238E27FC236}">
                <a16:creationId xmlns:a16="http://schemas.microsoft.com/office/drawing/2014/main" id="{37E52FFE-1AF5-4AD6-DDD7-C69E29F8C3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6838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1448-E990-97F6-A739-8A6456AB25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36E4DB-A1E4-AEFE-863D-224D54D2B94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C136739-7B53-CE14-B45F-3EA93E9DC8C5}"/>
              </a:ext>
            </a:extLst>
          </p:cNvPr>
          <p:cNvSpPr>
            <a:spLocks noGrp="1"/>
          </p:cNvSpPr>
          <p:nvPr>
            <p:ph type="body" idx="1"/>
          </p:nvPr>
        </p:nvSpPr>
        <p:spPr/>
        <p:txBody>
          <a:bodyPr/>
          <a:lstStyle/>
          <a:p>
            <a:r>
              <a:rPr lang="en-US" altLang="zh-CN" dirty="0"/>
              <a:t>“Beyond the base models, we explored several important training components:</a:t>
            </a:r>
          </a:p>
          <a:p>
            <a:r>
              <a:rPr lang="en-US" altLang="zh-CN" dirty="0"/>
              <a:t>label smoothing (0–0.4)</a:t>
            </a:r>
          </a:p>
          <a:p>
            <a:r>
              <a:rPr lang="en-US" altLang="zh-CN" dirty="0"/>
              <a:t>Noam learning rate schedule + warmup</a:t>
            </a:r>
          </a:p>
          <a:p>
            <a:r>
              <a:rPr lang="en-US" altLang="zh-CN" dirty="0"/>
              <a:t>greedy vs beam search</a:t>
            </a:r>
          </a:p>
          <a:p>
            <a:r>
              <a:rPr lang="en-US" altLang="zh-CN" dirty="0"/>
              <a:t>different size of vocabulary</a:t>
            </a:r>
          </a:p>
          <a:p>
            <a:r>
              <a:rPr lang="en-US" altLang="zh-CN" dirty="0"/>
              <a:t>different random seeds</a:t>
            </a:r>
          </a:p>
          <a:p>
            <a:r>
              <a:rPr lang="en-US" altLang="zh-CN" dirty="0"/>
              <a:t>and a simple multilingual extension with </a:t>
            </a:r>
            <a:r>
              <a:rPr lang="en-US" altLang="zh-CN" dirty="0" err="1"/>
              <a:t>English→French</a:t>
            </a:r>
            <a:endParaRPr lang="en-US" altLang="zh-CN" dirty="0"/>
          </a:p>
          <a:p>
            <a:r>
              <a:rPr lang="en-US" altLang="zh-CN" dirty="0"/>
              <a:t>These are well-known MT techniques, but their impact at this scale is usually unclear. So we evaluate them carefully.”</a:t>
            </a:r>
          </a:p>
        </p:txBody>
      </p:sp>
      <p:sp>
        <p:nvSpPr>
          <p:cNvPr id="4" name="灯片编号占位符 3">
            <a:extLst>
              <a:ext uri="{FF2B5EF4-FFF2-40B4-BE49-F238E27FC236}">
                <a16:creationId xmlns:a16="http://schemas.microsoft.com/office/drawing/2014/main" id="{619B4988-8F4C-A6C0-E840-F40E347E47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73641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B77B8-7F58-3824-B932-DFCF8C9FE3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DEB165-BC81-26D6-DF8D-2AA6AB037CE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0B64BF5-216D-5C9D-FC02-E78611347936}"/>
              </a:ext>
            </a:extLst>
          </p:cNvPr>
          <p:cNvSpPr>
            <a:spLocks noGrp="1"/>
          </p:cNvSpPr>
          <p:nvPr>
            <p:ph type="body" idx="1"/>
          </p:nvPr>
        </p:nvSpPr>
        <p:spPr/>
        <p:txBody>
          <a:bodyPr/>
          <a:lstStyle/>
          <a:p>
            <a:r>
              <a:rPr lang="en-US" altLang="zh-CN" b="1" dirty="0"/>
              <a:t>First</a:t>
            </a:r>
            <a:r>
              <a:rPr lang="en-US" altLang="zh-CN" dirty="0"/>
              <a:t>, tokenization affects performance more than the model architecture.</a:t>
            </a:r>
            <a:br>
              <a:rPr lang="en-US" altLang="zh-CN" dirty="0"/>
            </a:br>
            <a:r>
              <a:rPr lang="en-US" altLang="zh-CN" dirty="0"/>
              <a:t>Changing the tokenizer can shift BLEU by over 7 points, while GRU, LSTM, and Transformer differ by only around 1–2 points.</a:t>
            </a:r>
            <a:br>
              <a:rPr lang="en-US" altLang="zh-CN" dirty="0"/>
            </a:br>
            <a:r>
              <a:rPr lang="en-US" altLang="zh-CN" dirty="0"/>
              <a:t>Whitespace tends to be stable, sentencepiece sometimes performs well in chrF but not always in BLEU, and character-level suffers because sequences become extremely long.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Second</a:t>
            </a:r>
            <a:r>
              <a:rPr lang="en-US" altLang="zh-CN" dirty="0"/>
              <a:t>, RNNs remain very strong on small datasets.</a:t>
            </a:r>
            <a:br>
              <a:rPr lang="en-US" altLang="zh-CN" dirty="0"/>
            </a:br>
            <a:r>
              <a:rPr lang="en-US" altLang="zh-CN" dirty="0"/>
              <a:t>On whitespace tokenization, Transformer achieves 28.98 BLEU with beam search, but LSTM reaches 27.91 and GRU 26.57.</a:t>
            </a:r>
            <a:br>
              <a:rPr lang="en-US" altLang="zh-CN" dirty="0"/>
            </a:br>
            <a:r>
              <a:rPr lang="en-US" altLang="zh-CN" dirty="0"/>
              <a:t>This reminds us that Transformers need larger datasets to fully outperform RNNs.</a:t>
            </a:r>
            <a:endParaRPr lang="zh-CN" altLang="en-US" dirty="0"/>
          </a:p>
        </p:txBody>
      </p:sp>
      <p:sp>
        <p:nvSpPr>
          <p:cNvPr id="4" name="灯片编号占位符 3">
            <a:extLst>
              <a:ext uri="{FF2B5EF4-FFF2-40B4-BE49-F238E27FC236}">
                <a16:creationId xmlns:a16="http://schemas.microsoft.com/office/drawing/2014/main" id="{499B90BA-6B7F-FBBD-7B2D-5F20F02C17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12833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4B42D-8ACC-6A1F-7353-1E68972B65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483E26-E6E2-C960-3702-CEE743EDEFF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A0D1084-072E-09C3-A036-A4A6C2ED5D9D}"/>
              </a:ext>
            </a:extLst>
          </p:cNvPr>
          <p:cNvSpPr>
            <a:spLocks noGrp="1"/>
          </p:cNvSpPr>
          <p:nvPr>
            <p:ph type="body" idx="1"/>
          </p:nvPr>
        </p:nvSpPr>
        <p:spPr/>
        <p:txBody>
          <a:bodyPr/>
          <a:lstStyle/>
          <a:p>
            <a:r>
              <a:rPr lang="en-US" altLang="zh-CN" b="1" dirty="0"/>
              <a:t>Third</a:t>
            </a:r>
            <a:r>
              <a:rPr lang="en-US" altLang="zh-CN" dirty="0"/>
              <a:t>, label smoothing has a clear sweet spot.</a:t>
            </a:r>
            <a:br>
              <a:rPr lang="en-US" altLang="zh-CN" dirty="0"/>
            </a:br>
            <a:r>
              <a:rPr lang="en-US" altLang="zh-CN" dirty="0"/>
              <a:t>For whitespace tokenization, 0.2 smoothing gives the best BLEU score of 31.16.</a:t>
            </a:r>
            <a:br>
              <a:rPr lang="en-US" altLang="zh-CN" dirty="0"/>
            </a:br>
            <a:r>
              <a:rPr lang="en-US" altLang="zh-CN" dirty="0"/>
              <a:t>But the effect depends heavily on tokenization: sentencepiece is less sensitive, and character-level models actually get worse with larger smoothing.</a:t>
            </a:r>
            <a:endParaRPr lang="zh-CN" altLang="en-US" dirty="0"/>
          </a:p>
        </p:txBody>
      </p:sp>
      <p:sp>
        <p:nvSpPr>
          <p:cNvPr id="4" name="灯片编号占位符 3">
            <a:extLst>
              <a:ext uri="{FF2B5EF4-FFF2-40B4-BE49-F238E27FC236}">
                <a16:creationId xmlns:a16="http://schemas.microsoft.com/office/drawing/2014/main" id="{A6690B7D-4554-B3CC-41D1-9A3F6A6AD5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953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13FA0-6EA7-9A4D-028F-1D9AF439E1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6EF032-3FF3-9620-89E9-BA85DC36600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ADA89D-4E34-1CDC-3E79-EA0D854A7CC3}"/>
              </a:ext>
            </a:extLst>
          </p:cNvPr>
          <p:cNvSpPr>
            <a:spLocks noGrp="1"/>
          </p:cNvSpPr>
          <p:nvPr>
            <p:ph type="body" idx="1"/>
          </p:nvPr>
        </p:nvSpPr>
        <p:spPr/>
        <p:txBody>
          <a:bodyPr/>
          <a:lstStyle/>
          <a:p>
            <a:r>
              <a:rPr lang="en-US" altLang="zh-CN" b="1" dirty="0"/>
              <a:t>Fourth</a:t>
            </a:r>
            <a:r>
              <a:rPr lang="en-US" altLang="zh-CN" dirty="0"/>
              <a:t>, learning-rate scheduling is critical for Transformer training.</a:t>
            </a:r>
            <a:br>
              <a:rPr lang="en-US" altLang="zh-CN" dirty="0"/>
            </a:br>
            <a:r>
              <a:rPr lang="en-US" altLang="zh-CN" dirty="0"/>
              <a:t>Noam with the right warmup—around 2500 steps—outperforms ReduceLROnPlateau.</a:t>
            </a:r>
            <a:br>
              <a:rPr lang="en-US" altLang="zh-CN" dirty="0"/>
            </a:br>
            <a:r>
              <a:rPr lang="en-US" altLang="zh-CN" dirty="0"/>
              <a:t>If warmup is too small the model becomes unstable; if it’s too large learning slows down.</a:t>
            </a:r>
          </a:p>
          <a:p>
            <a:endParaRPr lang="en-US" altLang="zh-CN" dirty="0"/>
          </a:p>
          <a:p>
            <a:endParaRPr lang="en-US" altLang="zh-CN" dirty="0"/>
          </a:p>
          <a:p>
            <a:r>
              <a:rPr lang="en-US" altLang="zh-CN" b="1" dirty="0"/>
              <a:t>Fifth</a:t>
            </a:r>
            <a:r>
              <a:rPr lang="en-US" altLang="zh-CN" dirty="0"/>
              <a:t>, vocabulary size matters a lot.</a:t>
            </a:r>
            <a:br>
              <a:rPr lang="en-US" altLang="zh-CN" dirty="0"/>
            </a:br>
            <a:r>
              <a:rPr lang="en-US" altLang="zh-CN" dirty="0"/>
              <a:t>Surprisingly, the smallest vocabulary (8K) performs best, achieving 34.64 BLEU, which is higher than 16K or 20K.</a:t>
            </a:r>
            <a:br>
              <a:rPr lang="en-US" altLang="zh-CN" dirty="0"/>
            </a:br>
            <a:r>
              <a:rPr lang="en-US" altLang="zh-CN" dirty="0"/>
              <a:t>Smaller vocabularies create more shared </a:t>
            </a:r>
            <a:r>
              <a:rPr lang="en-US" altLang="zh-CN" dirty="0" err="1"/>
              <a:t>subwords</a:t>
            </a:r>
            <a:r>
              <a:rPr lang="en-US" altLang="zh-CN" dirty="0"/>
              <a:t> and reduce sparsity, which is especially helpful in low-resource settings.</a:t>
            </a:r>
            <a:endParaRPr lang="zh-CN" altLang="en-US" dirty="0"/>
          </a:p>
        </p:txBody>
      </p:sp>
      <p:sp>
        <p:nvSpPr>
          <p:cNvPr id="4" name="灯片编号占位符 3">
            <a:extLst>
              <a:ext uri="{FF2B5EF4-FFF2-40B4-BE49-F238E27FC236}">
                <a16:creationId xmlns:a16="http://schemas.microsoft.com/office/drawing/2014/main" id="{F2147B90-A0A4-967D-1B58-B4955BD40B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05448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F756-9F84-9957-7612-BB859F2E11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A91DB9-447F-3657-C03E-BA2B5207405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E00F373-28CB-629B-3818-992B4DFF2434}"/>
              </a:ext>
            </a:extLst>
          </p:cNvPr>
          <p:cNvSpPr>
            <a:spLocks noGrp="1"/>
          </p:cNvSpPr>
          <p:nvPr>
            <p:ph type="body" idx="1"/>
          </p:nvPr>
        </p:nvSpPr>
        <p:spPr/>
        <p:txBody>
          <a:bodyPr/>
          <a:lstStyle/>
          <a:p>
            <a:r>
              <a:rPr lang="en-US" altLang="zh-CN" b="1" dirty="0"/>
              <a:t>Finally</a:t>
            </a:r>
            <a:r>
              <a:rPr lang="en-US" altLang="zh-CN" dirty="0"/>
              <a:t>, multilingual training can provide positive transfer.</a:t>
            </a:r>
            <a:br>
              <a:rPr lang="en-US" altLang="zh-CN" dirty="0"/>
            </a:br>
            <a:r>
              <a:rPr lang="en-US" altLang="zh-CN" dirty="0"/>
              <a:t>Adding French–English data improves </a:t>
            </a:r>
            <a:r>
              <a:rPr lang="en-US" altLang="zh-CN" dirty="0" err="1"/>
              <a:t>English→German</a:t>
            </a:r>
            <a:r>
              <a:rPr lang="en-US" altLang="zh-CN" dirty="0"/>
              <a:t> performance, especially for whitespace tokenization.</a:t>
            </a:r>
            <a:br>
              <a:rPr lang="en-US" altLang="zh-CN" dirty="0"/>
            </a:br>
            <a:r>
              <a:rPr lang="en-US" altLang="zh-CN" dirty="0"/>
              <a:t>For example, BLEU goes from 31.16 in mono-lingual training to 33.95 in multilingual training.</a:t>
            </a:r>
            <a:br>
              <a:rPr lang="en-US" altLang="zh-CN" dirty="0"/>
            </a:br>
            <a:r>
              <a:rPr lang="en-US" altLang="zh-CN" dirty="0"/>
              <a:t>So even a small auxiliary language can help.”</a:t>
            </a:r>
            <a:endParaRPr lang="zh-CN" altLang="en-US" dirty="0"/>
          </a:p>
        </p:txBody>
      </p:sp>
      <p:sp>
        <p:nvSpPr>
          <p:cNvPr id="4" name="灯片编号占位符 3">
            <a:extLst>
              <a:ext uri="{FF2B5EF4-FFF2-40B4-BE49-F238E27FC236}">
                <a16:creationId xmlns:a16="http://schemas.microsoft.com/office/drawing/2014/main" id="{7A6C5707-211A-C2C7-F46A-66ECDAE642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89159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C47C-0E27-700A-D361-564A7079FD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1D0BF1-BFFB-CF91-3883-F8D508CC66B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B443840-CA41-A103-63F8-7EB6262EECF2}"/>
              </a:ext>
            </a:extLst>
          </p:cNvPr>
          <p:cNvSpPr>
            <a:spLocks noGrp="1"/>
          </p:cNvSpPr>
          <p:nvPr>
            <p:ph type="body" idx="1"/>
          </p:nvPr>
        </p:nvSpPr>
        <p:spPr/>
        <p:txBody>
          <a:bodyPr/>
          <a:lstStyle/>
          <a:p>
            <a:r>
              <a:rPr lang="en-US" altLang="zh-CN" dirty="0"/>
              <a:t>character-level tokenization consistently produces much longer sequences than whitespace or sentencepiece tokenization on both the source and target sides. In contrast, whitespace and sentencepiece concentrate on shorter lengths with similar overall shapes, while sentencepiece is typically slightly more compact than pure whitespace tokenization due to </a:t>
            </a:r>
            <a:r>
              <a:rPr lang="en-US" altLang="zh-CN" dirty="0" err="1"/>
              <a:t>itsuse</a:t>
            </a:r>
            <a:r>
              <a:rPr lang="en-US" altLang="zh-CN" dirty="0"/>
              <a:t> of reusable subword units.</a:t>
            </a:r>
            <a:endParaRPr lang="zh-CN" altLang="en-US" dirty="0"/>
          </a:p>
        </p:txBody>
      </p:sp>
      <p:sp>
        <p:nvSpPr>
          <p:cNvPr id="4" name="灯片编号占位符 3">
            <a:extLst>
              <a:ext uri="{FF2B5EF4-FFF2-40B4-BE49-F238E27FC236}">
                <a16:creationId xmlns:a16="http://schemas.microsoft.com/office/drawing/2014/main" id="{C4B0A47F-43A9-54A1-2E24-44A6147996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19736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C7F60-1BF9-04E7-3D7C-3BB9621E0E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A9B150-204F-BAC0-0E54-D07E52F57C9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EE8176F-1BFF-7635-97EC-A5CF9E59D24A}"/>
              </a:ext>
            </a:extLst>
          </p:cNvPr>
          <p:cNvSpPr>
            <a:spLocks noGrp="1"/>
          </p:cNvSpPr>
          <p:nvPr>
            <p:ph type="body" idx="1"/>
          </p:nvPr>
        </p:nvSpPr>
        <p:spPr/>
        <p:txBody>
          <a:bodyPr/>
          <a:lstStyle/>
          <a:p>
            <a:r>
              <a:rPr lang="en-US" altLang="zh-CN" dirty="0"/>
              <a:t>“To conclude, our study shows that machine translation performance is shaped by many interacting components.</a:t>
            </a:r>
            <a:br>
              <a:rPr lang="en-US" altLang="zh-CN" dirty="0"/>
            </a:br>
            <a:r>
              <a:rPr lang="en-US" altLang="zh-CN" dirty="0"/>
              <a:t>In small datasets, tokenization, vocabulary size, label smoothing, and learning-rate schedules matter as much as the model itself.</a:t>
            </a:r>
          </a:p>
          <a:p>
            <a:r>
              <a:rPr lang="en-US" altLang="zh-CN" dirty="0"/>
              <a:t>The best overall performance comes from a well-tuned Transformer with an appropriate tokenizer and training strategy.</a:t>
            </a:r>
            <a:br>
              <a:rPr lang="en-US" altLang="zh-CN" dirty="0"/>
            </a:br>
            <a:r>
              <a:rPr lang="en-US" altLang="zh-CN" dirty="0"/>
              <a:t>But our results also highlight the surprising strength of RNNs and the value of multilingual training.</a:t>
            </a:r>
          </a:p>
          <a:p>
            <a:endParaRPr lang="en-US" altLang="zh-CN" dirty="0"/>
          </a:p>
          <a:p>
            <a:r>
              <a:rPr lang="en-US" altLang="zh-CN" b="1">
                <a:solidFill>
                  <a:srgbClr val="C00000"/>
                </a:solidFill>
                <a:latin typeface="Times New Roman" panose="02020603050405020304" pitchFamily="18" charset="0"/>
                <a:cs typeface="Times New Roman" panose="02020603050405020304" pitchFamily="18" charset="0"/>
              </a:rPr>
              <a:t>Overall, our study shows that NMT performance depends on a combination of architecture, tokenization, and training dynamics—not just the model alone!</a:t>
            </a:r>
            <a:endParaRPr lang="en-US" altLang="zh-CN" dirty="0"/>
          </a:p>
          <a:p>
            <a:r>
              <a:rPr lang="en-US" altLang="zh-CN" dirty="0"/>
              <a:t>Thank you.”</a:t>
            </a:r>
          </a:p>
          <a:p>
            <a:endParaRPr lang="zh-CN" altLang="en-US" dirty="0"/>
          </a:p>
        </p:txBody>
      </p:sp>
      <p:sp>
        <p:nvSpPr>
          <p:cNvPr id="4" name="灯片编号占位符 3">
            <a:extLst>
              <a:ext uri="{FF2B5EF4-FFF2-40B4-BE49-F238E27FC236}">
                <a16:creationId xmlns:a16="http://schemas.microsoft.com/office/drawing/2014/main" id="{84566D95-F06F-E9EE-3324-EC44A135D4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E54944-674C-41D6-AD19-1AE04A951B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20550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986C16-2979-C77E-3C91-3AFF6526041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8BD48A2-E409-2C00-EC94-81D0EF7C26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90E05D0-3F4E-B418-4405-23C2DA5F1B27}"/>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3B6FC5EC-AA42-404A-C81B-FDBF64FC74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8CACCD-C104-DA2B-A2AF-89B857B0A802}"/>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1274714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86CD4-D747-61FF-617B-484DD6B274D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FFBF2B-CF29-8D33-F93A-E6777C76A7A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43B027-F691-C974-8148-70CF8E0C70E9}"/>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AB74D74B-7527-34C8-CE88-AAF0CC9A97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81FF0B-2F3F-FAA4-3E80-FB18EC5368A5}"/>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7292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2D08D-A81C-FE2E-3C4A-4BFD752552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A08C95-80A5-33D2-9FB9-8CFC075387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186961-5D80-99FE-89A3-D35D14432FF0}"/>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6B5AE242-E925-20CA-9727-B294502D4E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3289A7-D53C-E8A7-6C5B-902C8E2AE93E}"/>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3486510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229DC-4C4F-7EAE-7205-1541F9C78E5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66CCCE1-2AEA-613D-F7B0-CAC79F5ED8E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CA740E1-3819-95CD-4374-9CE5D37436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265BF10-A0E5-4959-3289-682DF4A64836}"/>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98BFB7F9-45A6-D3C9-0607-19509F3DAA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24926C-4F84-F166-FC7A-DEB4A98691B5}"/>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1252405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9C92D-47F9-7B6B-6138-A55456B38B8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EA1D765-738D-20AD-C12E-94EDC0FD61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FC016BE-FDFF-4EB9-2FA6-307FA47427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2C39F50-22AE-32CF-5151-7E49B9A7DF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178343A-CA2D-99D3-4D83-5C09CEEBCC4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03060A4-7A8F-0A44-85D3-9A4EFBBF90AE}"/>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8" name="页脚占位符 7">
            <a:extLst>
              <a:ext uri="{FF2B5EF4-FFF2-40B4-BE49-F238E27FC236}">
                <a16:creationId xmlns:a16="http://schemas.microsoft.com/office/drawing/2014/main" id="{BC07DBAE-5E68-A6FC-ECAE-C769981810F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3FE7176-4ADA-6505-D97D-17F6E67C2EC9}"/>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2148950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D487CD-950F-ED42-488F-1C7B05C1F76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FED84CC-B878-694A-0FB8-53D782010D6E}"/>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4" name="页脚占位符 3">
            <a:extLst>
              <a:ext uri="{FF2B5EF4-FFF2-40B4-BE49-F238E27FC236}">
                <a16:creationId xmlns:a16="http://schemas.microsoft.com/office/drawing/2014/main" id="{2E141C4F-9DB8-CA1E-D426-9AFB86867A9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AAF759F-7EF1-E557-A0C3-697EDC6CF432}"/>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381839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5CEA83F-6622-7E14-B442-E8733AC1CE48}"/>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3" name="页脚占位符 2">
            <a:extLst>
              <a:ext uri="{FF2B5EF4-FFF2-40B4-BE49-F238E27FC236}">
                <a16:creationId xmlns:a16="http://schemas.microsoft.com/office/drawing/2014/main" id="{EF9074BD-F3D9-7E88-506B-F203083FB4B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05413CD-B2A2-4142-D6C2-F0814E87BF39}"/>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296813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4355C5-44C3-6CCE-FD0A-3D199D9E1C9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BB728F5-AB49-8E79-58E6-414B9EC30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3B5DF44-5789-C4D5-C3B4-0700E30513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31A11A-8A25-AB36-38D7-DD48949F35A6}"/>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303734C4-FE04-0023-8C71-5C03AC35F6D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ACFA3C-D83B-4064-A5B9-AE019866238F}"/>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353340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8C98F-B065-C2F8-8789-DAB6791C5DE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49B0140-7522-E523-6908-452DCD59F0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29A6687-5386-6BB4-B099-454D681FA3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501AC80-F8BB-4C63-072C-1DAF1C6DD0DD}"/>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6" name="页脚占位符 5">
            <a:extLst>
              <a:ext uri="{FF2B5EF4-FFF2-40B4-BE49-F238E27FC236}">
                <a16:creationId xmlns:a16="http://schemas.microsoft.com/office/drawing/2014/main" id="{B43A70E5-BCB8-B4FB-0B4C-505295212C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240CA3-1348-7DAB-1668-0E076783ED6E}"/>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3985185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BE9555-A94D-3E58-0E3C-AB2C7022AD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C7279A3-0A72-B214-CED1-F8808A1AD50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2BFA8E-81FD-B38E-8957-398729FBD5DA}"/>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61496862-DAEE-1FBF-6F33-17E28B0414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7F657E-4F66-95B3-878D-D32381C8B4ED}"/>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252435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EFC1C0C-A090-D1ED-401A-6F4EBDAF9A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4B1EDB6-0B4B-0C75-5416-9FF44E4B12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FCCE330-E100-C6B1-6105-1587025A0575}"/>
              </a:ext>
            </a:extLst>
          </p:cNvPr>
          <p:cNvSpPr>
            <a:spLocks noGrp="1"/>
          </p:cNvSpPr>
          <p:nvPr>
            <p:ph type="dt" sz="half" idx="10"/>
          </p:nvPr>
        </p:nvSpPr>
        <p:spPr/>
        <p:txBody>
          <a:body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8AB75389-0275-9379-4EDD-888C11CC32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E29024-8946-DB93-CED1-41A6DE6C8827}"/>
              </a:ext>
            </a:extLst>
          </p:cNvPr>
          <p:cNvSpPr>
            <a:spLocks noGrp="1"/>
          </p:cNvSpPr>
          <p:nvPr>
            <p:ph type="sldNum" sz="quarter" idx="12"/>
          </p:nvPr>
        </p:nvSpPr>
        <p:spPr/>
        <p:txBody>
          <a:body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679144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3537357-D7F6-5B52-06C2-B1868B758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D86F4D4-73BB-1AA3-3A49-01DE1432E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C9C1AA-0B99-E9BE-804D-90B0006C65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F78F4E-A33A-4607-B602-48708026CEC7}" type="datetimeFigureOut">
              <a:rPr lang="zh-CN" altLang="en-US" smtClean="0"/>
              <a:t>2025/12/1</a:t>
            </a:fld>
            <a:endParaRPr lang="zh-CN" altLang="en-US"/>
          </a:p>
        </p:txBody>
      </p:sp>
      <p:sp>
        <p:nvSpPr>
          <p:cNvPr id="5" name="页脚占位符 4">
            <a:extLst>
              <a:ext uri="{FF2B5EF4-FFF2-40B4-BE49-F238E27FC236}">
                <a16:creationId xmlns:a16="http://schemas.microsoft.com/office/drawing/2014/main" id="{01E70963-CF4F-162D-810D-79A95B077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FC0A60-14CB-DDDE-9655-07AAC2B7EC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A67092-C038-485A-9745-D96343519D97}" type="slidenum">
              <a:rPr lang="zh-CN" altLang="en-US" smtClean="0"/>
              <a:t>‹#›</a:t>
            </a:fld>
            <a:endParaRPr lang="zh-CN" altLang="en-US"/>
          </a:p>
        </p:txBody>
      </p:sp>
    </p:spTree>
    <p:extLst>
      <p:ext uri="{BB962C8B-B14F-4D97-AF65-F5344CB8AC3E}">
        <p14:creationId xmlns:p14="http://schemas.microsoft.com/office/powerpoint/2010/main" val="748044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98CB4DE-681B-8571-F8D5-040EE9F791C4}"/>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E27FDED9-579F-80F0-4FF5-1270E6489350}"/>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D34DD56D-6770-524D-37F7-68604A9B4303}"/>
              </a:ext>
            </a:extLst>
          </p:cNvPr>
          <p:cNvPicPr>
            <a:picLocks noChangeAspect="1"/>
          </p:cNvPicPr>
          <p:nvPr/>
        </p:nvPicPr>
        <p:blipFill>
          <a:blip r:embed="rId3"/>
          <a:stretch>
            <a:fillRect/>
          </a:stretch>
        </p:blipFill>
        <p:spPr>
          <a:xfrm>
            <a:off x="5189963" y="4764668"/>
            <a:ext cx="1812073" cy="1029586"/>
          </a:xfrm>
          <a:prstGeom prst="rect">
            <a:avLst/>
          </a:prstGeom>
        </p:spPr>
      </p:pic>
      <p:sp>
        <p:nvSpPr>
          <p:cNvPr id="7" name="矩形: 圆角 6">
            <a:extLst>
              <a:ext uri="{FF2B5EF4-FFF2-40B4-BE49-F238E27FC236}">
                <a16:creationId xmlns:a16="http://schemas.microsoft.com/office/drawing/2014/main" id="{5D26313B-BCB3-12D5-4F05-AB4917835A9C}"/>
              </a:ext>
            </a:extLst>
          </p:cNvPr>
          <p:cNvSpPr/>
          <p:nvPr/>
        </p:nvSpPr>
        <p:spPr>
          <a:xfrm>
            <a:off x="0" y="1151223"/>
            <a:ext cx="12191999" cy="1488367"/>
          </a:xfrm>
          <a:prstGeom prst="roundRect">
            <a:avLst/>
          </a:prstGeom>
          <a:solidFill>
            <a:srgbClr val="AE1F53">
              <a:alpha val="78000"/>
            </a:srgb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130000"/>
              </a:lnSpc>
            </a:pPr>
            <a:r>
              <a:rPr lang="en-US" altLang="zh-CN" sz="2800" b="1" dirty="0">
                <a:latin typeface="Times New Roman" panose="02020603050405020304" pitchFamily="18" charset="0"/>
                <a:cs typeface="Times New Roman" panose="02020603050405020304" pitchFamily="18" charset="0"/>
              </a:rPr>
              <a:t>Neural Machine Translation on IWSLT 2017:</a:t>
            </a:r>
          </a:p>
          <a:p>
            <a:pPr lvl="0" algn="ctr">
              <a:lnSpc>
                <a:spcPct val="130000"/>
              </a:lnSpc>
            </a:pPr>
            <a:r>
              <a:rPr lang="en-US" altLang="zh-CN" sz="2800" b="1" dirty="0">
                <a:solidFill>
                  <a:prstClr val="white"/>
                </a:solidFill>
                <a:latin typeface="Times New Roman" panose="02020603050405020304" pitchFamily="18" charset="0"/>
                <a:cs typeface="Times New Roman" panose="02020603050405020304" pitchFamily="18" charset="0"/>
              </a:rPr>
              <a:t>A Systematic Study of Architectures, Tokenization, and Training Strategies</a:t>
            </a:r>
            <a:endParaRPr kumimoji="0"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A7621E18-5B7F-32C5-F735-15042E5D0130}"/>
              </a:ext>
            </a:extLst>
          </p:cNvPr>
          <p:cNvSpPr txBox="1"/>
          <p:nvPr/>
        </p:nvSpPr>
        <p:spPr>
          <a:xfrm>
            <a:off x="3734459" y="3018081"/>
            <a:ext cx="472307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Group 98: Yilin Xu</a:t>
            </a:r>
            <a:r>
              <a:rPr lang="en-US" altLang="zh-CN" sz="2400" b="1" i="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b="1" i="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and</a:t>
            </a: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Zhuo Han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Date: 2-Dec-2025</a:t>
            </a:r>
            <a:endParaRPr kumimoji="0" lang="zh-CN" altLang="en-US" sz="2400" b="1"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F6A198CD-CC65-B308-1BD9-C83134F41E64}"/>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470CF566-D233-E737-D597-37706B6343A0}"/>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83BCE999-7C5F-9D63-E613-DCF65EF9538D}"/>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2756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85EE-8439-66B6-629C-454FB089926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9ED69E0-DA3E-C8A0-C52E-3E31B43C1750}"/>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2A814529-535A-F257-64D6-219FAA925AB8}"/>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8D3B752B-25EC-EC97-68E9-73BC33FE293E}"/>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73C0BE24-EC72-FDF7-ED83-A86652D5F24E}"/>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9D5424C0-2CBD-FE64-76D9-877EC5D11851}"/>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B0DEAE3E-7A79-8F1B-34EA-C899F6FEDDBE}"/>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Task and Dataset</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E00DC448-7DE4-A9C8-A503-8AE88FC949C4}"/>
              </a:ext>
            </a:extLst>
          </p:cNvPr>
          <p:cNvPicPr>
            <a:picLocks noChangeAspect="1"/>
          </p:cNvPicPr>
          <p:nvPr/>
        </p:nvPicPr>
        <p:blipFill>
          <a:blip r:embed="rId3"/>
          <a:stretch>
            <a:fillRect/>
          </a:stretch>
        </p:blipFill>
        <p:spPr>
          <a:xfrm>
            <a:off x="10880295" y="5784323"/>
            <a:ext cx="1119736" cy="636213"/>
          </a:xfrm>
          <a:prstGeom prst="rect">
            <a:avLst/>
          </a:prstGeom>
        </p:spPr>
      </p:pic>
      <p:sp>
        <p:nvSpPr>
          <p:cNvPr id="5" name="文本框 4">
            <a:extLst>
              <a:ext uri="{FF2B5EF4-FFF2-40B4-BE49-F238E27FC236}">
                <a16:creationId xmlns:a16="http://schemas.microsoft.com/office/drawing/2014/main" id="{6467ACFC-5C6F-FE70-11EF-1FC350579D6F}"/>
              </a:ext>
            </a:extLst>
          </p:cNvPr>
          <p:cNvSpPr txBox="1"/>
          <p:nvPr/>
        </p:nvSpPr>
        <p:spPr>
          <a:xfrm>
            <a:off x="187891" y="1235932"/>
            <a:ext cx="8179495" cy="166994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Main Task: English → German neural machine translation</a:t>
            </a:r>
          </a:p>
          <a:p>
            <a:pPr marL="285750" indent="-285750">
              <a:lnSpc>
                <a:spcPct val="20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Dataset: IWSLT 2017</a:t>
            </a:r>
          </a:p>
          <a:p>
            <a:pPr marL="285750" indent="-285750">
              <a:lnSpc>
                <a:spcPct val="20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Evaluation: BLEU + chrF, greedy &amp; beam search</a:t>
            </a:r>
          </a:p>
        </p:txBody>
      </p:sp>
      <p:pic>
        <p:nvPicPr>
          <p:cNvPr id="19" name="图片 18" descr="表格&#10;&#10;AI 生成的内容可能不正确。">
            <a:extLst>
              <a:ext uri="{FF2B5EF4-FFF2-40B4-BE49-F238E27FC236}">
                <a16:creationId xmlns:a16="http://schemas.microsoft.com/office/drawing/2014/main" id="{B56209C7-DBA7-9E7F-8792-4D4CE6550E50}"/>
              </a:ext>
            </a:extLst>
          </p:cNvPr>
          <p:cNvPicPr>
            <a:picLocks noChangeAspect="1"/>
          </p:cNvPicPr>
          <p:nvPr/>
        </p:nvPicPr>
        <p:blipFill>
          <a:blip r:embed="rId4"/>
          <a:stretch>
            <a:fillRect/>
          </a:stretch>
        </p:blipFill>
        <p:spPr>
          <a:xfrm>
            <a:off x="1755237" y="3429000"/>
            <a:ext cx="8484790" cy="2600789"/>
          </a:xfrm>
          <a:prstGeom prst="rect">
            <a:avLst/>
          </a:prstGeom>
        </p:spPr>
      </p:pic>
    </p:spTree>
    <p:extLst>
      <p:ext uri="{BB962C8B-B14F-4D97-AF65-F5344CB8AC3E}">
        <p14:creationId xmlns:p14="http://schemas.microsoft.com/office/powerpoint/2010/main" val="282885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8FD89-4F43-E718-0AD1-6F95C67413D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2CAA708-C1EE-1EFA-4B9F-4771813AE094}"/>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F364C44A-7FC1-F0B8-D514-AB4855025963}"/>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9ABE91FB-6207-B4D7-C620-9DBCE4E2BBC6}"/>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9FDE5BEF-16C6-BCD1-836D-C6951BF3751A}"/>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4ECB668F-EE6D-BA0B-A509-E78C6EE8B0ED}"/>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76A2445E-1638-2691-D44F-BED74E7304EA}"/>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Three Models plus Three Tokenizers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95FC7FFB-05B0-1E82-001C-55CBE03F7F8D}"/>
              </a:ext>
            </a:extLst>
          </p:cNvPr>
          <p:cNvPicPr>
            <a:picLocks noChangeAspect="1"/>
          </p:cNvPicPr>
          <p:nvPr/>
        </p:nvPicPr>
        <p:blipFill>
          <a:blip r:embed="rId3"/>
          <a:stretch>
            <a:fillRect/>
          </a:stretch>
        </p:blipFill>
        <p:spPr>
          <a:xfrm>
            <a:off x="10880295" y="5784323"/>
            <a:ext cx="1119736" cy="636213"/>
          </a:xfrm>
          <a:prstGeom prst="rect">
            <a:avLst/>
          </a:prstGeom>
        </p:spPr>
      </p:pic>
      <p:grpSp>
        <p:nvGrpSpPr>
          <p:cNvPr id="17" name="组合 16">
            <a:extLst>
              <a:ext uri="{FF2B5EF4-FFF2-40B4-BE49-F238E27FC236}">
                <a16:creationId xmlns:a16="http://schemas.microsoft.com/office/drawing/2014/main" id="{E7B025EB-9930-5516-E06E-2A6D1D149405}"/>
              </a:ext>
            </a:extLst>
          </p:cNvPr>
          <p:cNvGrpSpPr/>
          <p:nvPr/>
        </p:nvGrpSpPr>
        <p:grpSpPr>
          <a:xfrm>
            <a:off x="225469" y="1185775"/>
            <a:ext cx="8624167" cy="1412150"/>
            <a:chOff x="225469" y="1185775"/>
            <a:chExt cx="8624167" cy="1412150"/>
          </a:xfrm>
        </p:grpSpPr>
        <p:sp>
          <p:nvSpPr>
            <p:cNvPr id="5" name="文本框 4">
              <a:extLst>
                <a:ext uri="{FF2B5EF4-FFF2-40B4-BE49-F238E27FC236}">
                  <a16:creationId xmlns:a16="http://schemas.microsoft.com/office/drawing/2014/main" id="{FA3449CD-347E-6FF9-E099-9FCCC0683960}"/>
                </a:ext>
              </a:extLst>
            </p:cNvPr>
            <p:cNvSpPr txBox="1"/>
            <p:nvPr/>
          </p:nvSpPr>
          <p:spPr>
            <a:xfrm>
              <a:off x="670141" y="1441839"/>
              <a:ext cx="8179495" cy="11560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GRU + Attention</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LSTM + Attention</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Transformer encoder–decoder</a:t>
              </a:r>
            </a:p>
          </p:txBody>
        </p:sp>
        <p:sp>
          <p:nvSpPr>
            <p:cNvPr id="4" name="椭圆 3">
              <a:extLst>
                <a:ext uri="{FF2B5EF4-FFF2-40B4-BE49-F238E27FC236}">
                  <a16:creationId xmlns:a16="http://schemas.microsoft.com/office/drawing/2014/main" id="{80FE3C11-4255-9B45-6CD8-9D08151B8663}"/>
                </a:ext>
              </a:extLst>
            </p:cNvPr>
            <p:cNvSpPr/>
            <p:nvPr/>
          </p:nvSpPr>
          <p:spPr>
            <a:xfrm>
              <a:off x="225469" y="1226441"/>
              <a:ext cx="288000" cy="288000"/>
            </a:xfrm>
            <a:prstGeom prst="ellipse">
              <a:avLst/>
            </a:prstGeom>
            <a:solidFill>
              <a:srgbClr val="BF4E77"/>
            </a:solidFill>
            <a:ln>
              <a:noFill/>
            </a:ln>
            <a:effectLst>
              <a:outerShdw blurRad="50800" dist="38100" dir="2700000" algn="tl" rotWithShape="0">
                <a:prstClr val="black">
                  <a:alpha val="40000"/>
                </a:prstClr>
              </a:outerShdw>
            </a:effectLst>
            <a:scene3d>
              <a:camera prst="orthographicFront">
                <a:rot lat="0" lon="20399994" rev="0"/>
              </a:camera>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F0FDC798-DADC-23A3-8D01-53A2C055DE0E}"/>
                </a:ext>
              </a:extLst>
            </p:cNvPr>
            <p:cNvSpPr txBox="1"/>
            <p:nvPr/>
          </p:nvSpPr>
          <p:spPr>
            <a:xfrm>
              <a:off x="670142" y="1185775"/>
              <a:ext cx="1473480"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Three Models</a:t>
              </a:r>
              <a:endParaRPr lang="zh-CN" altLang="en-US" dirty="0">
                <a:latin typeface="Times New Roman" panose="02020603050405020304" pitchFamily="18" charset="0"/>
                <a:cs typeface="Times New Roman" panose="02020603050405020304" pitchFamily="18" charset="0"/>
              </a:endParaRPr>
            </a:p>
          </p:txBody>
        </p:sp>
      </p:grpSp>
      <p:grpSp>
        <p:nvGrpSpPr>
          <p:cNvPr id="18" name="组合 17">
            <a:extLst>
              <a:ext uri="{FF2B5EF4-FFF2-40B4-BE49-F238E27FC236}">
                <a16:creationId xmlns:a16="http://schemas.microsoft.com/office/drawing/2014/main" id="{D11B5F40-1B0B-59BF-527A-6689366749AA}"/>
              </a:ext>
            </a:extLst>
          </p:cNvPr>
          <p:cNvGrpSpPr/>
          <p:nvPr/>
        </p:nvGrpSpPr>
        <p:grpSpPr>
          <a:xfrm>
            <a:off x="225469" y="3349991"/>
            <a:ext cx="8624166" cy="1453841"/>
            <a:chOff x="225469" y="3349991"/>
            <a:chExt cx="8624166" cy="1453841"/>
          </a:xfrm>
        </p:grpSpPr>
        <p:sp>
          <p:nvSpPr>
            <p:cNvPr id="8" name="椭圆 7">
              <a:extLst>
                <a:ext uri="{FF2B5EF4-FFF2-40B4-BE49-F238E27FC236}">
                  <a16:creationId xmlns:a16="http://schemas.microsoft.com/office/drawing/2014/main" id="{13C02FFE-A666-69DC-EA9E-C4F0DDBDBAA8}"/>
                </a:ext>
              </a:extLst>
            </p:cNvPr>
            <p:cNvSpPr/>
            <p:nvPr/>
          </p:nvSpPr>
          <p:spPr>
            <a:xfrm>
              <a:off x="225469" y="3359746"/>
              <a:ext cx="288000" cy="288000"/>
            </a:xfrm>
            <a:prstGeom prst="ellipse">
              <a:avLst/>
            </a:prstGeom>
            <a:solidFill>
              <a:srgbClr val="BF4E77"/>
            </a:solidFill>
            <a:ln>
              <a:noFill/>
            </a:ln>
            <a:effectLst>
              <a:outerShdw blurRad="50800" dist="38100" dir="2700000" algn="tl" rotWithShape="0">
                <a:prstClr val="black">
                  <a:alpha val="40000"/>
                </a:prstClr>
              </a:outerShdw>
            </a:effectLst>
            <a:scene3d>
              <a:camera prst="orthographicFront">
                <a:rot lat="0" lon="20399994" rev="0"/>
              </a:camera>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2</a:t>
              </a:r>
              <a:endParaRPr kumimoji="0" lang="zh-CN" altLang="en-US"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nvGrpSpPr>
            <p:cNvPr id="16" name="组合 15">
              <a:extLst>
                <a:ext uri="{FF2B5EF4-FFF2-40B4-BE49-F238E27FC236}">
                  <a16:creationId xmlns:a16="http://schemas.microsoft.com/office/drawing/2014/main" id="{D3D39335-681D-8848-BDFB-9DE033E3D807}"/>
                </a:ext>
              </a:extLst>
            </p:cNvPr>
            <p:cNvGrpSpPr/>
            <p:nvPr/>
          </p:nvGrpSpPr>
          <p:grpSpPr>
            <a:xfrm>
              <a:off x="670140" y="3349991"/>
              <a:ext cx="8179495" cy="1453841"/>
              <a:chOff x="670140" y="3349991"/>
              <a:chExt cx="8179495" cy="1453841"/>
            </a:xfrm>
          </p:grpSpPr>
          <p:sp>
            <p:nvSpPr>
              <p:cNvPr id="13" name="文本框 12">
                <a:extLst>
                  <a:ext uri="{FF2B5EF4-FFF2-40B4-BE49-F238E27FC236}">
                    <a16:creationId xmlns:a16="http://schemas.microsoft.com/office/drawing/2014/main" id="{EDA40E11-5D10-0D7B-98A3-BFE374ECF6DB}"/>
                  </a:ext>
                </a:extLst>
              </p:cNvPr>
              <p:cNvSpPr txBox="1"/>
              <p:nvPr/>
            </p:nvSpPr>
            <p:spPr>
              <a:xfrm>
                <a:off x="670142" y="3349991"/>
                <a:ext cx="2148214"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Three Tokenizers</a:t>
                </a:r>
                <a:endParaRPr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E274153E-A6ED-B614-F0A5-A3B0E91282AD}"/>
                  </a:ext>
                </a:extLst>
              </p:cNvPr>
              <p:cNvSpPr txBox="1"/>
              <p:nvPr/>
            </p:nvSpPr>
            <p:spPr>
              <a:xfrm>
                <a:off x="670140" y="3647746"/>
                <a:ext cx="8179495" cy="11560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White Space</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character-level</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sentencepiece (subword)</a:t>
                </a:r>
              </a:p>
            </p:txBody>
          </p:sp>
        </p:grpSp>
      </p:grpSp>
    </p:spTree>
    <p:extLst>
      <p:ext uri="{BB962C8B-B14F-4D97-AF65-F5344CB8AC3E}">
        <p14:creationId xmlns:p14="http://schemas.microsoft.com/office/powerpoint/2010/main" val="4148300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06559-B985-7DB7-9248-D1BEE934408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E360882-86A1-75AD-E442-2A7017175A52}"/>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C7D36686-B6C2-6B1F-A707-278328BEF8B5}"/>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329826F0-EA74-61A9-DCA8-6C40964B86A6}"/>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CDA3287E-1D26-7403-CCEA-52485E9A0F0C}"/>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9DDCD0D4-73FE-08BB-035A-537D7BC79418}"/>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154281F-354C-81CC-CD65-9D59D993A09F}"/>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Training Techniques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5271D7D9-4AB2-DF60-B851-A7DF31DE9246}"/>
              </a:ext>
            </a:extLst>
          </p:cNvPr>
          <p:cNvPicPr>
            <a:picLocks noChangeAspect="1"/>
          </p:cNvPicPr>
          <p:nvPr/>
        </p:nvPicPr>
        <p:blipFill>
          <a:blip r:embed="rId3"/>
          <a:stretch>
            <a:fillRect/>
          </a:stretch>
        </p:blipFill>
        <p:spPr>
          <a:xfrm>
            <a:off x="10880295" y="5784323"/>
            <a:ext cx="1119736" cy="636213"/>
          </a:xfrm>
          <a:prstGeom prst="rect">
            <a:avLst/>
          </a:prstGeom>
        </p:spPr>
      </p:pic>
      <p:sp>
        <p:nvSpPr>
          <p:cNvPr id="4" name="文本框 3">
            <a:extLst>
              <a:ext uri="{FF2B5EF4-FFF2-40B4-BE49-F238E27FC236}">
                <a16:creationId xmlns:a16="http://schemas.microsoft.com/office/drawing/2014/main" id="{B7665FCD-5528-52F8-0B93-AEDDBAF9B41A}"/>
              </a:ext>
            </a:extLst>
          </p:cNvPr>
          <p:cNvSpPr txBox="1"/>
          <p:nvPr/>
        </p:nvSpPr>
        <p:spPr>
          <a:xfrm>
            <a:off x="237994" y="1402914"/>
            <a:ext cx="8091813" cy="28069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label smoothing: 0, 0.1, 0.2, 0.4</a:t>
            </a:r>
          </a:p>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learning rate schedulers: Noam, ReduceLROnPlateau</a:t>
            </a:r>
          </a:p>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warmup experiments: 1000, 1500, 2500</a:t>
            </a:r>
          </a:p>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beam search vs greedy</a:t>
            </a:r>
          </a:p>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random seeds (0, 42, 128, 512) &amp; vocab variations (8K, 16K, 20K)</a:t>
            </a:r>
          </a:p>
          <a:p>
            <a:pPr marL="285750" indent="-285750">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multilingual extension (En → De, En → Fr)</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174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CC01-4BA2-D697-A322-353D854C717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87B9455-36F8-03D9-9DF6-1F15DD91426D}"/>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39B77D7C-FA0B-E746-19E4-B3CBCDAFB873}"/>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05D820E0-7AAE-D1B1-7B22-47FD834D2D78}"/>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070D28EF-F1AC-C57C-47AB-92441A452AE3}"/>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FF56AC44-793B-E2D0-CBE2-24A699A95136}"/>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974FA87A-C4BF-750E-CB30-D7A8CE95A67C}"/>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Key Results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8233CE6F-F9F8-E80A-9AD0-2325639127AD}"/>
              </a:ext>
            </a:extLst>
          </p:cNvPr>
          <p:cNvPicPr>
            <a:picLocks noChangeAspect="1"/>
          </p:cNvPicPr>
          <p:nvPr/>
        </p:nvPicPr>
        <p:blipFill>
          <a:blip r:embed="rId3"/>
          <a:stretch>
            <a:fillRect/>
          </a:stretch>
        </p:blipFill>
        <p:spPr>
          <a:xfrm>
            <a:off x="10880295" y="5784323"/>
            <a:ext cx="1119736" cy="636213"/>
          </a:xfrm>
          <a:prstGeom prst="rect">
            <a:avLst/>
          </a:prstGeom>
        </p:spPr>
      </p:pic>
      <p:pic>
        <p:nvPicPr>
          <p:cNvPr id="5" name="图片 4">
            <a:extLst>
              <a:ext uri="{FF2B5EF4-FFF2-40B4-BE49-F238E27FC236}">
                <a16:creationId xmlns:a16="http://schemas.microsoft.com/office/drawing/2014/main" id="{DE97BBBA-4B7E-43C5-53AA-CF0A4DC6426F}"/>
              </a:ext>
            </a:extLst>
          </p:cNvPr>
          <p:cNvPicPr>
            <a:picLocks noChangeAspect="1"/>
          </p:cNvPicPr>
          <p:nvPr/>
        </p:nvPicPr>
        <p:blipFill>
          <a:blip r:embed="rId4"/>
          <a:stretch>
            <a:fillRect/>
          </a:stretch>
        </p:blipFill>
        <p:spPr>
          <a:xfrm>
            <a:off x="1891184" y="1134776"/>
            <a:ext cx="7872649" cy="4081006"/>
          </a:xfrm>
          <a:prstGeom prst="rect">
            <a:avLst/>
          </a:prstGeom>
        </p:spPr>
      </p:pic>
      <p:sp>
        <p:nvSpPr>
          <p:cNvPr id="14" name="文本框 13">
            <a:extLst>
              <a:ext uri="{FF2B5EF4-FFF2-40B4-BE49-F238E27FC236}">
                <a16:creationId xmlns:a16="http://schemas.microsoft.com/office/drawing/2014/main" id="{08D1E2A8-9606-EE48-3639-7AEC4E631A00}"/>
              </a:ext>
            </a:extLst>
          </p:cNvPr>
          <p:cNvSpPr txBox="1"/>
          <p:nvPr/>
        </p:nvSpPr>
        <p:spPr>
          <a:xfrm>
            <a:off x="2355263" y="5348238"/>
            <a:ext cx="7358681"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Table I. Main results under different architectures and tokenization strategies</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04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14193-EFAF-9100-B775-7B8CC9E8662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66D609D-1042-B65A-470A-49E65F61E53F}"/>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438AD50E-2C3B-82EB-59D4-65E24CE28688}"/>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23C57828-FE32-2842-2685-9D30C070E273}"/>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D36CC755-75AD-665B-FE06-16A522EB95E4}"/>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70A0268C-80FF-5A0D-2E5B-6660C2031BB3}"/>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AEF64A78-C93D-FB28-7152-72ABC7BD293F}"/>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Key Results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51FDF8C9-2C99-9CBF-BE83-7D2C38B7B443}"/>
              </a:ext>
            </a:extLst>
          </p:cNvPr>
          <p:cNvPicPr>
            <a:picLocks noChangeAspect="1"/>
          </p:cNvPicPr>
          <p:nvPr/>
        </p:nvPicPr>
        <p:blipFill>
          <a:blip r:embed="rId3"/>
          <a:stretch>
            <a:fillRect/>
          </a:stretch>
        </p:blipFill>
        <p:spPr>
          <a:xfrm>
            <a:off x="10880295" y="5784323"/>
            <a:ext cx="1119736" cy="636213"/>
          </a:xfrm>
          <a:prstGeom prst="rect">
            <a:avLst/>
          </a:prstGeom>
        </p:spPr>
      </p:pic>
      <p:pic>
        <p:nvPicPr>
          <p:cNvPr id="5" name="图片 4" descr="表格&#10;&#10;AI 生成的内容可能不正确。">
            <a:extLst>
              <a:ext uri="{FF2B5EF4-FFF2-40B4-BE49-F238E27FC236}">
                <a16:creationId xmlns:a16="http://schemas.microsoft.com/office/drawing/2014/main" id="{ADBA4814-4253-8342-3D85-157B801625B4}"/>
              </a:ext>
            </a:extLst>
          </p:cNvPr>
          <p:cNvPicPr>
            <a:picLocks noChangeAspect="1"/>
          </p:cNvPicPr>
          <p:nvPr/>
        </p:nvPicPr>
        <p:blipFill>
          <a:blip r:embed="rId4"/>
          <a:stretch>
            <a:fillRect/>
          </a:stretch>
        </p:blipFill>
        <p:spPr>
          <a:xfrm>
            <a:off x="2596518" y="1073183"/>
            <a:ext cx="6876171" cy="4604579"/>
          </a:xfrm>
          <a:prstGeom prst="rect">
            <a:avLst/>
          </a:prstGeom>
        </p:spPr>
      </p:pic>
      <p:sp>
        <p:nvSpPr>
          <p:cNvPr id="7" name="文本框 6">
            <a:extLst>
              <a:ext uri="{FF2B5EF4-FFF2-40B4-BE49-F238E27FC236}">
                <a16:creationId xmlns:a16="http://schemas.microsoft.com/office/drawing/2014/main" id="{3A0A8446-0E16-A497-AE7F-8EC8E8419F93}"/>
              </a:ext>
            </a:extLst>
          </p:cNvPr>
          <p:cNvSpPr txBox="1"/>
          <p:nvPr/>
        </p:nvSpPr>
        <p:spPr>
          <a:xfrm>
            <a:off x="4388319" y="5763894"/>
            <a:ext cx="3292568"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Table 2. Effect of label smoothing</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109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3F1E-9666-6F4B-7766-B22AC0D42C0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D95661D-5F57-9EA4-2EF4-22E52E19AFB6}"/>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81EBF62F-0CED-2059-E816-475B4D642997}"/>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9F94FB7E-8953-8FCD-1E2F-BA399D32C084}"/>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18AFA2AB-C852-9748-45EB-9646A707AD53}"/>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4A2CAD3A-084A-5F04-13F0-1FC7D8046790}"/>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9E34969D-0561-42CC-AEFC-FFFE91A0F686}"/>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lang="en-US" altLang="zh-CN" sz="4000" dirty="0">
                <a:solidFill>
                  <a:srgbClr val="AE3E67"/>
                </a:solidFill>
                <a:latin typeface="Times New Roman" panose="02020603050405020304" pitchFamily="18" charset="0"/>
                <a:cs typeface="Times New Roman" panose="02020603050405020304" pitchFamily="18" charset="0"/>
              </a:rPr>
              <a:t>Key Results</a:t>
            </a:r>
            <a:endParaRPr lang="zh-CN" altLang="en-US" sz="4000" dirty="0">
              <a:solidFill>
                <a:srgbClr val="AE3E67"/>
              </a:solidFill>
              <a:latin typeface="Times New Roman" panose="02020603050405020304" pitchFamily="18" charset="0"/>
              <a:cs typeface="Times New Roman" panose="02020603050405020304" pitchFamily="18" charset="0"/>
            </a:endParaRPr>
          </a:p>
        </p:txBody>
      </p:sp>
      <p:pic>
        <p:nvPicPr>
          <p:cNvPr id="21" name="图片 20">
            <a:extLst>
              <a:ext uri="{FF2B5EF4-FFF2-40B4-BE49-F238E27FC236}">
                <a16:creationId xmlns:a16="http://schemas.microsoft.com/office/drawing/2014/main" id="{E3C964C1-E088-CD52-019B-B064DF898F76}"/>
              </a:ext>
            </a:extLst>
          </p:cNvPr>
          <p:cNvPicPr>
            <a:picLocks noChangeAspect="1"/>
          </p:cNvPicPr>
          <p:nvPr/>
        </p:nvPicPr>
        <p:blipFill>
          <a:blip r:embed="rId3"/>
          <a:stretch>
            <a:fillRect/>
          </a:stretch>
        </p:blipFill>
        <p:spPr>
          <a:xfrm>
            <a:off x="10880295" y="5784323"/>
            <a:ext cx="1119736" cy="636213"/>
          </a:xfrm>
          <a:prstGeom prst="rect">
            <a:avLst/>
          </a:prstGeom>
        </p:spPr>
      </p:pic>
      <p:pic>
        <p:nvPicPr>
          <p:cNvPr id="5" name="图片 4" descr="表格&#10;&#10;AI 生成的内容可能不正确。">
            <a:extLst>
              <a:ext uri="{FF2B5EF4-FFF2-40B4-BE49-F238E27FC236}">
                <a16:creationId xmlns:a16="http://schemas.microsoft.com/office/drawing/2014/main" id="{FBB43F6C-DAA7-EB86-8DCE-928D5E17F917}"/>
              </a:ext>
            </a:extLst>
          </p:cNvPr>
          <p:cNvPicPr>
            <a:picLocks noChangeAspect="1"/>
          </p:cNvPicPr>
          <p:nvPr/>
        </p:nvPicPr>
        <p:blipFill>
          <a:blip r:embed="rId4"/>
          <a:srcRect t="8408" b="2562"/>
          <a:stretch>
            <a:fillRect/>
          </a:stretch>
        </p:blipFill>
        <p:spPr>
          <a:xfrm>
            <a:off x="2413545" y="4119928"/>
            <a:ext cx="6948525" cy="2040456"/>
          </a:xfrm>
          <a:prstGeom prst="rect">
            <a:avLst/>
          </a:prstGeom>
        </p:spPr>
      </p:pic>
      <p:pic>
        <p:nvPicPr>
          <p:cNvPr id="13" name="图片 12" descr="表格&#10;&#10;AI 生成的内容可能不正确。">
            <a:extLst>
              <a:ext uri="{FF2B5EF4-FFF2-40B4-BE49-F238E27FC236}">
                <a16:creationId xmlns:a16="http://schemas.microsoft.com/office/drawing/2014/main" id="{3614B2F6-32CE-C5CC-F5B5-680E7151F4E9}"/>
              </a:ext>
            </a:extLst>
          </p:cNvPr>
          <p:cNvPicPr>
            <a:picLocks noChangeAspect="1"/>
          </p:cNvPicPr>
          <p:nvPr/>
        </p:nvPicPr>
        <p:blipFill>
          <a:blip r:embed="rId5"/>
          <a:srcRect t="3512"/>
          <a:stretch>
            <a:fillRect/>
          </a:stretch>
        </p:blipFill>
        <p:spPr>
          <a:xfrm>
            <a:off x="1655817" y="1134776"/>
            <a:ext cx="8463982" cy="2300608"/>
          </a:xfrm>
          <a:prstGeom prst="rect">
            <a:avLst/>
          </a:prstGeom>
        </p:spPr>
      </p:pic>
      <p:sp>
        <p:nvSpPr>
          <p:cNvPr id="7" name="文本框 6">
            <a:extLst>
              <a:ext uri="{FF2B5EF4-FFF2-40B4-BE49-F238E27FC236}">
                <a16:creationId xmlns:a16="http://schemas.microsoft.com/office/drawing/2014/main" id="{54078329-A333-472B-DE21-854DB66B0D34}"/>
              </a:ext>
            </a:extLst>
          </p:cNvPr>
          <p:cNvSpPr txBox="1"/>
          <p:nvPr/>
        </p:nvSpPr>
        <p:spPr>
          <a:xfrm>
            <a:off x="4407556" y="6160384"/>
            <a:ext cx="3254096"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Table 4. Effect of vocabulary size</a:t>
            </a:r>
            <a:endParaRPr lang="zh-CN" altLang="en-US" i="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DC64E553-677E-1363-EFD2-F04B78350A4A}"/>
              </a:ext>
            </a:extLst>
          </p:cNvPr>
          <p:cNvSpPr txBox="1"/>
          <p:nvPr/>
        </p:nvSpPr>
        <p:spPr>
          <a:xfrm>
            <a:off x="3482789" y="3378856"/>
            <a:ext cx="4810035"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Table 3. Effect of different learning rate scheduler</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73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1D4A-90E6-0518-0AFD-A066611F21A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30E7E01-D49B-7CCF-81BB-D0717B8E7F27}"/>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5D24F329-535C-F473-A08E-0B47B0F35675}"/>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E5A9171F-DA21-278C-5569-13039E3F75E3}"/>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AFD0C208-30DA-3B88-398F-8344C81693FE}"/>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8F7F1771-A767-7678-6D83-1C0756684787}"/>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D5839960-2373-2968-C370-815E9A3D01DC}"/>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Key Results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7A40CF87-008B-180E-FBD4-ADCE2CE03C18}"/>
              </a:ext>
            </a:extLst>
          </p:cNvPr>
          <p:cNvPicPr>
            <a:picLocks noChangeAspect="1"/>
          </p:cNvPicPr>
          <p:nvPr/>
        </p:nvPicPr>
        <p:blipFill>
          <a:blip r:embed="rId3"/>
          <a:stretch>
            <a:fillRect/>
          </a:stretch>
        </p:blipFill>
        <p:spPr>
          <a:xfrm>
            <a:off x="10880295" y="5784323"/>
            <a:ext cx="1119736" cy="636213"/>
          </a:xfrm>
          <a:prstGeom prst="rect">
            <a:avLst/>
          </a:prstGeom>
        </p:spPr>
      </p:pic>
      <p:pic>
        <p:nvPicPr>
          <p:cNvPr id="5" name="图片 4" descr="表格&#10;&#10;AI 生成的内容可能不正确。">
            <a:extLst>
              <a:ext uri="{FF2B5EF4-FFF2-40B4-BE49-F238E27FC236}">
                <a16:creationId xmlns:a16="http://schemas.microsoft.com/office/drawing/2014/main" id="{F191E2C2-509C-3FDF-C3E4-9990A937B031}"/>
              </a:ext>
            </a:extLst>
          </p:cNvPr>
          <p:cNvPicPr>
            <a:picLocks noChangeAspect="1"/>
          </p:cNvPicPr>
          <p:nvPr/>
        </p:nvPicPr>
        <p:blipFill>
          <a:blip r:embed="rId4"/>
          <a:srcRect t="1041"/>
          <a:stretch>
            <a:fillRect/>
          </a:stretch>
        </p:blipFill>
        <p:spPr>
          <a:xfrm>
            <a:off x="2181928" y="1116024"/>
            <a:ext cx="7828144" cy="4625952"/>
          </a:xfrm>
          <a:prstGeom prst="rect">
            <a:avLst/>
          </a:prstGeom>
        </p:spPr>
      </p:pic>
      <p:sp>
        <p:nvSpPr>
          <p:cNvPr id="8" name="文本框 7">
            <a:extLst>
              <a:ext uri="{FF2B5EF4-FFF2-40B4-BE49-F238E27FC236}">
                <a16:creationId xmlns:a16="http://schemas.microsoft.com/office/drawing/2014/main" id="{C2660840-81FC-2797-40C0-7B97719C26C5}"/>
              </a:ext>
            </a:extLst>
          </p:cNvPr>
          <p:cNvSpPr txBox="1"/>
          <p:nvPr/>
        </p:nvSpPr>
        <p:spPr>
          <a:xfrm>
            <a:off x="3268142" y="5796001"/>
            <a:ext cx="5387950"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Table 5. Multilingual training vs. Monolingual baselines</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103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EAE1B-CE73-1907-5538-5764B6B3F76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F00C73E-18A6-C4CF-00C9-51E646AC61FB}"/>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0CBA00F1-19DF-DC59-8DA4-E2C059C9BDEA}"/>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F159F202-5303-0E96-AB9C-DF25FB8307DE}"/>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11DFDE12-1ED1-BB54-C7D7-E3B3883F6109}"/>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35FCDA74-9DBD-B170-5AC0-5FB79F26BACC}"/>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B4744127-C96B-C3DC-4CC6-31BDA14A5672}"/>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Visualization Insights</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F41E97A8-364B-42FF-6925-9195C1EA7A99}"/>
              </a:ext>
            </a:extLst>
          </p:cNvPr>
          <p:cNvPicPr>
            <a:picLocks noChangeAspect="1"/>
          </p:cNvPicPr>
          <p:nvPr/>
        </p:nvPicPr>
        <p:blipFill>
          <a:blip r:embed="rId3"/>
          <a:stretch>
            <a:fillRect/>
          </a:stretch>
        </p:blipFill>
        <p:spPr>
          <a:xfrm>
            <a:off x="10880295" y="5784323"/>
            <a:ext cx="1119736" cy="636213"/>
          </a:xfrm>
          <a:prstGeom prst="rect">
            <a:avLst/>
          </a:prstGeom>
        </p:spPr>
      </p:pic>
      <p:pic>
        <p:nvPicPr>
          <p:cNvPr id="7" name="图片 6" descr="图表&#10;&#10;AI 生成的内容可能不正确。">
            <a:extLst>
              <a:ext uri="{FF2B5EF4-FFF2-40B4-BE49-F238E27FC236}">
                <a16:creationId xmlns:a16="http://schemas.microsoft.com/office/drawing/2014/main" id="{81B6BDB5-42D9-5D77-690A-AAE4C2A93579}"/>
              </a:ext>
            </a:extLst>
          </p:cNvPr>
          <p:cNvPicPr>
            <a:picLocks noChangeAspect="1"/>
          </p:cNvPicPr>
          <p:nvPr/>
        </p:nvPicPr>
        <p:blipFill>
          <a:blip r:embed="rId4"/>
          <a:stretch>
            <a:fillRect/>
          </a:stretch>
        </p:blipFill>
        <p:spPr>
          <a:xfrm>
            <a:off x="2060889" y="1235932"/>
            <a:ext cx="7947429" cy="4415790"/>
          </a:xfrm>
          <a:prstGeom prst="rect">
            <a:avLst/>
          </a:prstGeom>
        </p:spPr>
      </p:pic>
      <p:sp>
        <p:nvSpPr>
          <p:cNvPr id="8" name="文本框 7">
            <a:extLst>
              <a:ext uri="{FF2B5EF4-FFF2-40B4-BE49-F238E27FC236}">
                <a16:creationId xmlns:a16="http://schemas.microsoft.com/office/drawing/2014/main" id="{F914E3FD-B872-79C8-265B-B593F7684515}"/>
              </a:ext>
            </a:extLst>
          </p:cNvPr>
          <p:cNvSpPr txBox="1"/>
          <p:nvPr/>
        </p:nvSpPr>
        <p:spPr>
          <a:xfrm>
            <a:off x="2783686" y="5784323"/>
            <a:ext cx="722463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Figure 1. Sentence length distributions between different model structures.</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6877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DC171-D4AC-0B57-0A30-CB57ACB54BC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2C9CD5D-F878-B3AB-6587-C8EADD33481F}"/>
              </a:ext>
            </a:extLst>
          </p:cNvPr>
          <p:cNvSpPr/>
          <p:nvPr/>
        </p:nvSpPr>
        <p:spPr>
          <a:xfrm>
            <a:off x="0" y="0"/>
            <a:ext cx="6096000" cy="269310"/>
          </a:xfrm>
          <a:prstGeom prst="rect">
            <a:avLst/>
          </a:prstGeom>
          <a:solidFill>
            <a:srgbClr val="BF4E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DC075784-3290-3542-C842-F77544CC77A3}"/>
              </a:ext>
            </a:extLst>
          </p:cNvPr>
          <p:cNvSpPr/>
          <p:nvPr/>
        </p:nvSpPr>
        <p:spPr>
          <a:xfrm>
            <a:off x="6096000" y="0"/>
            <a:ext cx="6096000" cy="269310"/>
          </a:xfrm>
          <a:prstGeom prst="rect">
            <a:avLst/>
          </a:prstGeom>
          <a:solidFill>
            <a:srgbClr val="BF4E77">
              <a:alpha val="3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矩形 8">
            <a:extLst>
              <a:ext uri="{FF2B5EF4-FFF2-40B4-BE49-F238E27FC236}">
                <a16:creationId xmlns:a16="http://schemas.microsoft.com/office/drawing/2014/main" id="{CF2EB60C-B41C-580C-96B9-47147044D646}"/>
              </a:ext>
            </a:extLst>
          </p:cNvPr>
          <p:cNvSpPr/>
          <p:nvPr/>
        </p:nvSpPr>
        <p:spPr>
          <a:xfrm>
            <a:off x="1" y="6588690"/>
            <a:ext cx="4025990" cy="269310"/>
          </a:xfrm>
          <a:prstGeom prst="rect">
            <a:avLst/>
          </a:prstGeom>
          <a:solidFill>
            <a:srgbClr val="AE3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9">
            <a:extLst>
              <a:ext uri="{FF2B5EF4-FFF2-40B4-BE49-F238E27FC236}">
                <a16:creationId xmlns:a16="http://schemas.microsoft.com/office/drawing/2014/main" id="{9526C43B-6A9F-446B-6BA1-D3AD9BE7573E}"/>
              </a:ext>
            </a:extLst>
          </p:cNvPr>
          <p:cNvSpPr/>
          <p:nvPr/>
        </p:nvSpPr>
        <p:spPr>
          <a:xfrm>
            <a:off x="4021609" y="6588690"/>
            <a:ext cx="4025990" cy="269310"/>
          </a:xfrm>
          <a:prstGeom prst="rect">
            <a:avLst/>
          </a:prstGeom>
          <a:solidFill>
            <a:srgbClr val="BF4E77">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City University of Hong Kong </a:t>
            </a:r>
            <a:endParaRPr kumimoji="0" lang="zh-CN"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7FCAF8A3-EB15-5604-DDBF-38EF92611959}"/>
              </a:ext>
            </a:extLst>
          </p:cNvPr>
          <p:cNvSpPr/>
          <p:nvPr/>
        </p:nvSpPr>
        <p:spPr>
          <a:xfrm>
            <a:off x="8047598" y="6588690"/>
            <a:ext cx="4144402" cy="269310"/>
          </a:xfrm>
          <a:prstGeom prst="rect">
            <a:avLst/>
          </a:prstGeom>
          <a:solidFill>
            <a:srgbClr val="BF4E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71A9DC6F-D7A2-82DD-0FCD-8119F7F22FB1}"/>
              </a:ext>
            </a:extLst>
          </p:cNvPr>
          <p:cNvSpPr/>
          <p:nvPr/>
        </p:nvSpPr>
        <p:spPr>
          <a:xfrm>
            <a:off x="0" y="269310"/>
            <a:ext cx="12192000" cy="697312"/>
          </a:xfrm>
          <a:prstGeom prst="rect">
            <a:avLst/>
          </a:prstGeom>
          <a:solidFill>
            <a:schemeClr val="bg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rPr>
              <a:t> Conclusion</a:t>
            </a:r>
            <a:endParaRPr kumimoji="0" lang="zh-CN" altLang="en-US" sz="4000" b="0" i="0" u="none" strike="noStrike" kern="1200" cap="none" spc="0" normalizeH="0" baseline="0" noProof="0" dirty="0">
              <a:ln>
                <a:noFill/>
              </a:ln>
              <a:solidFill>
                <a:srgbClr val="AE3E67"/>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1" name="图片 20">
            <a:extLst>
              <a:ext uri="{FF2B5EF4-FFF2-40B4-BE49-F238E27FC236}">
                <a16:creationId xmlns:a16="http://schemas.microsoft.com/office/drawing/2014/main" id="{2BE93699-DBE6-0703-A71A-B03184819CCD}"/>
              </a:ext>
            </a:extLst>
          </p:cNvPr>
          <p:cNvPicPr>
            <a:picLocks noChangeAspect="1"/>
          </p:cNvPicPr>
          <p:nvPr/>
        </p:nvPicPr>
        <p:blipFill>
          <a:blip r:embed="rId3"/>
          <a:stretch>
            <a:fillRect/>
          </a:stretch>
        </p:blipFill>
        <p:spPr>
          <a:xfrm>
            <a:off x="10880295" y="5784323"/>
            <a:ext cx="1119736" cy="636213"/>
          </a:xfrm>
          <a:prstGeom prst="rect">
            <a:avLst/>
          </a:prstGeom>
        </p:spPr>
      </p:pic>
      <p:sp>
        <p:nvSpPr>
          <p:cNvPr id="7" name="文本框 6">
            <a:extLst>
              <a:ext uri="{FF2B5EF4-FFF2-40B4-BE49-F238E27FC236}">
                <a16:creationId xmlns:a16="http://schemas.microsoft.com/office/drawing/2014/main" id="{27201A02-432F-9FC3-4A58-65AF4615E9CF}"/>
              </a:ext>
            </a:extLst>
          </p:cNvPr>
          <p:cNvSpPr txBox="1"/>
          <p:nvPr/>
        </p:nvSpPr>
        <p:spPr>
          <a:xfrm>
            <a:off x="239590" y="1120676"/>
            <a:ext cx="11841041" cy="3708708"/>
          </a:xfrm>
          <a:prstGeom prst="rect">
            <a:avLst/>
          </a:prstGeom>
          <a:noFill/>
        </p:spPr>
        <p:txBody>
          <a:bodyPr wrap="square">
            <a:spAutoFit/>
          </a:bodyPr>
          <a:lstStyle/>
          <a:p>
            <a:pPr>
              <a:buNone/>
            </a:pPr>
            <a:r>
              <a:rPr lang="en-US" altLang="zh-CN" sz="2800" b="1" dirty="0">
                <a:latin typeface="Times New Roman" panose="02020603050405020304" pitchFamily="18" charset="0"/>
                <a:cs typeface="Times New Roman" panose="02020603050405020304" pitchFamily="18" charset="0"/>
              </a:rPr>
              <a:t>Three key lessons:</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Tokenization matters as much as the model architecture.</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Training strategies like label smoothing and LR warmup have major impact.</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Even simple RNN models can be strong at this scale.</a:t>
            </a:r>
          </a:p>
          <a:p>
            <a:pPr marL="285750" indent="-28575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algn="ctr">
              <a:buNone/>
            </a:pPr>
            <a:br>
              <a:rPr lang="en-US" altLang="zh-CN" dirty="0">
                <a:latin typeface="Times New Roman" panose="02020603050405020304" pitchFamily="18" charset="0"/>
                <a:cs typeface="Times New Roman" panose="02020603050405020304" pitchFamily="18" charset="0"/>
              </a:rPr>
            </a:br>
            <a:endParaRPr lang="en-US" altLang="zh-CN" dirty="0">
              <a:latin typeface="Times New Roman" panose="02020603050405020304" pitchFamily="18" charset="0"/>
              <a:cs typeface="Times New Roman" panose="02020603050405020304" pitchFamily="18" charset="0"/>
            </a:endParaRPr>
          </a:p>
          <a:p>
            <a:pPr algn="ctr">
              <a:buNone/>
            </a:pPr>
            <a:endParaRPr lang="en-US" altLang="zh-CN" dirty="0">
              <a:latin typeface="Times New Roman" panose="02020603050405020304" pitchFamily="18" charset="0"/>
              <a:cs typeface="Times New Roman" panose="02020603050405020304" pitchFamily="18" charset="0"/>
            </a:endParaRPr>
          </a:p>
          <a:p>
            <a:pPr algn="ctr">
              <a:buNone/>
            </a:pPr>
            <a:br>
              <a:rPr lang="en-US" altLang="zh-CN" dirty="0">
                <a:latin typeface="Times New Roman" panose="02020603050405020304" pitchFamily="18" charset="0"/>
                <a:cs typeface="Times New Roman" panose="02020603050405020304" pitchFamily="18" charset="0"/>
              </a:rPr>
            </a:br>
            <a:r>
              <a:rPr lang="en-US" altLang="zh-CN" b="1" dirty="0">
                <a:solidFill>
                  <a:srgbClr val="C00000"/>
                </a:solidFill>
                <a:latin typeface="Times New Roman" panose="02020603050405020304" pitchFamily="18" charset="0"/>
                <a:cs typeface="Times New Roman" panose="02020603050405020304" pitchFamily="18" charset="0"/>
              </a:rPr>
              <a:t>Overall, our study shows that NMT performance depends on a combination of architecture, tokenization, and training dynamics—not just the model alone!</a:t>
            </a:r>
          </a:p>
        </p:txBody>
      </p:sp>
      <p:sp>
        <p:nvSpPr>
          <p:cNvPr id="8" name="文本框 7">
            <a:extLst>
              <a:ext uri="{FF2B5EF4-FFF2-40B4-BE49-F238E27FC236}">
                <a16:creationId xmlns:a16="http://schemas.microsoft.com/office/drawing/2014/main" id="{C8F1F5BA-9641-376C-D416-A2F836D65D72}"/>
              </a:ext>
            </a:extLst>
          </p:cNvPr>
          <p:cNvSpPr txBox="1"/>
          <p:nvPr/>
        </p:nvSpPr>
        <p:spPr>
          <a:xfrm>
            <a:off x="4465177" y="5152549"/>
            <a:ext cx="3138854" cy="584775"/>
          </a:xfrm>
          <a:prstGeom prst="rect">
            <a:avLst/>
          </a:prstGeom>
          <a:noFill/>
        </p:spPr>
        <p:txBody>
          <a:bodyPr wrap="square" rtlCol="0">
            <a:spAutoFit/>
          </a:bodyPr>
          <a:lstStyle/>
          <a:p>
            <a:pPr algn="ctr"/>
            <a:r>
              <a:rPr lang="en-US" altLang="zh-CN" sz="3200" b="1" i="1" dirty="0">
                <a:solidFill>
                  <a:srgbClr val="AE3E67"/>
                </a:solidFill>
                <a:latin typeface="Times New Roman" panose="02020603050405020304" pitchFamily="18" charset="0"/>
                <a:cs typeface="Times New Roman" panose="02020603050405020304" pitchFamily="18" charset="0"/>
              </a:rPr>
              <a:t>Thank you!</a:t>
            </a:r>
            <a:endParaRPr lang="zh-CN" altLang="en-US" sz="3200" b="1" i="1" dirty="0">
              <a:solidFill>
                <a:srgbClr val="AE3E6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611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1048</Words>
  <Application>Microsoft Office PowerPoint</Application>
  <PresentationFormat>宽屏</PresentationFormat>
  <Paragraphs>102</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一琳 许</dc:creator>
  <cp:lastModifiedBy>一琳 许</cp:lastModifiedBy>
  <cp:revision>30</cp:revision>
  <dcterms:created xsi:type="dcterms:W3CDTF">2025-12-01T12:15:39Z</dcterms:created>
  <dcterms:modified xsi:type="dcterms:W3CDTF">2025-12-01T15:03:41Z</dcterms:modified>
</cp:coreProperties>
</file>