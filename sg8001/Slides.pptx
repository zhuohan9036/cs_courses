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9" r:id="rId11"/>
    <p:sldId id="270" r:id="rId12"/>
    <p:sldId id="264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3"/>
    <p:restoredTop sz="72848"/>
  </p:normalViewPr>
  <p:slideViewPr>
    <p:cSldViewPr snapToGrid="0" snapToObjects="1">
      <p:cViewPr varScale="1">
        <p:scale>
          <a:sx n="74" d="100"/>
          <a:sy n="74" d="100"/>
        </p:scale>
        <p:origin x="19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F7E6E-68D5-3E44-8BF8-1F2A93893C28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2BF92-9F9B-FD42-8556-5EA04DB46A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87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 everyone! Today we’ll explore </a:t>
            </a:r>
            <a:r>
              <a:rPr lang="en-US" altLang="zh-CN" b="0" dirty="0"/>
              <a:t>Pandas</a:t>
            </a:r>
            <a:r>
              <a:rPr lang="en-US" altLang="zh-CN" dirty="0"/>
              <a:t>, one of the most essential Python libraries for data analysis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9713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Think about the last time you opened a messy Excel or CSV file, tons of numbers, missing values, strange symbols. Pandas helps us </a:t>
            </a:r>
            <a:r>
              <a:rPr lang="en-US" altLang="zh-CN" b="0" dirty="0"/>
              <a:t>make sense of that chaos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By the end of this short session, you’ll see how Pandas can turn confusing raw data into something clean, structured, and ready for analysis.</a:t>
            </a:r>
            <a:br>
              <a:rPr lang="en-US" altLang="zh-CN" dirty="0"/>
            </a:br>
            <a:r>
              <a:rPr lang="en-US" altLang="zh-CN" dirty="0"/>
              <a:t>And yes, we’ll try a few examples together!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47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are our three learning goals for today.</a:t>
            </a:r>
            <a:br>
              <a:rPr lang="en-US" altLang="zh-CN" dirty="0"/>
            </a:br>
            <a:r>
              <a:rPr lang="en-US" altLang="zh-CN" dirty="0"/>
              <a:t>You’ll </a:t>
            </a:r>
            <a:r>
              <a:rPr lang="en-US" altLang="zh-CN" i="1" dirty="0"/>
              <a:t>load</a:t>
            </a:r>
            <a:r>
              <a:rPr lang="en-US" altLang="zh-CN" dirty="0"/>
              <a:t> data, </a:t>
            </a:r>
            <a:r>
              <a:rPr lang="en-US" altLang="zh-CN" i="1" dirty="0"/>
              <a:t>identify</a:t>
            </a:r>
            <a:r>
              <a:rPr lang="en-US" altLang="zh-CN" dirty="0"/>
              <a:t> missing information, and </a:t>
            </a:r>
            <a:r>
              <a:rPr lang="en-US" altLang="zh-CN" i="1" dirty="0"/>
              <a:t>apply</a:t>
            </a:r>
            <a:r>
              <a:rPr lang="en-US" altLang="zh-CN" dirty="0"/>
              <a:t> cleaning operations.</a:t>
            </a:r>
            <a:br>
              <a:rPr lang="en-US" altLang="zh-CN" dirty="0"/>
            </a:br>
            <a:r>
              <a:rPr lang="en-US" altLang="zh-CN" dirty="0"/>
              <a:t>Keep these outcomes in mind, because each part of the lesson directly connects back to them.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1928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You’ll learn through simple guided steps shown on the slides — I’ll walk you through each command.</a:t>
            </a:r>
            <a:br>
              <a:rPr lang="en-US" altLang="zh-CN" dirty="0"/>
            </a:br>
            <a:r>
              <a:rPr lang="en-US" altLang="zh-CN" dirty="0"/>
              <a:t>There’ll be short moments to think and respond to small questions, just to help you check your understanding.</a:t>
            </a:r>
            <a:br>
              <a:rPr lang="en-US" altLang="zh-CN" dirty="0"/>
            </a:br>
            <a:r>
              <a:rPr lang="en-US" altLang="zh-CN" dirty="0"/>
              <a:t>At the end, a mini quiz will confirm what you’ve learned.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8099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 we begin, here’s our simple plan for today.</a:t>
            </a:r>
            <a:br>
              <a:rPr lang="en-US" altLang="zh-CN" dirty="0"/>
            </a:br>
            <a:r>
              <a:rPr lang="en-US" altLang="zh-CN" dirty="0"/>
              <a:t>First, we’ll learn how to load a dataset into Pandas.</a:t>
            </a:r>
            <a:br>
              <a:rPr lang="en-US" altLang="zh-CN" dirty="0"/>
            </a:br>
            <a:r>
              <a:rPr lang="en-US" altLang="zh-CN" dirty="0"/>
              <a:t>Then we’ll explore it, clean up missing or duplicated data, and finally save a tidy version.</a:t>
            </a:r>
            <a:br>
              <a:rPr lang="en-US" altLang="zh-CN" dirty="0"/>
            </a:br>
            <a:r>
              <a:rPr lang="en-US" altLang="zh-CN" dirty="0"/>
              <a:t>Each step builds on the previous one — by the end, you’ll see how Pandas turns raw data into something you can actually work with.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4584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Before we touch any code, let’s see what we’re working with.</a:t>
            </a:r>
            <a:br>
              <a:rPr lang="en-US" altLang="zh-CN" dirty="0"/>
            </a:br>
            <a:r>
              <a:rPr lang="en-US" altLang="zh-CN" dirty="0"/>
              <a:t>We’ll use a small file called </a:t>
            </a:r>
            <a:r>
              <a:rPr lang="en-US" altLang="zh-CN" b="0" dirty="0" err="1"/>
              <a:t>movies.csv</a:t>
            </a:r>
            <a:r>
              <a:rPr lang="en-US" altLang="zh-CN" dirty="0"/>
              <a:t>, which stores information about different films.</a:t>
            </a:r>
            <a:br>
              <a:rPr lang="en-US" altLang="zh-CN" dirty="0"/>
            </a:br>
            <a:r>
              <a:rPr lang="en-US" altLang="zh-CN" dirty="0"/>
              <a:t>Each row represents one movie, and each column shows details like the title, director, duration, or IMDB score.</a:t>
            </a:r>
            <a:br>
              <a:rPr lang="en-US" altLang="zh-CN" dirty="0"/>
            </a:br>
            <a:r>
              <a:rPr lang="en-US" altLang="zh-CN" dirty="0"/>
              <a:t>Our goal today is to load this file, explore what’s inside, fix the missing or messy data, and finally save a clean version.</a:t>
            </a:r>
          </a:p>
          <a:p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109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First, we import Pandas — written as</a:t>
            </a:r>
            <a:r>
              <a:rPr lang="zh-CN" altLang="en-US" dirty="0"/>
              <a:t> </a:t>
            </a:r>
            <a:r>
              <a:rPr lang="en-US" altLang="zh-CN" dirty="0"/>
              <a:t>its common alias pd.</a:t>
            </a:r>
            <a:br>
              <a:rPr lang="en-US" altLang="zh-CN" dirty="0"/>
            </a:br>
            <a:r>
              <a:rPr lang="en-US" altLang="zh-CN" dirty="0"/>
              <a:t>Then, the function </a:t>
            </a:r>
            <a:r>
              <a:rPr lang="en-US" altLang="zh-CN" dirty="0" err="1"/>
              <a:t>read_csv</a:t>
            </a:r>
            <a:r>
              <a:rPr lang="en-US" altLang="zh-CN" dirty="0"/>
              <a:t>() loads our file and stores it in a </a:t>
            </a:r>
            <a:r>
              <a:rPr lang="en-US" altLang="zh-CN" b="0" dirty="0" err="1"/>
              <a:t>DataFrame</a:t>
            </a:r>
            <a:r>
              <a:rPr lang="en-US" altLang="zh-CN" dirty="0"/>
              <a:t>, which is just a fancy term for a table.</a:t>
            </a:r>
            <a:br>
              <a:rPr lang="en-US" altLang="zh-CN" dirty="0"/>
            </a:br>
            <a:r>
              <a:rPr lang="en-US" altLang="zh-CN" dirty="0"/>
              <a:t>To take a quick look at the data, we use </a:t>
            </a:r>
            <a:r>
              <a:rPr lang="en-US" altLang="zh-CN" dirty="0" err="1"/>
              <a:t>data.head</a:t>
            </a:r>
            <a:r>
              <a:rPr lang="en-US" altLang="zh-CN" dirty="0"/>
              <a:t>(), which prints the first five rows.</a:t>
            </a:r>
            <a:br>
              <a:rPr lang="en-US" altLang="zh-CN" dirty="0"/>
            </a:br>
            <a:r>
              <a:rPr lang="en-US" altLang="zh-CN" dirty="0"/>
              <a:t>It’s a fast way to make sure the file was read correctly.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7665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Once our data is loaded, we want to understand what’s inside.</a:t>
            </a:r>
            <a:br>
              <a:rPr lang="en-US" altLang="zh-CN" dirty="0"/>
            </a:br>
            <a:r>
              <a:rPr lang="en-US" altLang="zh-CN" dirty="0"/>
              <a:t>head() and tail() let us peek at the start and end of the table.</a:t>
            </a:r>
            <a:br>
              <a:rPr lang="en-US" altLang="zh-CN" dirty="0"/>
            </a:br>
            <a:r>
              <a:rPr lang="en-US" altLang="zh-CN" dirty="0"/>
              <a:t>describe() gives a summary — for example, how many movies, the average duration, and the range of values.</a:t>
            </a:r>
            <a:br>
              <a:rPr lang="en-US" altLang="zh-CN" dirty="0"/>
            </a:br>
            <a:r>
              <a:rPr lang="en-US" altLang="zh-CN" dirty="0"/>
              <a:t>We can also focus on one column, like duration, to see all movie lengths.</a:t>
            </a:r>
            <a:br>
              <a:rPr lang="en-US" altLang="zh-CN" dirty="0"/>
            </a:br>
            <a:r>
              <a:rPr lang="en-US" altLang="zh-CN" dirty="0"/>
              <a:t>This quick exploration helps us spot patterns and check for anything unusual.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338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Missing data is something you’ll meet in every real dataset.</a:t>
            </a:r>
            <a:br>
              <a:rPr lang="en-US" altLang="zh-CN" dirty="0"/>
            </a:br>
            <a:r>
              <a:rPr lang="en-US" altLang="zh-CN" dirty="0"/>
              <a:t>The function </a:t>
            </a:r>
            <a:r>
              <a:rPr lang="en-US" altLang="zh-CN" dirty="0" err="1"/>
              <a:t>isna</a:t>
            </a:r>
            <a:r>
              <a:rPr lang="en-US" altLang="zh-CN" dirty="0"/>
              <a:t>() marks empty cells so we can see where information is </a:t>
            </a:r>
            <a:r>
              <a:rPr lang="en-US" altLang="zh-CN" dirty="0" err="1"/>
              <a:t>missing.Note</a:t>
            </a:r>
            <a:r>
              <a:rPr lang="en-US" altLang="zh-CN" dirty="0"/>
              <a:t> that missing values are </a:t>
            </a:r>
            <a:r>
              <a:rPr lang="en-US" altLang="zh-CN" dirty="0" err="1"/>
              <a:t>represeted</a:t>
            </a:r>
            <a:r>
              <a:rPr lang="en-US" altLang="zh-CN" dirty="0"/>
              <a:t> by the notion </a:t>
            </a:r>
            <a:r>
              <a:rPr lang="en-US" altLang="zh-CN" dirty="0" err="1"/>
              <a:t>NaN</a:t>
            </a:r>
            <a:r>
              <a:rPr lang="en-US" altLang="zh-CN" dirty="0"/>
              <a:t>, which means not a number</a:t>
            </a:r>
            <a:br>
              <a:rPr lang="en-US" altLang="zh-CN" dirty="0"/>
            </a:br>
            <a:r>
              <a:rPr lang="en-US" altLang="zh-CN" dirty="0"/>
              <a:t>We can fill in blanks with the word “Unknown” for text columns, or replace numeric gaps with the average value.</a:t>
            </a:r>
            <a:br>
              <a:rPr lang="en-US" altLang="zh-CN" dirty="0"/>
            </a:br>
            <a:r>
              <a:rPr lang="en-US" altLang="zh-CN" dirty="0"/>
              <a:t>If a row is too incomplete, we can also drop it entirely using </a:t>
            </a:r>
            <a:r>
              <a:rPr lang="en-US" altLang="zh-CN" dirty="0" err="1"/>
              <a:t>dropna</a:t>
            </a:r>
            <a:r>
              <a:rPr lang="en-US" altLang="zh-CN" dirty="0"/>
              <a:t>().</a:t>
            </a:r>
            <a:br>
              <a:rPr lang="en-US" altLang="zh-CN" dirty="0"/>
            </a:br>
            <a:r>
              <a:rPr lang="en-US" altLang="zh-CN" dirty="0"/>
              <a:t>The idea is not to panic — just decide the smartest way to keep your data usable.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695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err="1"/>
              <a:t>dropna</a:t>
            </a:r>
            <a:r>
              <a:rPr lang="en-US" altLang="zh-CN" dirty="0"/>
              <a:t>() command has extra options.</a:t>
            </a:r>
            <a:br>
              <a:rPr lang="en-US" altLang="zh-CN" dirty="0"/>
            </a:br>
            <a:r>
              <a:rPr lang="en-US" altLang="zh-CN" dirty="0"/>
              <a:t>how="all" only removes rows that are completely blank, and thresh keeps rows that still have enough valid information.</a:t>
            </a:r>
            <a:br>
              <a:rPr lang="en-US" altLang="zh-CN" dirty="0"/>
            </a:br>
            <a:r>
              <a:rPr lang="en-US" altLang="zh-CN" dirty="0"/>
              <a:t>This lets us be selective rather than aggressive when cleaning.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499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Sometimes entire columns are empty.</a:t>
            </a:r>
            <a:br>
              <a:rPr lang="en-US" altLang="zh-CN" dirty="0"/>
            </a:br>
            <a:r>
              <a:rPr lang="en-US" altLang="zh-CN" dirty="0"/>
              <a:t>By setting axis=1, we apply the same cleaning rule to columns instead of rows.</a:t>
            </a:r>
            <a:br>
              <a:rPr lang="en-US" altLang="zh-CN" dirty="0"/>
            </a:br>
            <a:r>
              <a:rPr lang="en-US" altLang="zh-CN" dirty="0"/>
              <a:t>It’s a simple way to get rid of unhelpful fields.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7816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that our data is complete, we can filter and tidy it.</a:t>
            </a:r>
            <a:br>
              <a:rPr lang="en-US" altLang="zh-CN" dirty="0"/>
            </a:br>
            <a:r>
              <a:rPr lang="en-US" altLang="zh-CN" dirty="0"/>
              <a:t>For example, we might only want to study movies longer than 150 minutes or those released before 2015.</a:t>
            </a:r>
            <a:br>
              <a:rPr lang="en-US" altLang="zh-CN" dirty="0"/>
            </a:br>
            <a:r>
              <a:rPr lang="en-US" altLang="zh-CN" dirty="0"/>
              <a:t>Sometimes the same record appears twice — duplicated() helps us find those, and </a:t>
            </a:r>
            <a:r>
              <a:rPr lang="en-US" altLang="zh-CN" dirty="0" err="1"/>
              <a:t>drop_duplicates</a:t>
            </a:r>
            <a:r>
              <a:rPr lang="en-US" altLang="zh-CN" dirty="0"/>
              <a:t>() deletes them.</a:t>
            </a:r>
            <a:br>
              <a:rPr lang="en-US" altLang="zh-CN" dirty="0"/>
            </a:br>
            <a:r>
              <a:rPr lang="en-US" altLang="zh-CN" dirty="0"/>
              <a:t>This step makes sure the dataset truly represents what we intend to analyze.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487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Once the data looks good, we save it using </a:t>
            </a:r>
            <a:r>
              <a:rPr lang="en-US" altLang="zh-CN" dirty="0" err="1"/>
              <a:t>to_csv</a:t>
            </a:r>
            <a:r>
              <a:rPr lang="en-US" altLang="zh-CN" dirty="0"/>
              <a:t>().</a:t>
            </a:r>
            <a:br>
              <a:rPr lang="en-US" altLang="zh-CN" dirty="0"/>
            </a:br>
            <a:r>
              <a:rPr lang="en-US" altLang="zh-CN" dirty="0"/>
              <a:t>This creates a new file called </a:t>
            </a:r>
            <a:r>
              <a:rPr lang="en-US" altLang="zh-CN" i="1" dirty="0" err="1"/>
              <a:t>clean_movies.csv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Please remember some pro tips: Always keep your raw file untouched — that’s your original copy.</a:t>
            </a:r>
            <a:br>
              <a:rPr lang="en-US" altLang="zh-CN" dirty="0"/>
            </a:br>
            <a:r>
              <a:rPr lang="en-US" altLang="zh-CN" dirty="0"/>
              <a:t>Saving a separate cleaned file makes your process transparent and easy to repeat later.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406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Let’s check your understanding.</a:t>
            </a:r>
            <a:br>
              <a:rPr lang="en-US" altLang="zh-CN" dirty="0"/>
            </a:br>
            <a:r>
              <a:rPr lang="en-US" altLang="zh-CN" dirty="0"/>
              <a:t>You’ve now walked through every major step of basic data cleaning.</a:t>
            </a:r>
            <a:br>
              <a:rPr lang="en-US" altLang="zh-CN" dirty="0"/>
            </a:br>
            <a:r>
              <a:rPr lang="en-US" altLang="zh-CN" dirty="0"/>
              <a:t>Quick quiz: what does describe() tell you?</a:t>
            </a:r>
            <a:br>
              <a:rPr lang="en-US" altLang="zh-CN" dirty="0"/>
            </a:br>
            <a:r>
              <a:rPr lang="en-US" altLang="zh-CN" dirty="0"/>
              <a:t>And when should you use </a:t>
            </a:r>
            <a:r>
              <a:rPr lang="en-US" altLang="zh-CN" dirty="0" err="1"/>
              <a:t>fillna</a:t>
            </a:r>
            <a:r>
              <a:rPr lang="en-US" altLang="zh-CN" dirty="0"/>
              <a:t>() instead of </a:t>
            </a:r>
            <a:r>
              <a:rPr lang="en-US" altLang="zh-CN" dirty="0" err="1"/>
              <a:t>dropna</a:t>
            </a:r>
            <a:r>
              <a:rPr lang="en-US" altLang="zh-CN" dirty="0"/>
              <a:t>()?</a:t>
            </a:r>
            <a:br>
              <a:rPr lang="en-US" altLang="zh-CN" dirty="0"/>
            </a:br>
            <a:r>
              <a:rPr lang="en-US" altLang="zh-CN" dirty="0"/>
              <a:t>Think for a few seconds — that’s your self-assessment for today.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033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Great work, everyone!</a:t>
            </a:r>
            <a:br>
              <a:rPr lang="en-US" altLang="zh-CN" dirty="0"/>
            </a:br>
            <a:r>
              <a:rPr lang="en-US" altLang="zh-CN" dirty="0"/>
              <a:t>Try repeating these steps on a different dataset to get comfortable with them.</a:t>
            </a:r>
            <a:br>
              <a:rPr lang="en-US" altLang="zh-CN" dirty="0"/>
            </a:br>
            <a:r>
              <a:rPr lang="en-US" altLang="zh-CN" dirty="0"/>
              <a:t>Next time we’ll look at how to clean text using </a:t>
            </a:r>
            <a:r>
              <a:rPr lang="en-US" altLang="zh-CN" b="0" dirty="0"/>
              <a:t>regular expressions </a:t>
            </a:r>
            <a:r>
              <a:rPr lang="en-US" altLang="zh-CN" dirty="0"/>
              <a:t>— a powerful way to handle strings.</a:t>
            </a:r>
            <a:br>
              <a:rPr lang="en-US" altLang="zh-CN" dirty="0"/>
            </a:br>
            <a:r>
              <a:rPr lang="en-US" altLang="zh-CN" dirty="0"/>
              <a:t>Thanks for learning with me.</a:t>
            </a:r>
            <a:endParaRPr lang="en-CA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2BF92-9F9B-FD42-8556-5EA04DB46AF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356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E3FEC-E852-9348-87C8-5C63A29AC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D90520-5112-E645-AA7A-666369237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3DCD28-5BF6-2F47-AD63-84381853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BF4D0-FC9B-4F47-AB05-45409363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3CA62-76A5-E447-8DEF-1ECDF9BB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060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DA00-915E-1C48-87CD-BE78A41B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C06EB-C3CF-414F-9159-D31D8617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15DED-4915-6144-93FF-451D6C17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A88FA-9FA2-DC4B-8902-205CB192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36C60-16CC-3C44-B004-D2DF20F3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484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34773-7466-8744-BE9E-47161C8F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DF9352-C29F-6243-BF74-DE02BE772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8293C2-618B-1344-ADF0-96BA8C3C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6A072-8C71-A243-B147-7CC67C36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474ABA-ED47-1D41-B5E8-EB9861C0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287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6CF44-8B60-5748-BF13-ED48B326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77BBA-ABE3-B14C-8A28-4BBAC837E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C42BCD-7043-054A-BED3-397E4334D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1549B8-88F7-9D4E-8AF6-38326EFE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2E53FF-CA5A-EB43-8DCE-A241D7BA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2CA2AE-A92C-E34A-9FE3-DB5AB0D6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969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F3038-8776-5D4A-87BF-4646CB3E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DD491A-46D7-AE41-8E4E-4881ADE9D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797F61-B0F2-624F-B8D2-0ACB0EC4B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FB2D7A-26FB-DC4D-831A-28EC14F8D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497178-32FF-C740-9C49-DA2B7EFB3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4DC48F-B603-974E-993E-A46BE198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CEFD15-9618-B84A-B26D-A9711B3A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AD76CE-1918-344C-AFFD-53C8D2C0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404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19EF8-B0CF-3844-894A-8E891A10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A13693-7FF1-454A-B0FE-31946A8A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0C1E9D-7843-4346-99CA-9A5DC458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14A8E6-CBFF-3342-8095-8CAAE529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937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FCC7E7-0EE1-C745-AD04-7279373C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F75986-1139-E646-8F4C-4190D00E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1EECD9-37AC-7D49-B384-5308ADF3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652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90A72-DF9B-034D-B471-046080A3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1746E1-925E-F741-BE4F-B4CC7B4D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E24B8A-4213-E949-A035-40BCD3E09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4ADC9A-C150-6547-8244-1EDE2C64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5B86CF-0309-6946-98A1-5A7E4B71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EA1FBC-D83E-9440-B73E-DB49613F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375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E9904-0828-7C4D-8147-B9C4456D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0C23EE-1375-3240-9E7C-E10FF2C65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B23A75-0D46-B847-ADD5-550834804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09D462-6BFA-6F42-A214-1914D5A5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6E3CD-F5D0-A948-8878-29EEF1F9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B63C6-009A-D645-85BD-C67DADB9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542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2EA11-2D41-F64A-9E53-92ECE4C1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4DFB76-4F01-7A4C-B5FF-F6CEF200C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1A15CD-DD27-DA44-894A-E7397174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D7DEA-9E53-8343-9C2C-6E21F954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CDEDC-61C7-B04B-A173-856E4EC2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985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A29A41-8B25-C64D-881C-AD51AC19B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5C363B-C9EF-294F-B460-66DC7F4B4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ED6809-25D5-494B-A1F4-34DD3657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ADCF5-7001-9840-9BC7-B595C13B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96B5D5-8ED5-AB48-8498-952D6077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047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F52F3D-A43C-6D48-965C-846A9DA7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D116D-4A4E-7041-92A6-DD4DE3986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/>
              <a:t>编辑母版文本样式
第二级
第三级
第四级
第五级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72D61-34CC-3D4C-812B-DAA44B884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EA14C-8CC3-C34B-89D5-F7624985762B}" type="datetimeFigureOut">
              <a:rPr lang="en-CA" smtClean="0"/>
              <a:t>2025-10-17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E3C2C0-2206-0D41-943D-55BA1C241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722CB-793D-014F-B2A9-CB90779D4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A155C-5291-734D-8A27-8A73CEE6DC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57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2CD15-F66C-774F-829F-C417B8E9F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An Introduction to Pandas: Cleaning and Exploring Data in Python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E91C87-8188-2749-9ACE-CCE366F4D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Audience: Year 1 university students</a:t>
            </a:r>
          </a:p>
          <a:p>
            <a:r>
              <a:rPr lang="en-CA" dirty="0"/>
              <a:t>Presenter: HAN </a:t>
            </a:r>
            <a:r>
              <a:rPr lang="en-CA" dirty="0" err="1"/>
              <a:t>Zhuo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721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007DD-F091-3E40-A809-2ABAA039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Pandas?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64F0FE-23D5-D34E-B6B3-A627EED65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 is everywhere, but often messy.</a:t>
            </a:r>
          </a:p>
          <a:p>
            <a:pPr lvl="1"/>
            <a:r>
              <a:rPr lang="en-CA" dirty="0"/>
              <a:t>It is a noisy world after all.</a:t>
            </a:r>
          </a:p>
          <a:p>
            <a:r>
              <a:rPr lang="en-CA" dirty="0"/>
              <a:t>We need tools to clean and understand it.</a:t>
            </a:r>
          </a:p>
          <a:p>
            <a:r>
              <a:rPr lang="en-CA" dirty="0"/>
              <a:t>Pandas provides the power and simplicity for data handling.</a:t>
            </a:r>
          </a:p>
          <a:p>
            <a:endParaRPr lang="en-CA" dirty="0"/>
          </a:p>
          <a:p>
            <a:r>
              <a:rPr lang="en-CA" dirty="0"/>
              <a:t>Question: Have you ever opened a CSV file that looked like </a:t>
            </a:r>
            <a:r>
              <a:rPr lang="en-CA" b="1" i="1" dirty="0"/>
              <a:t>chaos</a:t>
            </a:r>
            <a:r>
              <a:rPr lang="en-CA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315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90E3C-00BF-9B41-9C71-8A4F7706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Intended Learning Outcomes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9927D3-F54A-E948-92C5-3D2F1FEE7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By the end of this mini-lesson, you should be able to:</a:t>
            </a:r>
          </a:p>
          <a:p>
            <a:pPr lvl="1"/>
            <a:r>
              <a:rPr lang="en-CA" dirty="0"/>
              <a:t>Load and inspect tabular data using Pandas.</a:t>
            </a:r>
          </a:p>
          <a:p>
            <a:pPr lvl="1"/>
            <a:r>
              <a:rPr lang="en-CA" dirty="0"/>
              <a:t>Identify and handle missing or invalid data.</a:t>
            </a:r>
          </a:p>
          <a:p>
            <a:pPr lvl="1"/>
            <a:r>
              <a:rPr lang="en-CA" dirty="0"/>
              <a:t>Apply simple filtering and export cleaned data.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522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7310D-E8EA-2541-9553-8E1E2944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You Will Learn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EF2E6-611C-354C-AC2A-60FA4BBC2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Teaching and Learning Activities</a:t>
            </a:r>
          </a:p>
          <a:p>
            <a:pPr lvl="1"/>
            <a:r>
              <a:rPr lang="en-CA" dirty="0"/>
              <a:t>Step-by-step walkthrough on slides</a:t>
            </a:r>
          </a:p>
          <a:p>
            <a:pPr lvl="1"/>
            <a:r>
              <a:rPr lang="en-CA" dirty="0"/>
              <a:t>Short reflection questions</a:t>
            </a:r>
          </a:p>
          <a:p>
            <a:endParaRPr lang="en-CA" dirty="0"/>
          </a:p>
          <a:p>
            <a:r>
              <a:rPr lang="en-CA" dirty="0"/>
              <a:t>Assessment Tasks</a:t>
            </a:r>
          </a:p>
          <a:p>
            <a:pPr lvl="1"/>
            <a:r>
              <a:rPr lang="en-CA" dirty="0"/>
              <a:t>Quick self-check questions after each part</a:t>
            </a:r>
          </a:p>
          <a:p>
            <a:pPr lvl="1"/>
            <a:r>
              <a:rPr lang="en-CA" dirty="0"/>
              <a:t>Final mini quiz at the end</a:t>
            </a:r>
          </a:p>
        </p:txBody>
      </p:sp>
    </p:spTree>
    <p:extLst>
      <p:ext uri="{BB962C8B-B14F-4D97-AF65-F5344CB8AC3E}">
        <p14:creationId xmlns:p14="http://schemas.microsoft.com/office/powerpoint/2010/main" val="1795483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E729F-9A2E-F64D-9589-92F72FBA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You Will Learn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329EE-13B1-D84D-9C1F-B517CFAFE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Load a dataset into Pandas</a:t>
            </a:r>
          </a:p>
          <a:p>
            <a:r>
              <a:rPr lang="en-CA" dirty="0"/>
              <a:t>Explore and understand your data</a:t>
            </a:r>
          </a:p>
          <a:p>
            <a:r>
              <a:rPr lang="en-CA" dirty="0"/>
              <a:t>Handle missing and repeated values</a:t>
            </a:r>
          </a:p>
          <a:p>
            <a:r>
              <a:rPr lang="en-CA" dirty="0"/>
              <a:t>Save your cleaned data</a:t>
            </a:r>
          </a:p>
        </p:txBody>
      </p:sp>
    </p:spTree>
    <p:extLst>
      <p:ext uri="{BB962C8B-B14F-4D97-AF65-F5344CB8AC3E}">
        <p14:creationId xmlns:p14="http://schemas.microsoft.com/office/powerpoint/2010/main" val="110608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21F77-DAE8-9140-A052-50A72FC7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Our Example Dataset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52CC60-63C2-884B-8449-EB643363C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 Dataset: </a:t>
            </a:r>
            <a:r>
              <a:rPr lang="en-CA" dirty="0" err="1"/>
              <a:t>movies.csv</a:t>
            </a:r>
            <a:endParaRPr lang="en-CA" dirty="0"/>
          </a:p>
          <a:p>
            <a:r>
              <a:rPr lang="en-CA" dirty="0"/>
              <a:t>There is a small movie metadata file where</a:t>
            </a:r>
          </a:p>
          <a:p>
            <a:pPr lvl="1"/>
            <a:r>
              <a:rPr lang="en-CA" dirty="0"/>
              <a:t>Each row represents one movie</a:t>
            </a:r>
          </a:p>
          <a:p>
            <a:pPr lvl="1"/>
            <a:r>
              <a:rPr lang="en-CA" dirty="0"/>
              <a:t>Columns represents various features, such as:</a:t>
            </a:r>
          </a:p>
          <a:p>
            <a:pPr lvl="2"/>
            <a:r>
              <a:rPr lang="en-CA" dirty="0"/>
              <a:t>Title, Director, Country</a:t>
            </a:r>
          </a:p>
          <a:p>
            <a:pPr lvl="2"/>
            <a:r>
              <a:rPr lang="en-CA" dirty="0"/>
              <a:t>Duration </a:t>
            </a:r>
          </a:p>
          <a:p>
            <a:pPr lvl="2"/>
            <a:r>
              <a:rPr lang="en-CA" dirty="0"/>
              <a:t>IMDB Score, Year</a:t>
            </a:r>
          </a:p>
          <a:p>
            <a:pPr lvl="2"/>
            <a:r>
              <a:rPr lang="en-CA" dirty="0"/>
              <a:t>others</a:t>
            </a:r>
          </a:p>
          <a:p>
            <a:r>
              <a:rPr lang="en-CA" dirty="0"/>
              <a:t>Goal: Load this file and clean it step by step</a:t>
            </a:r>
          </a:p>
        </p:txBody>
      </p:sp>
    </p:spTree>
    <p:extLst>
      <p:ext uri="{BB962C8B-B14F-4D97-AF65-F5344CB8AC3E}">
        <p14:creationId xmlns:p14="http://schemas.microsoft.com/office/powerpoint/2010/main" val="346559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10BAB-6EDC-5B4F-AD98-46DA98BF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1: Loading Data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134A5-6487-2145-A6ED-22CFB831D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start by importing Pandas and reading the file into a </a:t>
            </a:r>
            <a:r>
              <a:rPr lang="en-CA" dirty="0" err="1"/>
              <a:t>DataFrame</a:t>
            </a:r>
            <a:r>
              <a:rPr lang="en-US" dirty="0"/>
              <a:t> -- </a:t>
            </a:r>
            <a:r>
              <a:rPr lang="en-CA" dirty="0"/>
              <a:t>a table-like structure for data.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D73A49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CN" sz="2000" dirty="0">
                <a:solidFill>
                  <a:srgbClr val="D73A49"/>
                </a:solidFill>
                <a:latin typeface="Lucida Console" panose="020B0609040504020204" pitchFamily="49" charset="0"/>
              </a:rPr>
              <a:t>import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 pandas </a:t>
            </a:r>
            <a:r>
              <a:rPr lang="en-US" altLang="zh-CN" sz="2000" dirty="0">
                <a:solidFill>
                  <a:srgbClr val="D73A49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2000" dirty="0" err="1">
                <a:solidFill>
                  <a:srgbClr val="24292E"/>
                </a:solidFill>
                <a:latin typeface="Lucida Console" panose="020B0609040504020204" pitchFamily="49" charset="0"/>
              </a:rPr>
              <a:t>pd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	data = </a:t>
            </a:r>
            <a:r>
              <a:rPr lang="en-US" altLang="zh-CN" sz="2000" dirty="0" err="1">
                <a:solidFill>
                  <a:srgbClr val="24292E"/>
                </a:solidFill>
                <a:latin typeface="Lucida Console" panose="020B0609040504020204" pitchFamily="49" charset="0"/>
              </a:rPr>
              <a:t>pd.read_csv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2000" dirty="0">
                <a:solidFill>
                  <a:srgbClr val="032F6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CN" sz="2000" dirty="0" err="1">
                <a:solidFill>
                  <a:srgbClr val="032F62"/>
                </a:solidFill>
                <a:latin typeface="Lucida Console" panose="020B0609040504020204" pitchFamily="49" charset="0"/>
              </a:rPr>
              <a:t>movies.csv</a:t>
            </a:r>
            <a:r>
              <a:rPr lang="en-US" altLang="zh-CN" sz="2000" dirty="0">
                <a:solidFill>
                  <a:srgbClr val="032F62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) </a:t>
            </a:r>
            <a:endParaRPr lang="en-CA" dirty="0"/>
          </a:p>
          <a:p>
            <a:r>
              <a:rPr lang="en-US" dirty="0"/>
              <a:t>To</a:t>
            </a:r>
            <a:r>
              <a:rPr lang="en-CA" dirty="0"/>
              <a:t> </a:t>
            </a:r>
            <a:r>
              <a:rPr lang="en-US" dirty="0"/>
              <a:t>check</a:t>
            </a:r>
            <a:r>
              <a:rPr lang="en-CA" dirty="0"/>
              <a:t> </a:t>
            </a:r>
            <a:r>
              <a:rPr lang="en-US" dirty="0"/>
              <a:t>the</a:t>
            </a:r>
            <a:r>
              <a:rPr lang="en-CA" dirty="0"/>
              <a:t> </a:t>
            </a:r>
            <a:r>
              <a:rPr lang="en-US" dirty="0"/>
              <a:t>top</a:t>
            </a:r>
            <a:r>
              <a:rPr lang="en-CA" dirty="0"/>
              <a:t> </a:t>
            </a:r>
            <a:r>
              <a:rPr lang="en-US" dirty="0"/>
              <a:t>few</a:t>
            </a:r>
            <a:r>
              <a:rPr lang="en-CA" dirty="0"/>
              <a:t> </a:t>
            </a:r>
            <a:r>
              <a:rPr lang="en-US" dirty="0"/>
              <a:t>rows: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zh-CN" sz="2000" dirty="0" err="1">
                <a:solidFill>
                  <a:srgbClr val="24292E"/>
                </a:solidFill>
                <a:latin typeface="Lucida Console" panose="020B0609040504020204" pitchFamily="49" charset="0"/>
              </a:rPr>
              <a:t>data.head</a:t>
            </a:r>
            <a:r>
              <a:rPr lang="en-US" altLang="zh-CN" sz="2000" dirty="0">
                <a:solidFill>
                  <a:srgbClr val="24292E"/>
                </a:solidFill>
                <a:latin typeface="Lucida Console" panose="020B0609040504020204" pitchFamily="49" charset="0"/>
              </a:rPr>
              <a:t>()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118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EE3B2-5544-7B43-9384-0C2F059E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2: Exploring the Dataset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54DD4-FAC6-4048-9900-9E1561C13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can check both the structure and simple statistics of our dataset.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data.head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first few rows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data.tail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last few rows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data.describe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summary of numeric columns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data[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"duration"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one specific column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937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EABBB-43EC-844D-9A2B-530AD692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3: Handling Missing Values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D08D2-FF13-864B-BF89-5EA755AFF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 cells may be empty (</a:t>
            </a:r>
            <a:r>
              <a:rPr lang="en-CA" dirty="0" err="1"/>
              <a:t>NaN</a:t>
            </a:r>
            <a:r>
              <a:rPr lang="en-CA" dirty="0"/>
              <a:t>). We can detect and fix them.</a:t>
            </a:r>
          </a:p>
          <a:p>
            <a:pPr marL="457200" lvl="1" indent="0">
              <a:buNone/>
            </a:pP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data.isna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			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shows missing cells </a:t>
            </a:r>
          </a:p>
          <a:p>
            <a:pPr marL="457200" lvl="1" indent="0">
              <a:buNone/>
            </a:pP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data.fillna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"Unknown"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 		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fills text gaps 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data.fillna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(data[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"duration"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].mean())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fills numeric gaps 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					# removes incomplete rows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57853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67321-31CD-1D48-967A-003AEC83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Step4: More Control with </a:t>
            </a:r>
            <a:r>
              <a:rPr lang="en-CA" dirty="0" err="1"/>
              <a:t>dropna</a:t>
            </a:r>
            <a:r>
              <a:rPr lang="en-CA" dirty="0"/>
              <a:t>()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6B99C-0F5B-4B49-86E3-B6FE131FB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More intricate operations to see how missing data is removed.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(how=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"all"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remove rows entirely empty 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(thresh=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25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keep rows with ≥ 25 valid values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9536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B05A7-BEAE-AD4B-B4B0-C47AB966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5: Dropping Empty Columns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32AF1-2CA1-E54C-A387-EE3261E62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function </a:t>
            </a:r>
            <a:r>
              <a:rPr lang="en-CA" dirty="0" err="1"/>
              <a:t>dropna</a:t>
            </a:r>
            <a:r>
              <a:rPr lang="en-CA" dirty="0"/>
              <a:t>() can also be used to remove empty columns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(axis=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, how=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"all"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remove empty columns 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data.dropna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(axis=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, how=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"any"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remove columns with any </a:t>
            </a:r>
            <a:r>
              <a:rPr lang="en-US" altLang="zh-CN" sz="2000" dirty="0" err="1">
                <a:solidFill>
                  <a:srgbClr val="696969"/>
                </a:solidFill>
                <a:latin typeface="Lucida Console" panose="020B0609040504020204" pitchFamily="49" charset="0"/>
              </a:rPr>
              <a:t>NaN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587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95CB3-BF0F-A940-8185-0FF5581A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6: Filtering and Cleaning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96103-434A-3647-A1EE-B2DCC69D8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can focus on specific rows or remove repeated entries.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data[data[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"duration"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 &gt; 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150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select long movies 	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data[data[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"year"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 &lt;= 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2015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] 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select older movies 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data.duplicated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find repeated rows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data.drop_duplicates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() 		</a:t>
            </a:r>
            <a:r>
              <a:rPr lang="en-US" altLang="zh-CN" sz="2000" dirty="0">
                <a:solidFill>
                  <a:srgbClr val="696969"/>
                </a:solidFill>
                <a:latin typeface="Lucida Console" panose="020B0609040504020204" pitchFamily="49" charset="0"/>
              </a:rPr>
              <a:t># remove them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5191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1BB6A-BB08-204C-8E09-74470D32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7: Saving the Clean Data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9F9116-A4BF-7642-8F11-BF8F9A67E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After cleaning, we save the dataset as a new file.</a:t>
            </a:r>
            <a:endParaRPr lang="en-CA" altLang="zh-CN" dirty="0"/>
          </a:p>
          <a:p>
            <a:pPr marL="0" indent="0">
              <a:buNone/>
            </a:pPr>
            <a:r>
              <a:rPr lang="en-CA" altLang="zh-CN" dirty="0"/>
              <a:t>	</a:t>
            </a:r>
            <a:r>
              <a:rPr lang="en-US" altLang="zh-CN" sz="2000" dirty="0" err="1">
                <a:solidFill>
                  <a:srgbClr val="545454"/>
                </a:solidFill>
                <a:latin typeface="Lucida Console" panose="020B0609040504020204" pitchFamily="49" charset="0"/>
              </a:rPr>
              <a:t>data.to_csv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CN" sz="20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clean_movies.csv</a:t>
            </a:r>
            <a:r>
              <a:rPr lang="en-US" altLang="zh-CN" sz="2000" dirty="0">
                <a:solidFill>
                  <a:srgbClr val="008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, index=</a:t>
            </a:r>
            <a:r>
              <a:rPr lang="en-US" altLang="zh-CN" sz="2000" dirty="0">
                <a:solidFill>
                  <a:srgbClr val="AA5D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CN" sz="2000" dirty="0">
                <a:solidFill>
                  <a:srgbClr val="545454"/>
                </a:solidFill>
                <a:latin typeface="Lucida Console" panose="020B0609040504020204" pitchFamily="49" charset="0"/>
              </a:rPr>
              <a:t>)</a:t>
            </a:r>
            <a:endParaRPr lang="en-CA" dirty="0"/>
          </a:p>
          <a:p>
            <a:r>
              <a:rPr lang="en-CA" dirty="0"/>
              <a:t>Tips:</a:t>
            </a:r>
          </a:p>
          <a:p>
            <a:pPr lvl="1"/>
            <a:r>
              <a:rPr lang="en-CA" dirty="0"/>
              <a:t>Keep your raw data safe</a:t>
            </a:r>
          </a:p>
          <a:p>
            <a:pPr lvl="1"/>
            <a:r>
              <a:rPr lang="en-CA" dirty="0"/>
              <a:t>Save the cleaned version separately</a:t>
            </a:r>
          </a:p>
          <a:p>
            <a:pPr lvl="1"/>
            <a:r>
              <a:rPr lang="en-CA" dirty="0"/>
              <a:t>Add short notes about the changes you made</a:t>
            </a:r>
          </a:p>
        </p:txBody>
      </p:sp>
    </p:spTree>
    <p:extLst>
      <p:ext uri="{BB962C8B-B14F-4D97-AF65-F5344CB8AC3E}">
        <p14:creationId xmlns:p14="http://schemas.microsoft.com/office/powerpoint/2010/main" val="363598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710E3-0940-FD48-BDA4-6A24E2A6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Recap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5EAC8-A73A-0445-9FD0-833F5C6D6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we have covered today:</a:t>
            </a:r>
          </a:p>
          <a:p>
            <a:pPr lvl="1"/>
            <a:r>
              <a:rPr lang="en-CA" dirty="0"/>
              <a:t>Loaded a CSV file into Pandas</a:t>
            </a:r>
          </a:p>
          <a:p>
            <a:pPr lvl="1"/>
            <a:r>
              <a:rPr lang="en-CA" dirty="0"/>
              <a:t>Explored and understood the data</a:t>
            </a:r>
          </a:p>
          <a:p>
            <a:pPr lvl="1"/>
            <a:r>
              <a:rPr lang="en-CA" dirty="0"/>
              <a:t>Fixed missing and duplicate values</a:t>
            </a:r>
          </a:p>
          <a:p>
            <a:pPr lvl="1"/>
            <a:r>
              <a:rPr lang="en-CA" dirty="0"/>
              <a:t>Saved the clean version</a:t>
            </a:r>
          </a:p>
          <a:p>
            <a:r>
              <a:rPr lang="en-CA" dirty="0"/>
              <a:t>Mini Quiz:</a:t>
            </a:r>
          </a:p>
          <a:p>
            <a:pPr lvl="1"/>
            <a:r>
              <a:rPr lang="en-CA" dirty="0"/>
              <a:t>What does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en-CA" altLang="zh-CN" dirty="0"/>
              <a:t> </a:t>
            </a:r>
            <a:r>
              <a:rPr lang="en-US" altLang="zh-CN" dirty="0"/>
              <a:t>function</a:t>
            </a:r>
            <a:r>
              <a:rPr lang="en-CA" altLang="zh-CN" dirty="0"/>
              <a:t> describe() show?</a:t>
            </a:r>
          </a:p>
          <a:p>
            <a:pPr lvl="1"/>
            <a:r>
              <a:rPr lang="en-CA" dirty="0"/>
              <a:t>When to use </a:t>
            </a:r>
            <a:r>
              <a:rPr lang="en-US" altLang="zh-CN" dirty="0" err="1"/>
              <a:t>fillna</a:t>
            </a:r>
            <a:r>
              <a:rPr lang="en-US" altLang="zh-CN" dirty="0"/>
              <a:t>() vs. </a:t>
            </a:r>
            <a:r>
              <a:rPr lang="en-US" altLang="zh-CN" dirty="0" err="1"/>
              <a:t>dropna</a:t>
            </a:r>
            <a:r>
              <a:rPr lang="en-US" altLang="zh-CN" dirty="0"/>
              <a:t>()?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4478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B4CEA-5961-E740-B6FE-2572B7F6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Comes Next?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4022EA-4D85-CB4A-A124-750558182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What’s next?</a:t>
            </a:r>
          </a:p>
          <a:p>
            <a:pPr lvl="1"/>
            <a:r>
              <a:rPr lang="en-CA" dirty="0"/>
              <a:t>Practice on your own dataset?</a:t>
            </a:r>
          </a:p>
          <a:p>
            <a:pPr lvl="1"/>
            <a:r>
              <a:rPr lang="en-CA" dirty="0"/>
              <a:t>Cleaning text with Regular Expressions.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616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629</Words>
  <Application>Microsoft Macintosh PowerPoint</Application>
  <PresentationFormat>宽屏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Lucida Console</vt:lpstr>
      <vt:lpstr>Office 主题​​</vt:lpstr>
      <vt:lpstr>An Introduction to Pandas: Cleaning and Exploring Data in Python</vt:lpstr>
      <vt:lpstr>Why Pandas?</vt:lpstr>
      <vt:lpstr>Intended Learning Outcomes</vt:lpstr>
      <vt:lpstr>How You Will Learn</vt:lpstr>
      <vt:lpstr>What You Will Learn</vt:lpstr>
      <vt:lpstr>Our Example Dataset</vt:lpstr>
      <vt:lpstr>Step 1: Loading Data</vt:lpstr>
      <vt:lpstr>Step 2: Exploring the Dataset</vt:lpstr>
      <vt:lpstr>Step 3: Handling Missing Values</vt:lpstr>
      <vt:lpstr>Step4: More Control with dropna()</vt:lpstr>
      <vt:lpstr>Step 5: Dropping Empty Columns</vt:lpstr>
      <vt:lpstr>Step 6: Filtering and Cleaning</vt:lpstr>
      <vt:lpstr>Step 7: Saving the Clean Data</vt:lpstr>
      <vt:lpstr>Recap</vt:lpstr>
      <vt:lpstr>What Comes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Pandas: Cleaning and Exploring Data in Python</dc:title>
  <dc:creator>Han Ross</dc:creator>
  <cp:lastModifiedBy>Han Ross</cp:lastModifiedBy>
  <cp:revision>8</cp:revision>
  <dcterms:created xsi:type="dcterms:W3CDTF">2025-10-17T05:48:34Z</dcterms:created>
  <dcterms:modified xsi:type="dcterms:W3CDTF">2025-10-17T08:36:33Z</dcterms:modified>
</cp:coreProperties>
</file>