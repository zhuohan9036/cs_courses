
<file path=[Content_Types].xml><?xml version="1.0" encoding="utf-8"?>
<Types xmlns="http://schemas.openxmlformats.org/package/2006/content-types">
  <Default Extension="1" ContentType="image/jpeg"/>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4" r:id="rId1"/>
  </p:sldMasterIdLst>
  <p:notesMasterIdLst>
    <p:notesMasterId r:id="rId35"/>
  </p:notesMasterIdLst>
  <p:handoutMasterIdLst>
    <p:handoutMasterId r:id="rId36"/>
  </p:handoutMasterIdLst>
  <p:sldIdLst>
    <p:sldId id="257" r:id="rId2"/>
    <p:sldId id="304" r:id="rId3"/>
    <p:sldId id="409" r:id="rId4"/>
    <p:sldId id="260" r:id="rId5"/>
    <p:sldId id="410" r:id="rId6"/>
    <p:sldId id="382" r:id="rId7"/>
    <p:sldId id="383" r:id="rId8"/>
    <p:sldId id="384" r:id="rId9"/>
    <p:sldId id="385" r:id="rId10"/>
    <p:sldId id="370" r:id="rId11"/>
    <p:sldId id="412" r:id="rId12"/>
    <p:sldId id="417" r:id="rId13"/>
    <p:sldId id="419" r:id="rId14"/>
    <p:sldId id="411" r:id="rId15"/>
    <p:sldId id="354" r:id="rId16"/>
    <p:sldId id="387" r:id="rId17"/>
    <p:sldId id="279" r:id="rId18"/>
    <p:sldId id="290" r:id="rId19"/>
    <p:sldId id="293" r:id="rId20"/>
    <p:sldId id="292" r:id="rId21"/>
    <p:sldId id="414" r:id="rId22"/>
    <p:sldId id="294" r:id="rId23"/>
    <p:sldId id="283" r:id="rId24"/>
    <p:sldId id="298" r:id="rId25"/>
    <p:sldId id="297" r:id="rId26"/>
    <p:sldId id="398" r:id="rId27"/>
    <p:sldId id="418" r:id="rId28"/>
    <p:sldId id="350" r:id="rId29"/>
    <p:sldId id="396" r:id="rId30"/>
    <p:sldId id="416" r:id="rId31"/>
    <p:sldId id="333" r:id="rId32"/>
    <p:sldId id="364" r:id="rId33"/>
    <p:sldId id="415" r:id="rId34"/>
  </p:sldIdLst>
  <p:sldSz cx="12192000" cy="6858000"/>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FF"/>
    <a:srgbClr val="FF00FF"/>
    <a:srgbClr val="FF6600"/>
    <a:srgbClr val="009900"/>
    <a:srgbClr val="000066"/>
    <a:srgbClr val="FF99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80" autoAdjust="0"/>
    <p:restoredTop sz="94600" autoAdjust="0"/>
  </p:normalViewPr>
  <p:slideViewPr>
    <p:cSldViewPr>
      <p:cViewPr varScale="1">
        <p:scale>
          <a:sx n="116" d="100"/>
          <a:sy n="116" d="100"/>
        </p:scale>
        <p:origin x="734" y="8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512453644460684E-2"/>
          <c:y val="0.15480427707965932"/>
          <c:w val="0.88119117347029907"/>
          <c:h val="0.76217876037743026"/>
        </c:manualLayout>
      </c:layout>
      <c:lineChart>
        <c:grouping val="stacked"/>
        <c:varyColors val="0"/>
        <c:ser>
          <c:idx val="0"/>
          <c:order val="0"/>
          <c:tx>
            <c:strRef>
              <c:f>Sheet1!$B$1</c:f>
              <c:strCache>
                <c:ptCount val="1"/>
                <c:pt idx="0">
                  <c:v>Teacher confidence </c:v>
                </c:pt>
              </c:strCache>
            </c:strRef>
          </c:tx>
          <c:spPr>
            <a:ln w="53975" cap="rnd">
              <a:solidFill>
                <a:schemeClr val="accent1"/>
              </a:solidFill>
              <a:round/>
            </a:ln>
            <a:effectLst/>
          </c:spPr>
          <c:marker>
            <c:symbol val="diamond"/>
            <c:size val="12"/>
            <c:spPr>
              <a:solidFill>
                <a:schemeClr val="bg2">
                  <a:lumMod val="25000"/>
                </a:schemeClr>
              </a:solidFill>
              <a:ln w="9525">
                <a:solidFill>
                  <a:schemeClr val="accent1"/>
                </a:solidFill>
                <a:round/>
              </a:ln>
              <a:effectLst/>
            </c:spPr>
          </c:marker>
          <c:dLbls>
            <c:delete val="1"/>
          </c:dLbls>
          <c:cat>
            <c:strRef>
              <c:f>Sheet1!$A$2:$A$5</c:f>
              <c:strCache>
                <c:ptCount val="4"/>
                <c:pt idx="0">
                  <c:v>Year 0</c:v>
                </c:pt>
                <c:pt idx="1">
                  <c:v>Year 1</c:v>
                </c:pt>
                <c:pt idx="2">
                  <c:v>Year 2</c:v>
                </c:pt>
                <c:pt idx="3">
                  <c:v>Year 3</c:v>
                </c:pt>
              </c:strCache>
            </c:strRef>
          </c:cat>
          <c:val>
            <c:numRef>
              <c:f>Sheet1!$B$2:$B$5</c:f>
              <c:numCache>
                <c:formatCode>General</c:formatCode>
                <c:ptCount val="4"/>
                <c:pt idx="0">
                  <c:v>120</c:v>
                </c:pt>
                <c:pt idx="1">
                  <c:v>127</c:v>
                </c:pt>
                <c:pt idx="2">
                  <c:v>121</c:v>
                </c:pt>
                <c:pt idx="3">
                  <c:v>130</c:v>
                </c:pt>
              </c:numCache>
            </c:numRef>
          </c:val>
          <c:smooth val="0"/>
          <c:extLst>
            <c:ext xmlns:c16="http://schemas.microsoft.com/office/drawing/2014/chart" uri="{C3380CC4-5D6E-409C-BE32-E72D297353CC}">
              <c16:uniqueId val="{00000000-4941-4C29-AAEF-3BA632A80731}"/>
            </c:ext>
          </c:extLst>
        </c:ser>
        <c:dLbls>
          <c:dLblPos val="ctr"/>
          <c:showLegendKey val="0"/>
          <c:showVal val="1"/>
          <c:showCatName val="0"/>
          <c:showSerName val="0"/>
          <c:showPercent val="0"/>
          <c:showBubbleSize val="0"/>
        </c:dLbls>
        <c:marker val="1"/>
        <c:smooth val="0"/>
        <c:axId val="816130128"/>
        <c:axId val="816129168"/>
      </c:lineChart>
      <c:catAx>
        <c:axId val="8161301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cap="all" spc="120" normalizeH="0" baseline="0">
                <a:solidFill>
                  <a:schemeClr val="tx1">
                    <a:lumMod val="65000"/>
                    <a:lumOff val="35000"/>
                  </a:schemeClr>
                </a:solidFill>
                <a:latin typeface="+mn-lt"/>
                <a:ea typeface="+mn-ea"/>
                <a:cs typeface="+mn-cs"/>
              </a:defRPr>
            </a:pPr>
            <a:endParaRPr lang="en-US"/>
          </a:p>
        </c:txPr>
        <c:crossAx val="816129168"/>
        <c:crosses val="autoZero"/>
        <c:auto val="1"/>
        <c:lblAlgn val="ctr"/>
        <c:lblOffset val="100"/>
        <c:noMultiLvlLbl val="0"/>
      </c:catAx>
      <c:valAx>
        <c:axId val="816129168"/>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Teaching</a:t>
                </a:r>
                <a:r>
                  <a:rPr lang="en-US" baseline="0" dirty="0"/>
                  <a:t> confidence</a:t>
                </a:r>
                <a:endParaRPr lang="en-GB" dirty="0"/>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2"/>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16130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9DBEF9-0B87-4F8A-8EFC-B5307A82AE8D}" type="doc">
      <dgm:prSet loTypeId="urn:microsoft.com/office/officeart/2005/8/layout/radial5" loCatId="cycle" qsTypeId="urn:microsoft.com/office/officeart/2005/8/quickstyle/3d2" qsCatId="3D" csTypeId="urn:microsoft.com/office/officeart/2005/8/colors/colorful1" csCatId="colorful" phldr="1"/>
      <dgm:spPr/>
      <dgm:t>
        <a:bodyPr/>
        <a:lstStyle/>
        <a:p>
          <a:endParaRPr lang="en-GB"/>
        </a:p>
      </dgm:t>
    </dgm:pt>
    <dgm:pt modelId="{9E9266F3-21C4-41ED-B584-3CF7D270A40A}">
      <dgm:prSet phldrT="[Text]"/>
      <dgm:spPr/>
      <dgm:t>
        <a:bodyPr/>
        <a:lstStyle/>
        <a:p>
          <a:pPr>
            <a:buFont typeface="Arial" panose="020B0604020202020204" pitchFamily="34" charset="0"/>
            <a:buChar char="•"/>
          </a:pPr>
          <a:r>
            <a:rPr lang="en-GB" b="0" i="0" dirty="0"/>
            <a:t>Become an independent scholar</a:t>
          </a:r>
          <a:endParaRPr lang="en-GB" dirty="0"/>
        </a:p>
      </dgm:t>
    </dgm:pt>
    <dgm:pt modelId="{771DF5D0-F7CC-4837-A126-1A77801EC694}" type="parTrans" cxnId="{BD5A813E-4568-4B16-B7CF-214641124F98}">
      <dgm:prSet/>
      <dgm:spPr/>
      <dgm:t>
        <a:bodyPr/>
        <a:lstStyle/>
        <a:p>
          <a:endParaRPr lang="en-GB"/>
        </a:p>
      </dgm:t>
    </dgm:pt>
    <dgm:pt modelId="{8E36066B-BBC3-4007-8DD6-6E36F1C12960}" type="sibTrans" cxnId="{BD5A813E-4568-4B16-B7CF-214641124F98}">
      <dgm:prSet/>
      <dgm:spPr/>
      <dgm:t>
        <a:bodyPr/>
        <a:lstStyle/>
        <a:p>
          <a:endParaRPr lang="en-GB"/>
        </a:p>
      </dgm:t>
    </dgm:pt>
    <dgm:pt modelId="{48E510C5-F40A-40AA-A704-B7AB8E2B3C78}">
      <dgm:prSet/>
      <dgm:spPr/>
      <dgm:t>
        <a:bodyPr/>
        <a:lstStyle/>
        <a:p>
          <a:pPr>
            <a:buFont typeface="Arial" panose="020B0604020202020204" pitchFamily="34" charset="0"/>
            <a:buChar char="•"/>
          </a:pPr>
          <a:r>
            <a:rPr lang="en-GB" b="0" i="0" dirty="0"/>
            <a:t>Conceptualise methodically</a:t>
          </a:r>
        </a:p>
      </dgm:t>
    </dgm:pt>
    <dgm:pt modelId="{B0F44A60-2214-4F4A-A5E7-86A715020EC9}" type="parTrans" cxnId="{60CB4AC8-71E9-4799-9471-8EF783C65E97}">
      <dgm:prSet/>
      <dgm:spPr/>
      <dgm:t>
        <a:bodyPr/>
        <a:lstStyle/>
        <a:p>
          <a:endParaRPr lang="en-GB"/>
        </a:p>
      </dgm:t>
    </dgm:pt>
    <dgm:pt modelId="{EA52BABE-35BD-45D2-8353-2E3634D3E79D}" type="sibTrans" cxnId="{60CB4AC8-71E9-4799-9471-8EF783C65E97}">
      <dgm:prSet/>
      <dgm:spPr/>
      <dgm:t>
        <a:bodyPr/>
        <a:lstStyle/>
        <a:p>
          <a:endParaRPr lang="en-GB"/>
        </a:p>
      </dgm:t>
    </dgm:pt>
    <dgm:pt modelId="{AF73811C-3466-48B0-9F33-E7A6932B6B8B}">
      <dgm:prSet/>
      <dgm:spPr/>
      <dgm:t>
        <a:bodyPr/>
        <a:lstStyle/>
        <a:p>
          <a:pPr>
            <a:buFont typeface="Arial" panose="020B0604020202020204" pitchFamily="34" charset="0"/>
            <a:buChar char="•"/>
          </a:pPr>
          <a:r>
            <a:rPr lang="en-GB" b="0" i="0" dirty="0" err="1"/>
            <a:t>Strategise</a:t>
          </a:r>
          <a:r>
            <a:rPr lang="en-GB" b="0" i="0" dirty="0"/>
            <a:t> competitively</a:t>
          </a:r>
        </a:p>
      </dgm:t>
    </dgm:pt>
    <dgm:pt modelId="{470D495B-67B0-415F-B8CF-32F52E793607}" type="parTrans" cxnId="{58BB636D-A635-45CD-B68B-89EC4BC3A909}">
      <dgm:prSet/>
      <dgm:spPr/>
      <dgm:t>
        <a:bodyPr/>
        <a:lstStyle/>
        <a:p>
          <a:endParaRPr lang="en-GB"/>
        </a:p>
      </dgm:t>
    </dgm:pt>
    <dgm:pt modelId="{FA4866FF-34EE-492D-9807-9B0F2F5B6A60}" type="sibTrans" cxnId="{58BB636D-A635-45CD-B68B-89EC4BC3A909}">
      <dgm:prSet/>
      <dgm:spPr/>
      <dgm:t>
        <a:bodyPr/>
        <a:lstStyle/>
        <a:p>
          <a:endParaRPr lang="en-GB"/>
        </a:p>
      </dgm:t>
    </dgm:pt>
    <dgm:pt modelId="{DE59AE8D-62DF-48DC-B87A-EAB23AE6F5B0}">
      <dgm:prSet/>
      <dgm:spPr/>
      <dgm:t>
        <a:bodyPr/>
        <a:lstStyle/>
        <a:p>
          <a:pPr>
            <a:buFont typeface="Arial" panose="020B0604020202020204" pitchFamily="34" charset="0"/>
            <a:buChar char="•"/>
          </a:pPr>
          <a:r>
            <a:rPr lang="en-GB" b="0" i="0" dirty="0"/>
            <a:t>Apply results beneficially</a:t>
          </a:r>
        </a:p>
      </dgm:t>
    </dgm:pt>
    <dgm:pt modelId="{59D27F56-B114-448B-9897-C5F34DABFB95}" type="parTrans" cxnId="{7AD62EB3-0D3C-4056-9E1F-E0FB282D64EA}">
      <dgm:prSet/>
      <dgm:spPr/>
      <dgm:t>
        <a:bodyPr/>
        <a:lstStyle/>
        <a:p>
          <a:endParaRPr lang="en-GB"/>
        </a:p>
      </dgm:t>
    </dgm:pt>
    <dgm:pt modelId="{F2565E9A-19CA-47C6-98A2-6DBA7C34D776}" type="sibTrans" cxnId="{7AD62EB3-0D3C-4056-9E1F-E0FB282D64EA}">
      <dgm:prSet/>
      <dgm:spPr/>
      <dgm:t>
        <a:bodyPr/>
        <a:lstStyle/>
        <a:p>
          <a:endParaRPr lang="en-GB"/>
        </a:p>
      </dgm:t>
    </dgm:pt>
    <dgm:pt modelId="{79984B3C-11C1-4AB3-B486-0DC78D5173BE}">
      <dgm:prSet/>
      <dgm:spPr/>
      <dgm:t>
        <a:bodyPr/>
        <a:lstStyle/>
        <a:p>
          <a:pPr>
            <a:buFont typeface="Arial" panose="020B0604020202020204" pitchFamily="34" charset="0"/>
            <a:buChar char="•"/>
          </a:pPr>
          <a:r>
            <a:rPr lang="en-GB" b="0" i="0" dirty="0"/>
            <a:t>Communicate professionally</a:t>
          </a:r>
        </a:p>
      </dgm:t>
    </dgm:pt>
    <dgm:pt modelId="{01168295-E70B-4D45-82EC-DCBA5CC389BE}" type="parTrans" cxnId="{98034A1B-1E25-4D99-B9C2-2F036A77D0EC}">
      <dgm:prSet/>
      <dgm:spPr/>
      <dgm:t>
        <a:bodyPr/>
        <a:lstStyle/>
        <a:p>
          <a:endParaRPr lang="en-GB"/>
        </a:p>
      </dgm:t>
    </dgm:pt>
    <dgm:pt modelId="{01D1523D-7E09-4077-BE36-418F586F488E}" type="sibTrans" cxnId="{98034A1B-1E25-4D99-B9C2-2F036A77D0EC}">
      <dgm:prSet/>
      <dgm:spPr/>
      <dgm:t>
        <a:bodyPr/>
        <a:lstStyle/>
        <a:p>
          <a:endParaRPr lang="en-GB"/>
        </a:p>
      </dgm:t>
    </dgm:pt>
    <dgm:pt modelId="{CC26978C-AB16-4A32-A28F-BC38E106DD42}" type="pres">
      <dgm:prSet presAssocID="{759DBEF9-0B87-4F8A-8EFC-B5307A82AE8D}" presName="Name0" presStyleCnt="0">
        <dgm:presLayoutVars>
          <dgm:chMax val="1"/>
          <dgm:dir/>
          <dgm:animLvl val="ctr"/>
          <dgm:resizeHandles val="exact"/>
        </dgm:presLayoutVars>
      </dgm:prSet>
      <dgm:spPr/>
    </dgm:pt>
    <dgm:pt modelId="{1E2D0D56-ADDD-44E7-B06C-7FCC3791225C}" type="pres">
      <dgm:prSet presAssocID="{9E9266F3-21C4-41ED-B584-3CF7D270A40A}" presName="centerShape" presStyleLbl="node0" presStyleIdx="0" presStyleCnt="1"/>
      <dgm:spPr/>
    </dgm:pt>
    <dgm:pt modelId="{C7B8EA8B-AE1D-45AC-B5CA-2BD683081838}" type="pres">
      <dgm:prSet presAssocID="{B0F44A60-2214-4F4A-A5E7-86A715020EC9}" presName="parTrans" presStyleLbl="sibTrans2D1" presStyleIdx="0" presStyleCnt="4"/>
      <dgm:spPr/>
    </dgm:pt>
    <dgm:pt modelId="{437F094A-EFC2-4E63-A575-9F37F3244D5C}" type="pres">
      <dgm:prSet presAssocID="{B0F44A60-2214-4F4A-A5E7-86A715020EC9}" presName="connectorText" presStyleLbl="sibTrans2D1" presStyleIdx="0" presStyleCnt="4"/>
      <dgm:spPr/>
    </dgm:pt>
    <dgm:pt modelId="{9457B2DC-DF58-47D3-8002-DA87CA4A665A}" type="pres">
      <dgm:prSet presAssocID="{48E510C5-F40A-40AA-A704-B7AB8E2B3C78}" presName="node" presStyleLbl="node1" presStyleIdx="0" presStyleCnt="4">
        <dgm:presLayoutVars>
          <dgm:bulletEnabled val="1"/>
        </dgm:presLayoutVars>
      </dgm:prSet>
      <dgm:spPr/>
    </dgm:pt>
    <dgm:pt modelId="{A4C920A1-BF74-4B57-8BE6-7BFB0FDDE393}" type="pres">
      <dgm:prSet presAssocID="{470D495B-67B0-415F-B8CF-32F52E793607}" presName="parTrans" presStyleLbl="sibTrans2D1" presStyleIdx="1" presStyleCnt="4"/>
      <dgm:spPr/>
    </dgm:pt>
    <dgm:pt modelId="{880FFC5A-5516-48F7-BA47-5FCFF253265D}" type="pres">
      <dgm:prSet presAssocID="{470D495B-67B0-415F-B8CF-32F52E793607}" presName="connectorText" presStyleLbl="sibTrans2D1" presStyleIdx="1" presStyleCnt="4"/>
      <dgm:spPr/>
    </dgm:pt>
    <dgm:pt modelId="{78E25D81-274C-4B51-909E-F1C6A9EFA86A}" type="pres">
      <dgm:prSet presAssocID="{AF73811C-3466-48B0-9F33-E7A6932B6B8B}" presName="node" presStyleLbl="node1" presStyleIdx="1" presStyleCnt="4">
        <dgm:presLayoutVars>
          <dgm:bulletEnabled val="1"/>
        </dgm:presLayoutVars>
      </dgm:prSet>
      <dgm:spPr/>
    </dgm:pt>
    <dgm:pt modelId="{24C02102-14FA-445B-B2F8-CCBC29D90295}" type="pres">
      <dgm:prSet presAssocID="{59D27F56-B114-448B-9897-C5F34DABFB95}" presName="parTrans" presStyleLbl="sibTrans2D1" presStyleIdx="2" presStyleCnt="4"/>
      <dgm:spPr/>
    </dgm:pt>
    <dgm:pt modelId="{24444370-EEE6-4BBB-9C63-58D999439563}" type="pres">
      <dgm:prSet presAssocID="{59D27F56-B114-448B-9897-C5F34DABFB95}" presName="connectorText" presStyleLbl="sibTrans2D1" presStyleIdx="2" presStyleCnt="4"/>
      <dgm:spPr/>
    </dgm:pt>
    <dgm:pt modelId="{8FD954F6-00A9-433F-9E38-D1111AEE904D}" type="pres">
      <dgm:prSet presAssocID="{DE59AE8D-62DF-48DC-B87A-EAB23AE6F5B0}" presName="node" presStyleLbl="node1" presStyleIdx="2" presStyleCnt="4">
        <dgm:presLayoutVars>
          <dgm:bulletEnabled val="1"/>
        </dgm:presLayoutVars>
      </dgm:prSet>
      <dgm:spPr/>
    </dgm:pt>
    <dgm:pt modelId="{6CA755E3-EC64-4634-8B92-AB104D5FED09}" type="pres">
      <dgm:prSet presAssocID="{01168295-E70B-4D45-82EC-DCBA5CC389BE}" presName="parTrans" presStyleLbl="sibTrans2D1" presStyleIdx="3" presStyleCnt="4"/>
      <dgm:spPr/>
    </dgm:pt>
    <dgm:pt modelId="{6877BE21-1C9A-47B3-A85E-F193191051A7}" type="pres">
      <dgm:prSet presAssocID="{01168295-E70B-4D45-82EC-DCBA5CC389BE}" presName="connectorText" presStyleLbl="sibTrans2D1" presStyleIdx="3" presStyleCnt="4"/>
      <dgm:spPr/>
    </dgm:pt>
    <dgm:pt modelId="{314F8911-7F42-4682-97CC-1CFF235DD7E6}" type="pres">
      <dgm:prSet presAssocID="{79984B3C-11C1-4AB3-B486-0DC78D5173BE}" presName="node" presStyleLbl="node1" presStyleIdx="3" presStyleCnt="4">
        <dgm:presLayoutVars>
          <dgm:bulletEnabled val="1"/>
        </dgm:presLayoutVars>
      </dgm:prSet>
      <dgm:spPr/>
    </dgm:pt>
  </dgm:ptLst>
  <dgm:cxnLst>
    <dgm:cxn modelId="{5F73590C-03A1-4296-9DB2-83FDB23F997D}" type="presOf" srcId="{59D27F56-B114-448B-9897-C5F34DABFB95}" destId="{24444370-EEE6-4BBB-9C63-58D999439563}" srcOrd="1" destOrd="0" presId="urn:microsoft.com/office/officeart/2005/8/layout/radial5"/>
    <dgm:cxn modelId="{2BF19411-5344-4C13-8B95-BB29F6F84D16}" type="presOf" srcId="{48E510C5-F40A-40AA-A704-B7AB8E2B3C78}" destId="{9457B2DC-DF58-47D3-8002-DA87CA4A665A}" srcOrd="0" destOrd="0" presId="urn:microsoft.com/office/officeart/2005/8/layout/radial5"/>
    <dgm:cxn modelId="{97171012-5F8C-42CB-A706-655876C175BB}" type="presOf" srcId="{470D495B-67B0-415F-B8CF-32F52E793607}" destId="{880FFC5A-5516-48F7-BA47-5FCFF253265D}" srcOrd="1" destOrd="0" presId="urn:microsoft.com/office/officeart/2005/8/layout/radial5"/>
    <dgm:cxn modelId="{98034A1B-1E25-4D99-B9C2-2F036A77D0EC}" srcId="{9E9266F3-21C4-41ED-B584-3CF7D270A40A}" destId="{79984B3C-11C1-4AB3-B486-0DC78D5173BE}" srcOrd="3" destOrd="0" parTransId="{01168295-E70B-4D45-82EC-DCBA5CC389BE}" sibTransId="{01D1523D-7E09-4077-BE36-418F586F488E}"/>
    <dgm:cxn modelId="{92D8571B-2EB8-4CC4-A15D-0F871AE2B2F2}" type="presOf" srcId="{79984B3C-11C1-4AB3-B486-0DC78D5173BE}" destId="{314F8911-7F42-4682-97CC-1CFF235DD7E6}" srcOrd="0" destOrd="0" presId="urn:microsoft.com/office/officeart/2005/8/layout/radial5"/>
    <dgm:cxn modelId="{065EC62B-A87F-476E-BDFC-BFC0AD38FF4D}" type="presOf" srcId="{01168295-E70B-4D45-82EC-DCBA5CC389BE}" destId="{6CA755E3-EC64-4634-8B92-AB104D5FED09}" srcOrd="0" destOrd="0" presId="urn:microsoft.com/office/officeart/2005/8/layout/radial5"/>
    <dgm:cxn modelId="{8D35A02F-2845-48C5-BDBE-6C39C045CC90}" type="presOf" srcId="{759DBEF9-0B87-4F8A-8EFC-B5307A82AE8D}" destId="{CC26978C-AB16-4A32-A28F-BC38E106DD42}" srcOrd="0" destOrd="0" presId="urn:microsoft.com/office/officeart/2005/8/layout/radial5"/>
    <dgm:cxn modelId="{BD5A813E-4568-4B16-B7CF-214641124F98}" srcId="{759DBEF9-0B87-4F8A-8EFC-B5307A82AE8D}" destId="{9E9266F3-21C4-41ED-B584-3CF7D270A40A}" srcOrd="0" destOrd="0" parTransId="{771DF5D0-F7CC-4837-A126-1A77801EC694}" sibTransId="{8E36066B-BBC3-4007-8DD6-6E36F1C12960}"/>
    <dgm:cxn modelId="{58BB636D-A635-45CD-B68B-89EC4BC3A909}" srcId="{9E9266F3-21C4-41ED-B584-3CF7D270A40A}" destId="{AF73811C-3466-48B0-9F33-E7A6932B6B8B}" srcOrd="1" destOrd="0" parTransId="{470D495B-67B0-415F-B8CF-32F52E793607}" sibTransId="{FA4866FF-34EE-492D-9807-9B0F2F5B6A60}"/>
    <dgm:cxn modelId="{3B54626F-0776-459F-89BE-932E80031D1E}" type="presOf" srcId="{01168295-E70B-4D45-82EC-DCBA5CC389BE}" destId="{6877BE21-1C9A-47B3-A85E-F193191051A7}" srcOrd="1" destOrd="0" presId="urn:microsoft.com/office/officeart/2005/8/layout/radial5"/>
    <dgm:cxn modelId="{B0CE679D-E7DC-4779-85CD-B8B8DF2FAD4D}" type="presOf" srcId="{59D27F56-B114-448B-9897-C5F34DABFB95}" destId="{24C02102-14FA-445B-B2F8-CCBC29D90295}" srcOrd="0" destOrd="0" presId="urn:microsoft.com/office/officeart/2005/8/layout/radial5"/>
    <dgm:cxn modelId="{138E3CAA-0703-4F69-A558-D07C27DB0140}" type="presOf" srcId="{470D495B-67B0-415F-B8CF-32F52E793607}" destId="{A4C920A1-BF74-4B57-8BE6-7BFB0FDDE393}" srcOrd="0" destOrd="0" presId="urn:microsoft.com/office/officeart/2005/8/layout/radial5"/>
    <dgm:cxn modelId="{7AD62EB3-0D3C-4056-9E1F-E0FB282D64EA}" srcId="{9E9266F3-21C4-41ED-B584-3CF7D270A40A}" destId="{DE59AE8D-62DF-48DC-B87A-EAB23AE6F5B0}" srcOrd="2" destOrd="0" parTransId="{59D27F56-B114-448B-9897-C5F34DABFB95}" sibTransId="{F2565E9A-19CA-47C6-98A2-6DBA7C34D776}"/>
    <dgm:cxn modelId="{076385B5-FA33-4566-8A98-D9722526117D}" type="presOf" srcId="{AF73811C-3466-48B0-9F33-E7A6932B6B8B}" destId="{78E25D81-274C-4B51-909E-F1C6A9EFA86A}" srcOrd="0" destOrd="0" presId="urn:microsoft.com/office/officeart/2005/8/layout/radial5"/>
    <dgm:cxn modelId="{D09F28BE-C1FC-494A-87C8-F7C84F25DA7F}" type="presOf" srcId="{9E9266F3-21C4-41ED-B584-3CF7D270A40A}" destId="{1E2D0D56-ADDD-44E7-B06C-7FCC3791225C}" srcOrd="0" destOrd="0" presId="urn:microsoft.com/office/officeart/2005/8/layout/radial5"/>
    <dgm:cxn modelId="{3CE668C3-F3C7-46BB-955C-4B371EE88115}" type="presOf" srcId="{DE59AE8D-62DF-48DC-B87A-EAB23AE6F5B0}" destId="{8FD954F6-00A9-433F-9E38-D1111AEE904D}" srcOrd="0" destOrd="0" presId="urn:microsoft.com/office/officeart/2005/8/layout/radial5"/>
    <dgm:cxn modelId="{60CB4AC8-71E9-4799-9471-8EF783C65E97}" srcId="{9E9266F3-21C4-41ED-B584-3CF7D270A40A}" destId="{48E510C5-F40A-40AA-A704-B7AB8E2B3C78}" srcOrd="0" destOrd="0" parTransId="{B0F44A60-2214-4F4A-A5E7-86A715020EC9}" sibTransId="{EA52BABE-35BD-45D2-8353-2E3634D3E79D}"/>
    <dgm:cxn modelId="{49CE15E9-6F85-434D-B2D6-DB6E748D7474}" type="presOf" srcId="{B0F44A60-2214-4F4A-A5E7-86A715020EC9}" destId="{C7B8EA8B-AE1D-45AC-B5CA-2BD683081838}" srcOrd="0" destOrd="0" presId="urn:microsoft.com/office/officeart/2005/8/layout/radial5"/>
    <dgm:cxn modelId="{E0F608F6-AEF7-4BDB-85BC-943F05AD554A}" type="presOf" srcId="{B0F44A60-2214-4F4A-A5E7-86A715020EC9}" destId="{437F094A-EFC2-4E63-A575-9F37F3244D5C}" srcOrd="1" destOrd="0" presId="urn:microsoft.com/office/officeart/2005/8/layout/radial5"/>
    <dgm:cxn modelId="{AED0ACAB-AC54-41C6-A252-AFB97CC0585F}" type="presParOf" srcId="{CC26978C-AB16-4A32-A28F-BC38E106DD42}" destId="{1E2D0D56-ADDD-44E7-B06C-7FCC3791225C}" srcOrd="0" destOrd="0" presId="urn:microsoft.com/office/officeart/2005/8/layout/radial5"/>
    <dgm:cxn modelId="{711F1697-F871-45E4-B256-68E13B22181D}" type="presParOf" srcId="{CC26978C-AB16-4A32-A28F-BC38E106DD42}" destId="{C7B8EA8B-AE1D-45AC-B5CA-2BD683081838}" srcOrd="1" destOrd="0" presId="urn:microsoft.com/office/officeart/2005/8/layout/radial5"/>
    <dgm:cxn modelId="{0D34D650-0A45-4BB9-87B2-4BCD1E9ABA2D}" type="presParOf" srcId="{C7B8EA8B-AE1D-45AC-B5CA-2BD683081838}" destId="{437F094A-EFC2-4E63-A575-9F37F3244D5C}" srcOrd="0" destOrd="0" presId="urn:microsoft.com/office/officeart/2005/8/layout/radial5"/>
    <dgm:cxn modelId="{D9A315EE-CAE5-462C-8879-23E5087BF604}" type="presParOf" srcId="{CC26978C-AB16-4A32-A28F-BC38E106DD42}" destId="{9457B2DC-DF58-47D3-8002-DA87CA4A665A}" srcOrd="2" destOrd="0" presId="urn:microsoft.com/office/officeart/2005/8/layout/radial5"/>
    <dgm:cxn modelId="{51D26C89-E96A-46D2-96A3-B24E20BDED89}" type="presParOf" srcId="{CC26978C-AB16-4A32-A28F-BC38E106DD42}" destId="{A4C920A1-BF74-4B57-8BE6-7BFB0FDDE393}" srcOrd="3" destOrd="0" presId="urn:microsoft.com/office/officeart/2005/8/layout/radial5"/>
    <dgm:cxn modelId="{C0BB5750-07D6-4933-9D84-439DFC9D51C1}" type="presParOf" srcId="{A4C920A1-BF74-4B57-8BE6-7BFB0FDDE393}" destId="{880FFC5A-5516-48F7-BA47-5FCFF253265D}" srcOrd="0" destOrd="0" presId="urn:microsoft.com/office/officeart/2005/8/layout/radial5"/>
    <dgm:cxn modelId="{B6B19AA0-050B-4BCE-B17A-351F275CE6D9}" type="presParOf" srcId="{CC26978C-AB16-4A32-A28F-BC38E106DD42}" destId="{78E25D81-274C-4B51-909E-F1C6A9EFA86A}" srcOrd="4" destOrd="0" presId="urn:microsoft.com/office/officeart/2005/8/layout/radial5"/>
    <dgm:cxn modelId="{81D8AAFE-B371-4548-BF5A-2BC3674073E9}" type="presParOf" srcId="{CC26978C-AB16-4A32-A28F-BC38E106DD42}" destId="{24C02102-14FA-445B-B2F8-CCBC29D90295}" srcOrd="5" destOrd="0" presId="urn:microsoft.com/office/officeart/2005/8/layout/radial5"/>
    <dgm:cxn modelId="{1ED1F838-FFE5-4BC7-B000-006D0310DC9D}" type="presParOf" srcId="{24C02102-14FA-445B-B2F8-CCBC29D90295}" destId="{24444370-EEE6-4BBB-9C63-58D999439563}" srcOrd="0" destOrd="0" presId="urn:microsoft.com/office/officeart/2005/8/layout/radial5"/>
    <dgm:cxn modelId="{4D0E4C1E-8B80-48D4-AD11-6320EFCBB4A7}" type="presParOf" srcId="{CC26978C-AB16-4A32-A28F-BC38E106DD42}" destId="{8FD954F6-00A9-433F-9E38-D1111AEE904D}" srcOrd="6" destOrd="0" presId="urn:microsoft.com/office/officeart/2005/8/layout/radial5"/>
    <dgm:cxn modelId="{E22DD477-8ED9-4590-B32B-2DE770919C96}" type="presParOf" srcId="{CC26978C-AB16-4A32-A28F-BC38E106DD42}" destId="{6CA755E3-EC64-4634-8B92-AB104D5FED09}" srcOrd="7" destOrd="0" presId="urn:microsoft.com/office/officeart/2005/8/layout/radial5"/>
    <dgm:cxn modelId="{2E9CD19A-0816-40F1-932C-EC0D55E9EA99}" type="presParOf" srcId="{6CA755E3-EC64-4634-8B92-AB104D5FED09}" destId="{6877BE21-1C9A-47B3-A85E-F193191051A7}" srcOrd="0" destOrd="0" presId="urn:microsoft.com/office/officeart/2005/8/layout/radial5"/>
    <dgm:cxn modelId="{55A3059C-4EE9-45EB-9A5B-1BCA847229F6}" type="presParOf" srcId="{CC26978C-AB16-4A32-A28F-BC38E106DD42}" destId="{314F8911-7F42-4682-97CC-1CFF235DD7E6}"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D0D56-ADDD-44E7-B06C-7FCC3791225C}">
      <dsp:nvSpPr>
        <dsp:cNvPr id="0" name=""/>
        <dsp:cNvSpPr/>
      </dsp:nvSpPr>
      <dsp:spPr>
        <a:xfrm>
          <a:off x="3702944" y="1935012"/>
          <a:ext cx="1379086" cy="1379086"/>
        </a:xfrm>
        <a:prstGeom prst="ellipse">
          <a:avLst/>
        </a:prstGeom>
        <a:solidFill>
          <a:schemeClr val="accent1">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GB" sz="1400" b="0" i="0" kern="1200" dirty="0"/>
            <a:t>Become an independent scholar</a:t>
          </a:r>
          <a:endParaRPr lang="en-GB" sz="1400" kern="1200" dirty="0"/>
        </a:p>
      </dsp:txBody>
      <dsp:txXfrm>
        <a:off x="3904906" y="2136974"/>
        <a:ext cx="975162" cy="975162"/>
      </dsp:txXfrm>
    </dsp:sp>
    <dsp:sp modelId="{C7B8EA8B-AE1D-45AC-B5CA-2BD683081838}">
      <dsp:nvSpPr>
        <dsp:cNvPr id="0" name=""/>
        <dsp:cNvSpPr/>
      </dsp:nvSpPr>
      <dsp:spPr>
        <a:xfrm rot="16200000">
          <a:off x="4245923" y="1432326"/>
          <a:ext cx="293129" cy="468889"/>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4289893" y="1570074"/>
        <a:ext cx="205190" cy="281333"/>
      </dsp:txXfrm>
    </dsp:sp>
    <dsp:sp modelId="{9457B2DC-DF58-47D3-8002-DA87CA4A665A}">
      <dsp:nvSpPr>
        <dsp:cNvPr id="0" name=""/>
        <dsp:cNvSpPr/>
      </dsp:nvSpPr>
      <dsp:spPr>
        <a:xfrm>
          <a:off x="3702944" y="2850"/>
          <a:ext cx="1379086" cy="1379086"/>
        </a:xfrm>
        <a:prstGeom prst="ellipse">
          <a:avLst/>
        </a:prstGeom>
        <a:solidFill>
          <a:schemeClr val="accent2">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GB" sz="1200" b="0" i="0" kern="1200" dirty="0"/>
            <a:t>Conceptualise methodically</a:t>
          </a:r>
        </a:p>
      </dsp:txBody>
      <dsp:txXfrm>
        <a:off x="3904906" y="204812"/>
        <a:ext cx="975162" cy="975162"/>
      </dsp:txXfrm>
    </dsp:sp>
    <dsp:sp modelId="{A4C920A1-BF74-4B57-8BE6-7BFB0FDDE393}">
      <dsp:nvSpPr>
        <dsp:cNvPr id="0" name=""/>
        <dsp:cNvSpPr/>
      </dsp:nvSpPr>
      <dsp:spPr>
        <a:xfrm>
          <a:off x="5203707" y="2390110"/>
          <a:ext cx="293129" cy="468889"/>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5203707" y="2483888"/>
        <a:ext cx="205190" cy="281333"/>
      </dsp:txXfrm>
    </dsp:sp>
    <dsp:sp modelId="{78E25D81-274C-4B51-909E-F1C6A9EFA86A}">
      <dsp:nvSpPr>
        <dsp:cNvPr id="0" name=""/>
        <dsp:cNvSpPr/>
      </dsp:nvSpPr>
      <dsp:spPr>
        <a:xfrm>
          <a:off x="5635105" y="1935012"/>
          <a:ext cx="1379086" cy="1379086"/>
        </a:xfrm>
        <a:prstGeom prst="ellipse">
          <a:avLst/>
        </a:prstGeom>
        <a:solidFill>
          <a:schemeClr val="accent3">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GB" sz="1200" b="0" i="0" kern="1200" dirty="0" err="1"/>
            <a:t>Strategise</a:t>
          </a:r>
          <a:r>
            <a:rPr lang="en-GB" sz="1200" b="0" i="0" kern="1200" dirty="0"/>
            <a:t> competitively</a:t>
          </a:r>
        </a:p>
      </dsp:txBody>
      <dsp:txXfrm>
        <a:off x="5837067" y="2136974"/>
        <a:ext cx="975162" cy="975162"/>
      </dsp:txXfrm>
    </dsp:sp>
    <dsp:sp modelId="{24C02102-14FA-445B-B2F8-CCBC29D90295}">
      <dsp:nvSpPr>
        <dsp:cNvPr id="0" name=""/>
        <dsp:cNvSpPr/>
      </dsp:nvSpPr>
      <dsp:spPr>
        <a:xfrm rot="5400000">
          <a:off x="4245923" y="3347895"/>
          <a:ext cx="293129" cy="468889"/>
        </a:xfrm>
        <a:prstGeom prst="rightArrow">
          <a:avLst>
            <a:gd name="adj1" fmla="val 60000"/>
            <a:gd name="adj2" fmla="val 50000"/>
          </a:avLst>
        </a:prstGeom>
        <a:solidFill>
          <a:schemeClr val="accent4">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4289893" y="3397704"/>
        <a:ext cx="205190" cy="281333"/>
      </dsp:txXfrm>
    </dsp:sp>
    <dsp:sp modelId="{8FD954F6-00A9-433F-9E38-D1111AEE904D}">
      <dsp:nvSpPr>
        <dsp:cNvPr id="0" name=""/>
        <dsp:cNvSpPr/>
      </dsp:nvSpPr>
      <dsp:spPr>
        <a:xfrm>
          <a:off x="3702944" y="3867173"/>
          <a:ext cx="1379086" cy="1379086"/>
        </a:xfrm>
        <a:prstGeom prst="ellipse">
          <a:avLst/>
        </a:prstGeom>
        <a:solidFill>
          <a:schemeClr val="accent4">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GB" sz="1200" b="0" i="0" kern="1200" dirty="0"/>
            <a:t>Apply results beneficially</a:t>
          </a:r>
        </a:p>
      </dsp:txBody>
      <dsp:txXfrm>
        <a:off x="3904906" y="4069135"/>
        <a:ext cx="975162" cy="975162"/>
      </dsp:txXfrm>
    </dsp:sp>
    <dsp:sp modelId="{6CA755E3-EC64-4634-8B92-AB104D5FED09}">
      <dsp:nvSpPr>
        <dsp:cNvPr id="0" name=""/>
        <dsp:cNvSpPr/>
      </dsp:nvSpPr>
      <dsp:spPr>
        <a:xfrm rot="10800000">
          <a:off x="3288138" y="2390110"/>
          <a:ext cx="293129" cy="468889"/>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rot="10800000">
        <a:off x="3376077" y="2483888"/>
        <a:ext cx="205190" cy="281333"/>
      </dsp:txXfrm>
    </dsp:sp>
    <dsp:sp modelId="{314F8911-7F42-4682-97CC-1CFF235DD7E6}">
      <dsp:nvSpPr>
        <dsp:cNvPr id="0" name=""/>
        <dsp:cNvSpPr/>
      </dsp:nvSpPr>
      <dsp:spPr>
        <a:xfrm>
          <a:off x="1770783" y="1935012"/>
          <a:ext cx="1379086" cy="1379086"/>
        </a:xfrm>
        <a:prstGeom prst="ellipse">
          <a:avLst/>
        </a:prstGeom>
        <a:solidFill>
          <a:schemeClr val="accent5">
            <a:hueOff val="0"/>
            <a:satOff val="0"/>
            <a:lumOff val="0"/>
            <a:alphaOff val="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GB" sz="1200" b="0" i="0" kern="1200" dirty="0"/>
            <a:t>Communicate professionally</a:t>
          </a:r>
        </a:p>
      </dsp:txBody>
      <dsp:txXfrm>
        <a:off x="1972745" y="2136974"/>
        <a:ext cx="975162" cy="975162"/>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0.66499</cdr:x>
      <cdr:y>0.51048</cdr:y>
    </cdr:from>
    <cdr:to>
      <cdr:x>0.82957</cdr:x>
      <cdr:y>0.61858</cdr:y>
    </cdr:to>
    <cdr:sp macro="" textlink="">
      <cdr:nvSpPr>
        <cdr:cNvPr id="2" name="TextBox 8">
          <a:extLst xmlns:a="http://schemas.openxmlformats.org/drawingml/2006/main">
            <a:ext uri="{FF2B5EF4-FFF2-40B4-BE49-F238E27FC236}">
              <a16:creationId xmlns:a16="http://schemas.microsoft.com/office/drawing/2014/main" id="{EC56D3B8-3437-156E-8754-46804EDFD24E}"/>
            </a:ext>
          </a:extLst>
        </cdr:cNvPr>
        <cdr:cNvSpPr txBox="1"/>
      </cdr:nvSpPr>
      <cdr:spPr>
        <a:xfrm xmlns:a="http://schemas.openxmlformats.org/drawingml/2006/main">
          <a:off x="5472609" y="2460347"/>
          <a:ext cx="1354389" cy="520989"/>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a:lstStyle>
        <a:p xmlns:a="http://schemas.openxmlformats.org/drawingml/2006/main">
          <a:pPr algn="ctr"/>
          <a:r>
            <a:rPr lang="en-US" sz="1400" dirty="0"/>
            <a:t>Phase 3: Recovery</a:t>
          </a:r>
          <a:endParaRPr lang="en-GB" sz="14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1"/>
            <a:ext cx="2946256" cy="493713"/>
          </a:xfrm>
          <a:prstGeom prst="rect">
            <a:avLst/>
          </a:prstGeom>
          <a:noFill/>
          <a:ln w="9525">
            <a:noFill/>
            <a:miter lim="800000"/>
            <a:headEnd/>
            <a:tailEnd/>
          </a:ln>
          <a:effectLst/>
        </p:spPr>
        <p:txBody>
          <a:bodyPr vert="horz" wrap="square" lIns="92120" tIns="46060" rIns="92120" bIns="46060" numCol="1" anchor="t" anchorCtr="0" compatLnSpc="1">
            <a:prstTxWarp prst="textNoShape">
              <a:avLst/>
            </a:prstTxWarp>
          </a:bodyPr>
          <a:lstStyle>
            <a:lvl1pPr>
              <a:defRPr sz="1200">
                <a:latin typeface="Arial" charset="0"/>
              </a:defRPr>
            </a:lvl1pPr>
          </a:lstStyle>
          <a:p>
            <a:pPr>
              <a:defRPr/>
            </a:pPr>
            <a:endParaRPr lang="en-US" altLang="zh-TW"/>
          </a:p>
        </p:txBody>
      </p:sp>
      <p:sp>
        <p:nvSpPr>
          <p:cNvPr id="15363" name="Rectangle 3"/>
          <p:cNvSpPr>
            <a:spLocks noGrp="1" noChangeArrowheads="1"/>
          </p:cNvSpPr>
          <p:nvPr>
            <p:ph type="dt" sz="quarter" idx="1"/>
          </p:nvPr>
        </p:nvSpPr>
        <p:spPr bwMode="auto">
          <a:xfrm>
            <a:off x="3849796" y="1"/>
            <a:ext cx="2946255" cy="493713"/>
          </a:xfrm>
          <a:prstGeom prst="rect">
            <a:avLst/>
          </a:prstGeom>
          <a:noFill/>
          <a:ln w="9525">
            <a:noFill/>
            <a:miter lim="800000"/>
            <a:headEnd/>
            <a:tailEnd/>
          </a:ln>
          <a:effectLst/>
        </p:spPr>
        <p:txBody>
          <a:bodyPr vert="horz" wrap="square" lIns="92120" tIns="46060" rIns="92120" bIns="46060" numCol="1" anchor="t" anchorCtr="0" compatLnSpc="1">
            <a:prstTxWarp prst="textNoShape">
              <a:avLst/>
            </a:prstTxWarp>
          </a:bodyPr>
          <a:lstStyle>
            <a:lvl1pPr algn="r">
              <a:defRPr sz="1200">
                <a:latin typeface="Arial" charset="0"/>
              </a:defRPr>
            </a:lvl1pPr>
          </a:lstStyle>
          <a:p>
            <a:pPr>
              <a:defRPr/>
            </a:pPr>
            <a:endParaRPr lang="en-US" altLang="zh-TW"/>
          </a:p>
        </p:txBody>
      </p:sp>
      <p:sp>
        <p:nvSpPr>
          <p:cNvPr id="15364" name="Rectangle 4"/>
          <p:cNvSpPr>
            <a:spLocks noGrp="1" noChangeArrowheads="1"/>
          </p:cNvSpPr>
          <p:nvPr>
            <p:ph type="ftr" sz="quarter" idx="2"/>
          </p:nvPr>
        </p:nvSpPr>
        <p:spPr bwMode="auto">
          <a:xfrm>
            <a:off x="0" y="9377368"/>
            <a:ext cx="2946256" cy="493713"/>
          </a:xfrm>
          <a:prstGeom prst="rect">
            <a:avLst/>
          </a:prstGeom>
          <a:noFill/>
          <a:ln w="9525">
            <a:noFill/>
            <a:miter lim="800000"/>
            <a:headEnd/>
            <a:tailEnd/>
          </a:ln>
          <a:effectLst/>
        </p:spPr>
        <p:txBody>
          <a:bodyPr vert="horz" wrap="square" lIns="92120" tIns="46060" rIns="92120" bIns="46060" numCol="1" anchor="b" anchorCtr="0" compatLnSpc="1">
            <a:prstTxWarp prst="textNoShape">
              <a:avLst/>
            </a:prstTxWarp>
          </a:bodyPr>
          <a:lstStyle>
            <a:lvl1pPr>
              <a:defRPr sz="1200">
                <a:latin typeface="Arial" charset="0"/>
              </a:defRPr>
            </a:lvl1pPr>
          </a:lstStyle>
          <a:p>
            <a:pPr>
              <a:defRPr/>
            </a:pPr>
            <a:endParaRPr lang="en-US" altLang="zh-TW"/>
          </a:p>
        </p:txBody>
      </p:sp>
      <p:sp>
        <p:nvSpPr>
          <p:cNvPr id="15365" name="Rectangle 5"/>
          <p:cNvSpPr>
            <a:spLocks noGrp="1" noChangeArrowheads="1"/>
          </p:cNvSpPr>
          <p:nvPr>
            <p:ph type="sldNum" sz="quarter" idx="3"/>
          </p:nvPr>
        </p:nvSpPr>
        <p:spPr bwMode="auto">
          <a:xfrm>
            <a:off x="3849796" y="9377368"/>
            <a:ext cx="2946255" cy="493713"/>
          </a:xfrm>
          <a:prstGeom prst="rect">
            <a:avLst/>
          </a:prstGeom>
          <a:noFill/>
          <a:ln w="9525">
            <a:noFill/>
            <a:miter lim="800000"/>
            <a:headEnd/>
            <a:tailEnd/>
          </a:ln>
          <a:effectLst/>
        </p:spPr>
        <p:txBody>
          <a:bodyPr vert="horz" wrap="square" lIns="92120" tIns="46060" rIns="92120" bIns="46060" numCol="1" anchor="b" anchorCtr="0" compatLnSpc="1">
            <a:prstTxWarp prst="textNoShape">
              <a:avLst/>
            </a:prstTxWarp>
          </a:bodyPr>
          <a:lstStyle>
            <a:lvl1pPr algn="r">
              <a:defRPr sz="1200">
                <a:latin typeface="Arial" charset="0"/>
              </a:defRPr>
            </a:lvl1pPr>
          </a:lstStyle>
          <a:p>
            <a:pPr>
              <a:defRPr/>
            </a:pPr>
            <a:fld id="{251FCE75-B5DA-406F-AE44-9B4F05B2A511}" type="slidenum">
              <a:rPr lang="en-US" altLang="zh-TW"/>
              <a:pPr>
                <a:defRPr/>
              </a:pPr>
              <a:t>‹#›</a:t>
            </a:fld>
            <a:endParaRPr lang="en-US" altLang="zh-TW" dirty="0"/>
          </a:p>
        </p:txBody>
      </p:sp>
    </p:spTree>
    <p:extLst>
      <p:ext uri="{BB962C8B-B14F-4D97-AF65-F5344CB8AC3E}">
        <p14:creationId xmlns:p14="http://schemas.microsoft.com/office/powerpoint/2010/main" val="1951555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1"/>
            <a:ext cx="2946256" cy="493713"/>
          </a:xfrm>
          <a:prstGeom prst="rect">
            <a:avLst/>
          </a:prstGeom>
          <a:noFill/>
          <a:ln w="9525">
            <a:noFill/>
            <a:miter lim="800000"/>
            <a:headEnd/>
            <a:tailEnd/>
          </a:ln>
          <a:effectLst/>
        </p:spPr>
        <p:txBody>
          <a:bodyPr vert="horz" wrap="square" lIns="92120" tIns="46060" rIns="92120" bIns="46060" numCol="1" anchor="t" anchorCtr="0" compatLnSpc="1">
            <a:prstTxWarp prst="textNoShape">
              <a:avLst/>
            </a:prstTxWarp>
          </a:bodyPr>
          <a:lstStyle>
            <a:lvl1pPr>
              <a:defRPr sz="1200">
                <a:latin typeface="Arial" charset="0"/>
              </a:defRPr>
            </a:lvl1pPr>
          </a:lstStyle>
          <a:p>
            <a:pPr>
              <a:defRPr/>
            </a:pPr>
            <a:endParaRPr lang="en-US" altLang="zh-TW"/>
          </a:p>
        </p:txBody>
      </p:sp>
      <p:sp>
        <p:nvSpPr>
          <p:cNvPr id="28675" name="Rectangle 3"/>
          <p:cNvSpPr>
            <a:spLocks noGrp="1" noChangeArrowheads="1"/>
          </p:cNvSpPr>
          <p:nvPr>
            <p:ph type="dt" idx="1"/>
          </p:nvPr>
        </p:nvSpPr>
        <p:spPr bwMode="auto">
          <a:xfrm>
            <a:off x="3849796" y="1"/>
            <a:ext cx="2946255" cy="493713"/>
          </a:xfrm>
          <a:prstGeom prst="rect">
            <a:avLst/>
          </a:prstGeom>
          <a:noFill/>
          <a:ln w="9525">
            <a:noFill/>
            <a:miter lim="800000"/>
            <a:headEnd/>
            <a:tailEnd/>
          </a:ln>
          <a:effectLst/>
        </p:spPr>
        <p:txBody>
          <a:bodyPr vert="horz" wrap="square" lIns="92120" tIns="46060" rIns="92120" bIns="46060" numCol="1" anchor="t" anchorCtr="0" compatLnSpc="1">
            <a:prstTxWarp prst="textNoShape">
              <a:avLst/>
            </a:prstTxWarp>
          </a:bodyPr>
          <a:lstStyle>
            <a:lvl1pPr algn="r">
              <a:defRPr sz="1200">
                <a:latin typeface="Arial" charset="0"/>
              </a:defRPr>
            </a:lvl1pPr>
          </a:lstStyle>
          <a:p>
            <a:pPr>
              <a:defRPr/>
            </a:pPr>
            <a:endParaRPr lang="en-US" altLang="zh-TW"/>
          </a:p>
        </p:txBody>
      </p:sp>
      <p:sp>
        <p:nvSpPr>
          <p:cNvPr id="35844" name="Rectangle 4"/>
          <p:cNvSpPr>
            <a:spLocks noGrp="1" noRot="1" noChangeAspect="1" noChangeArrowheads="1" noTextEdit="1"/>
          </p:cNvSpPr>
          <p:nvPr>
            <p:ph type="sldImg" idx="2"/>
          </p:nvPr>
        </p:nvSpPr>
        <p:spPr bwMode="auto">
          <a:xfrm>
            <a:off x="107950" y="741363"/>
            <a:ext cx="6581775" cy="37036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p:cNvSpPr>
            <a:spLocks noGrp="1" noChangeArrowheads="1"/>
          </p:cNvSpPr>
          <p:nvPr>
            <p:ph type="body" sz="quarter" idx="3"/>
          </p:nvPr>
        </p:nvSpPr>
        <p:spPr bwMode="auto">
          <a:xfrm>
            <a:off x="679280" y="4690267"/>
            <a:ext cx="5439116" cy="4441829"/>
          </a:xfrm>
          <a:prstGeom prst="rect">
            <a:avLst/>
          </a:prstGeom>
          <a:noFill/>
          <a:ln w="9525">
            <a:noFill/>
            <a:miter lim="800000"/>
            <a:headEnd/>
            <a:tailEnd/>
          </a:ln>
          <a:effectLst/>
        </p:spPr>
        <p:txBody>
          <a:bodyPr vert="horz" wrap="square" lIns="92120" tIns="46060" rIns="92120" bIns="46060"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28678" name="Rectangle 6"/>
          <p:cNvSpPr>
            <a:spLocks noGrp="1" noChangeArrowheads="1"/>
          </p:cNvSpPr>
          <p:nvPr>
            <p:ph type="ftr" sz="quarter" idx="4"/>
          </p:nvPr>
        </p:nvSpPr>
        <p:spPr bwMode="auto">
          <a:xfrm>
            <a:off x="0" y="9377368"/>
            <a:ext cx="2946256" cy="493713"/>
          </a:xfrm>
          <a:prstGeom prst="rect">
            <a:avLst/>
          </a:prstGeom>
          <a:noFill/>
          <a:ln w="9525">
            <a:noFill/>
            <a:miter lim="800000"/>
            <a:headEnd/>
            <a:tailEnd/>
          </a:ln>
          <a:effectLst/>
        </p:spPr>
        <p:txBody>
          <a:bodyPr vert="horz" wrap="square" lIns="92120" tIns="46060" rIns="92120" bIns="46060" numCol="1" anchor="b" anchorCtr="0" compatLnSpc="1">
            <a:prstTxWarp prst="textNoShape">
              <a:avLst/>
            </a:prstTxWarp>
          </a:bodyPr>
          <a:lstStyle>
            <a:lvl1pPr>
              <a:defRPr sz="1200">
                <a:latin typeface="Arial" charset="0"/>
              </a:defRPr>
            </a:lvl1pPr>
          </a:lstStyle>
          <a:p>
            <a:pPr>
              <a:defRPr/>
            </a:pPr>
            <a:endParaRPr lang="en-US" altLang="zh-TW"/>
          </a:p>
        </p:txBody>
      </p:sp>
      <p:sp>
        <p:nvSpPr>
          <p:cNvPr id="28679" name="Rectangle 7"/>
          <p:cNvSpPr>
            <a:spLocks noGrp="1" noChangeArrowheads="1"/>
          </p:cNvSpPr>
          <p:nvPr>
            <p:ph type="sldNum" sz="quarter" idx="5"/>
          </p:nvPr>
        </p:nvSpPr>
        <p:spPr bwMode="auto">
          <a:xfrm>
            <a:off x="3849796" y="9377368"/>
            <a:ext cx="2946255" cy="493713"/>
          </a:xfrm>
          <a:prstGeom prst="rect">
            <a:avLst/>
          </a:prstGeom>
          <a:noFill/>
          <a:ln w="9525">
            <a:noFill/>
            <a:miter lim="800000"/>
            <a:headEnd/>
            <a:tailEnd/>
          </a:ln>
          <a:effectLst/>
        </p:spPr>
        <p:txBody>
          <a:bodyPr vert="horz" wrap="square" lIns="92120" tIns="46060" rIns="92120" bIns="46060" numCol="1" anchor="b" anchorCtr="0" compatLnSpc="1">
            <a:prstTxWarp prst="textNoShape">
              <a:avLst/>
            </a:prstTxWarp>
          </a:bodyPr>
          <a:lstStyle>
            <a:lvl1pPr algn="r">
              <a:defRPr sz="1200">
                <a:latin typeface="Arial" charset="0"/>
              </a:defRPr>
            </a:lvl1pPr>
          </a:lstStyle>
          <a:p>
            <a:pPr>
              <a:defRPr/>
            </a:pPr>
            <a:fld id="{D5C32E37-AED5-4ABE-90BA-F5B710436CED}" type="slidenum">
              <a:rPr lang="en-US" altLang="zh-TW"/>
              <a:pPr>
                <a:defRPr/>
              </a:pPr>
              <a:t>‹#›</a:t>
            </a:fld>
            <a:endParaRPr lang="en-US" altLang="zh-TW" dirty="0"/>
          </a:p>
        </p:txBody>
      </p:sp>
    </p:spTree>
    <p:extLst>
      <p:ext uri="{BB962C8B-B14F-4D97-AF65-F5344CB8AC3E}">
        <p14:creationId xmlns:p14="http://schemas.microsoft.com/office/powerpoint/2010/main" val="5914294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新細明體" pitchFamily="18" charset="-120"/>
              </a:defRPr>
            </a:lvl1pPr>
            <a:lvl2pPr marL="748481" indent="-287878" eaLnBrk="0" hangingPunct="0">
              <a:defRPr kumimoji="1">
                <a:solidFill>
                  <a:schemeClr val="tx1"/>
                </a:solidFill>
                <a:latin typeface="Arial" charset="0"/>
                <a:ea typeface="新細明體" pitchFamily="18" charset="-120"/>
              </a:defRPr>
            </a:lvl2pPr>
            <a:lvl3pPr marL="1151509" indent="-230302" eaLnBrk="0" hangingPunct="0">
              <a:defRPr kumimoji="1">
                <a:solidFill>
                  <a:schemeClr val="tx1"/>
                </a:solidFill>
                <a:latin typeface="Arial" charset="0"/>
                <a:ea typeface="新細明體" pitchFamily="18" charset="-120"/>
              </a:defRPr>
            </a:lvl3pPr>
            <a:lvl4pPr marL="1612112" indent="-230302" eaLnBrk="0" hangingPunct="0">
              <a:defRPr kumimoji="1">
                <a:solidFill>
                  <a:schemeClr val="tx1"/>
                </a:solidFill>
                <a:latin typeface="Arial" charset="0"/>
                <a:ea typeface="新細明體" pitchFamily="18" charset="-120"/>
              </a:defRPr>
            </a:lvl4pPr>
            <a:lvl5pPr marL="2072716" indent="-230302" eaLnBrk="0" hangingPunct="0">
              <a:defRPr kumimoji="1">
                <a:solidFill>
                  <a:schemeClr val="tx1"/>
                </a:solidFill>
                <a:latin typeface="Arial" charset="0"/>
                <a:ea typeface="新細明體" pitchFamily="18" charset="-120"/>
              </a:defRPr>
            </a:lvl5pPr>
            <a:lvl6pPr marL="2533320" indent="-230302" eaLnBrk="0" fontAlgn="base" hangingPunct="0">
              <a:spcBef>
                <a:spcPct val="0"/>
              </a:spcBef>
              <a:spcAft>
                <a:spcPct val="0"/>
              </a:spcAft>
              <a:defRPr kumimoji="1">
                <a:solidFill>
                  <a:schemeClr val="tx1"/>
                </a:solidFill>
                <a:latin typeface="Arial" charset="0"/>
                <a:ea typeface="新細明體" pitchFamily="18" charset="-120"/>
              </a:defRPr>
            </a:lvl6pPr>
            <a:lvl7pPr marL="2993923" indent="-230302" eaLnBrk="0" fontAlgn="base" hangingPunct="0">
              <a:spcBef>
                <a:spcPct val="0"/>
              </a:spcBef>
              <a:spcAft>
                <a:spcPct val="0"/>
              </a:spcAft>
              <a:defRPr kumimoji="1">
                <a:solidFill>
                  <a:schemeClr val="tx1"/>
                </a:solidFill>
                <a:latin typeface="Arial" charset="0"/>
                <a:ea typeface="新細明體" pitchFamily="18" charset="-120"/>
              </a:defRPr>
            </a:lvl7pPr>
            <a:lvl8pPr marL="3454527" indent="-230302" eaLnBrk="0" fontAlgn="base" hangingPunct="0">
              <a:spcBef>
                <a:spcPct val="0"/>
              </a:spcBef>
              <a:spcAft>
                <a:spcPct val="0"/>
              </a:spcAft>
              <a:defRPr kumimoji="1">
                <a:solidFill>
                  <a:schemeClr val="tx1"/>
                </a:solidFill>
                <a:latin typeface="Arial" charset="0"/>
                <a:ea typeface="新細明體" pitchFamily="18" charset="-120"/>
              </a:defRPr>
            </a:lvl8pPr>
            <a:lvl9pPr marL="3915130" indent="-230302"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771B7F54-6965-47E8-862E-14FE53BB6D4A}" type="slidenum">
              <a:rPr lang="en-US" altLang="zh-TW" smtClean="0"/>
              <a:pPr eaLnBrk="1" hangingPunct="1"/>
              <a:t>4</a:t>
            </a:fld>
            <a:endParaRPr lang="en-US" altLang="zh-TW"/>
          </a:p>
        </p:txBody>
      </p:sp>
      <p:sp>
        <p:nvSpPr>
          <p:cNvPr id="36867" name="Rectangle 2"/>
          <p:cNvSpPr>
            <a:spLocks noGrp="1" noRot="1" noChangeAspect="1" noChangeArrowheads="1" noTextEdit="1"/>
          </p:cNvSpPr>
          <p:nvPr>
            <p:ph type="sldImg"/>
          </p:nvPr>
        </p:nvSpPr>
        <p:spPr>
          <a:xfrm>
            <a:off x="107950" y="741363"/>
            <a:ext cx="6581775" cy="3703637"/>
          </a:xfrm>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TW"/>
          </a:p>
        </p:txBody>
      </p:sp>
    </p:spTree>
    <p:extLst>
      <p:ext uri="{BB962C8B-B14F-4D97-AF65-F5344CB8AC3E}">
        <p14:creationId xmlns:p14="http://schemas.microsoft.com/office/powerpoint/2010/main" val="3769159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950" y="741363"/>
            <a:ext cx="6581775" cy="3703637"/>
          </a:xfrm>
        </p:spPr>
      </p:sp>
      <p:sp>
        <p:nvSpPr>
          <p:cNvPr id="3" name="Notes Placeholder 2"/>
          <p:cNvSpPr>
            <a:spLocks noGrp="1"/>
          </p:cNvSpPr>
          <p:nvPr>
            <p:ph type="body" idx="1"/>
          </p:nvPr>
        </p:nvSpPr>
        <p:spPr/>
        <p:txBody>
          <a:bodyPr/>
          <a:lstStyle/>
          <a:p>
            <a:pPr defTabSz="910194" eaLnBrk="1" fontAlgn="auto" hangingPunct="1">
              <a:spcBef>
                <a:spcPts val="0"/>
              </a:spcBef>
              <a:spcAft>
                <a:spcPts val="0"/>
              </a:spcAft>
              <a:defRPr/>
            </a:pPr>
            <a:r>
              <a:rPr lang="en-US" dirty="0">
                <a:latin typeface="+mn-lt"/>
                <a:ea typeface="+mn-ea"/>
              </a:rPr>
              <a:t>a group of researchers followed up nearly a hundred postgraduate students in 3 universities in the eastern USA and assessed their ability in writing research proposal with and without teaching duties.  They found that when postgraduate students have research and teaching duties, they could produce better quality in testable hypotheses and valid experimental design compared to those students with research only. They concluded that teaching experience can contribute substantially to the improvement of essential research skills.</a:t>
            </a:r>
          </a:p>
          <a:p>
            <a:endParaRPr lang="en-US" dirty="0"/>
          </a:p>
        </p:txBody>
      </p:sp>
      <p:sp>
        <p:nvSpPr>
          <p:cNvPr id="4" name="Slide Number Placeholder 3"/>
          <p:cNvSpPr>
            <a:spLocks noGrp="1"/>
          </p:cNvSpPr>
          <p:nvPr>
            <p:ph type="sldNum" sz="quarter" idx="10"/>
          </p:nvPr>
        </p:nvSpPr>
        <p:spPr/>
        <p:txBody>
          <a:bodyPr/>
          <a:lstStyle/>
          <a:p>
            <a:fld id="{F28E7874-8E80-E345-AA37-83B5EDC9AFB4}" type="slidenum">
              <a:rPr lang="en-US" smtClean="0"/>
              <a:t>14</a:t>
            </a:fld>
            <a:endParaRPr lang="en-US"/>
          </a:p>
        </p:txBody>
      </p:sp>
    </p:spTree>
    <p:extLst>
      <p:ext uri="{BB962C8B-B14F-4D97-AF65-F5344CB8AC3E}">
        <p14:creationId xmlns:p14="http://schemas.microsoft.com/office/powerpoint/2010/main" val="3496742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950" y="741363"/>
            <a:ext cx="6581775" cy="37036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427DF4-9C98-40B5-BF2A-13D456AD2FB5}" type="slidenum">
              <a:rPr lang="en-US" smtClean="0"/>
              <a:pPr/>
              <a:t>17</a:t>
            </a:fld>
            <a:endParaRPr lang="en-US" dirty="0"/>
          </a:p>
        </p:txBody>
      </p:sp>
    </p:spTree>
    <p:extLst>
      <p:ext uri="{BB962C8B-B14F-4D97-AF65-F5344CB8AC3E}">
        <p14:creationId xmlns:p14="http://schemas.microsoft.com/office/powerpoint/2010/main" val="244861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07950" y="741363"/>
            <a:ext cx="6581775" cy="3703637"/>
          </a:xfrm>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Source: http://mw2.google.com/mw-panoramio/photos/medium/25657078.jpg</a:t>
            </a:r>
          </a:p>
          <a:p>
            <a:r>
              <a:rPr lang="en-US" dirty="0"/>
              <a:t>Source: http://tkfiles.storage.live.com/y1pPVQf4A71_mC8XZ6HE8ah86g0LrC6Kw0fB0sIafbKF6KEKyh1dLCbojv4mMiXrc0oU19DvodOq68</a:t>
            </a:r>
          </a:p>
          <a:p>
            <a:endParaRPr 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新細明體" pitchFamily="18" charset="-120"/>
              </a:defRPr>
            </a:lvl1pPr>
            <a:lvl2pPr marL="748481" indent="-287878" eaLnBrk="0" hangingPunct="0">
              <a:defRPr kumimoji="1">
                <a:solidFill>
                  <a:schemeClr val="tx1"/>
                </a:solidFill>
                <a:latin typeface="Arial" charset="0"/>
                <a:ea typeface="新細明體" pitchFamily="18" charset="-120"/>
              </a:defRPr>
            </a:lvl2pPr>
            <a:lvl3pPr marL="1151509" indent="-230302" eaLnBrk="0" hangingPunct="0">
              <a:defRPr kumimoji="1">
                <a:solidFill>
                  <a:schemeClr val="tx1"/>
                </a:solidFill>
                <a:latin typeface="Arial" charset="0"/>
                <a:ea typeface="新細明體" pitchFamily="18" charset="-120"/>
              </a:defRPr>
            </a:lvl3pPr>
            <a:lvl4pPr marL="1612112" indent="-230302" eaLnBrk="0" hangingPunct="0">
              <a:defRPr kumimoji="1">
                <a:solidFill>
                  <a:schemeClr val="tx1"/>
                </a:solidFill>
                <a:latin typeface="Arial" charset="0"/>
                <a:ea typeface="新細明體" pitchFamily="18" charset="-120"/>
              </a:defRPr>
            </a:lvl4pPr>
            <a:lvl5pPr marL="2072716" indent="-230302" eaLnBrk="0" hangingPunct="0">
              <a:defRPr kumimoji="1">
                <a:solidFill>
                  <a:schemeClr val="tx1"/>
                </a:solidFill>
                <a:latin typeface="Arial" charset="0"/>
                <a:ea typeface="新細明體" pitchFamily="18" charset="-120"/>
              </a:defRPr>
            </a:lvl5pPr>
            <a:lvl6pPr marL="2533320" indent="-230302" eaLnBrk="0" fontAlgn="base" hangingPunct="0">
              <a:spcBef>
                <a:spcPct val="0"/>
              </a:spcBef>
              <a:spcAft>
                <a:spcPct val="0"/>
              </a:spcAft>
              <a:defRPr kumimoji="1">
                <a:solidFill>
                  <a:schemeClr val="tx1"/>
                </a:solidFill>
                <a:latin typeface="Arial" charset="0"/>
                <a:ea typeface="新細明體" pitchFamily="18" charset="-120"/>
              </a:defRPr>
            </a:lvl6pPr>
            <a:lvl7pPr marL="2993923" indent="-230302" eaLnBrk="0" fontAlgn="base" hangingPunct="0">
              <a:spcBef>
                <a:spcPct val="0"/>
              </a:spcBef>
              <a:spcAft>
                <a:spcPct val="0"/>
              </a:spcAft>
              <a:defRPr kumimoji="1">
                <a:solidFill>
                  <a:schemeClr val="tx1"/>
                </a:solidFill>
                <a:latin typeface="Arial" charset="0"/>
                <a:ea typeface="新細明體" pitchFamily="18" charset="-120"/>
              </a:defRPr>
            </a:lvl7pPr>
            <a:lvl8pPr marL="3454527" indent="-230302" eaLnBrk="0" fontAlgn="base" hangingPunct="0">
              <a:spcBef>
                <a:spcPct val="0"/>
              </a:spcBef>
              <a:spcAft>
                <a:spcPct val="0"/>
              </a:spcAft>
              <a:defRPr kumimoji="1">
                <a:solidFill>
                  <a:schemeClr val="tx1"/>
                </a:solidFill>
                <a:latin typeface="Arial" charset="0"/>
                <a:ea typeface="新細明體" pitchFamily="18" charset="-120"/>
              </a:defRPr>
            </a:lvl8pPr>
            <a:lvl9pPr marL="3915130" indent="-230302"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655492D7-905D-4C47-A501-ED07E4B25FD6}" type="slidenum">
              <a:rPr lang="en-US" altLang="zh-TW" smtClean="0"/>
              <a:pPr eaLnBrk="1" hangingPunct="1"/>
              <a:t>23</a:t>
            </a:fld>
            <a:endParaRPr lang="en-US" altLang="zh-TW" dirty="0"/>
          </a:p>
        </p:txBody>
      </p:sp>
    </p:spTree>
    <p:extLst>
      <p:ext uri="{BB962C8B-B14F-4D97-AF65-F5344CB8AC3E}">
        <p14:creationId xmlns:p14="http://schemas.microsoft.com/office/powerpoint/2010/main" val="2622129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en-US" altLang="zh-TW"/>
          </a:p>
        </p:txBody>
      </p:sp>
      <p:sp>
        <p:nvSpPr>
          <p:cNvPr id="6" name="Slide Number Placeholder 5"/>
          <p:cNvSpPr>
            <a:spLocks noGrp="1"/>
          </p:cNvSpPr>
          <p:nvPr>
            <p:ph type="sldNum" sz="quarter" idx="12"/>
          </p:nvPr>
        </p:nvSpPr>
        <p:spPr/>
        <p:txBody>
          <a:bodyPr/>
          <a:lstStyle/>
          <a:p>
            <a:pPr>
              <a:defRPr/>
            </a:pPr>
            <a:fld id="{1D17F664-5604-41DE-9D64-31366C20B6F9}" type="slidenum">
              <a:rPr lang="en-US" altLang="zh-TW" smtClean="0"/>
              <a:pPr>
                <a:defRPr/>
              </a:pPr>
              <a:t>‹#›</a:t>
            </a:fld>
            <a:endParaRPr lang="en-US" altLang="zh-TW" dirty="0"/>
          </a:p>
        </p:txBody>
      </p:sp>
    </p:spTree>
    <p:extLst>
      <p:ext uri="{BB962C8B-B14F-4D97-AF65-F5344CB8AC3E}">
        <p14:creationId xmlns:p14="http://schemas.microsoft.com/office/powerpoint/2010/main" val="291016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en-US" altLang="zh-TW"/>
          </a:p>
        </p:txBody>
      </p:sp>
      <p:sp>
        <p:nvSpPr>
          <p:cNvPr id="6" name="Slide Number Placeholder 5"/>
          <p:cNvSpPr>
            <a:spLocks noGrp="1"/>
          </p:cNvSpPr>
          <p:nvPr>
            <p:ph type="sldNum" sz="quarter" idx="12"/>
          </p:nvPr>
        </p:nvSpPr>
        <p:spPr/>
        <p:txBody>
          <a:bodyPr/>
          <a:lstStyle/>
          <a:p>
            <a:pPr>
              <a:defRPr/>
            </a:pPr>
            <a:fld id="{6083F8EF-996E-4349-AC07-DBF324BBB722}" type="slidenum">
              <a:rPr lang="en-US" altLang="zh-TW" smtClean="0"/>
              <a:pPr>
                <a:defRPr/>
              </a:pPr>
              <a:t>‹#›</a:t>
            </a:fld>
            <a:endParaRPr lang="en-US" altLang="zh-TW" dirty="0"/>
          </a:p>
        </p:txBody>
      </p:sp>
    </p:spTree>
    <p:extLst>
      <p:ext uri="{BB962C8B-B14F-4D97-AF65-F5344CB8AC3E}">
        <p14:creationId xmlns:p14="http://schemas.microsoft.com/office/powerpoint/2010/main" val="468705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en-US" altLang="zh-TW"/>
          </a:p>
        </p:txBody>
      </p:sp>
      <p:sp>
        <p:nvSpPr>
          <p:cNvPr id="6" name="Slide Number Placeholder 5"/>
          <p:cNvSpPr>
            <a:spLocks noGrp="1"/>
          </p:cNvSpPr>
          <p:nvPr>
            <p:ph type="sldNum" sz="quarter" idx="12"/>
          </p:nvPr>
        </p:nvSpPr>
        <p:spPr/>
        <p:txBody>
          <a:bodyPr/>
          <a:lstStyle/>
          <a:p>
            <a:pPr>
              <a:defRPr/>
            </a:pPr>
            <a:fld id="{9CB4C935-4246-42C5-8A66-72C2480BCED3}" type="slidenum">
              <a:rPr lang="en-US" altLang="zh-TW" smtClean="0"/>
              <a:pPr>
                <a:defRPr/>
              </a:pPr>
              <a:t>‹#›</a:t>
            </a:fld>
            <a:endParaRPr lang="en-US" altLang="zh-TW" dirty="0"/>
          </a:p>
        </p:txBody>
      </p:sp>
    </p:spTree>
    <p:extLst>
      <p:ext uri="{BB962C8B-B14F-4D97-AF65-F5344CB8AC3E}">
        <p14:creationId xmlns:p14="http://schemas.microsoft.com/office/powerpoint/2010/main" val="1474726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pPr>
              <a:defRPr/>
            </a:pPr>
            <a:endParaRPr lang="en-US" altLang="zh-TW"/>
          </a:p>
        </p:txBody>
      </p:sp>
      <p:sp>
        <p:nvSpPr>
          <p:cNvPr id="9" name="Footer Placeholder 8"/>
          <p:cNvSpPr>
            <a:spLocks noGrp="1"/>
          </p:cNvSpPr>
          <p:nvPr>
            <p:ph type="ftr" sz="quarter" idx="11"/>
          </p:nvPr>
        </p:nvSpPr>
        <p:spPr/>
        <p:txBody>
          <a:bodyPr/>
          <a:lstStyle/>
          <a:p>
            <a:pPr>
              <a:defRPr/>
            </a:pPr>
            <a:endParaRPr lang="en-US" altLang="zh-TW"/>
          </a:p>
        </p:txBody>
      </p:sp>
      <p:sp>
        <p:nvSpPr>
          <p:cNvPr id="10" name="Slide Number Placeholder 9"/>
          <p:cNvSpPr>
            <a:spLocks noGrp="1"/>
          </p:cNvSpPr>
          <p:nvPr>
            <p:ph type="sldNum" sz="quarter" idx="12"/>
          </p:nvPr>
        </p:nvSpPr>
        <p:spPr/>
        <p:txBody>
          <a:bodyPr/>
          <a:lstStyle/>
          <a:p>
            <a:pPr>
              <a:defRPr/>
            </a:pPr>
            <a:fld id="{09FE572B-0BFA-445C-9D21-D1A972E79AF9}" type="slidenum">
              <a:rPr lang="en-US" altLang="zh-TW" smtClean="0"/>
              <a:pPr>
                <a:defRPr/>
              </a:pPr>
              <a:t>‹#›</a:t>
            </a:fld>
            <a:endParaRPr lang="en-US" altLang="zh-TW" dirty="0"/>
          </a:p>
        </p:txBody>
      </p:sp>
    </p:spTree>
    <p:extLst>
      <p:ext uri="{BB962C8B-B14F-4D97-AF65-F5344CB8AC3E}">
        <p14:creationId xmlns:p14="http://schemas.microsoft.com/office/powerpoint/2010/main" val="229669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pPr>
              <a:defRPr/>
            </a:pPr>
            <a:endParaRPr lang="en-US" altLang="zh-TW"/>
          </a:p>
        </p:txBody>
      </p:sp>
      <p:sp>
        <p:nvSpPr>
          <p:cNvPr id="11" name="Footer Placeholder 10"/>
          <p:cNvSpPr>
            <a:spLocks noGrp="1"/>
          </p:cNvSpPr>
          <p:nvPr>
            <p:ph type="ftr" sz="quarter" idx="11"/>
          </p:nvPr>
        </p:nvSpPr>
        <p:spPr/>
        <p:txBody>
          <a:bodyPr/>
          <a:lstStyle/>
          <a:p>
            <a:pPr>
              <a:defRPr/>
            </a:pPr>
            <a:endParaRPr lang="en-US" altLang="zh-TW"/>
          </a:p>
        </p:txBody>
      </p:sp>
      <p:sp>
        <p:nvSpPr>
          <p:cNvPr id="12" name="Slide Number Placeholder 11"/>
          <p:cNvSpPr>
            <a:spLocks noGrp="1"/>
          </p:cNvSpPr>
          <p:nvPr>
            <p:ph type="sldNum" sz="quarter" idx="12"/>
          </p:nvPr>
        </p:nvSpPr>
        <p:spPr/>
        <p:txBody>
          <a:bodyPr/>
          <a:lstStyle/>
          <a:p>
            <a:pPr>
              <a:defRPr/>
            </a:pPr>
            <a:fld id="{C3DE00FE-6AD0-4B93-9302-0407C6970847}" type="slidenum">
              <a:rPr lang="en-US" altLang="zh-TW" smtClean="0"/>
              <a:pPr>
                <a:defRPr/>
              </a:pPr>
              <a:t>‹#›</a:t>
            </a:fld>
            <a:endParaRPr lang="en-US" altLang="zh-TW" dirty="0"/>
          </a:p>
        </p:txBody>
      </p:sp>
    </p:spTree>
    <p:extLst>
      <p:ext uri="{BB962C8B-B14F-4D97-AF65-F5344CB8AC3E}">
        <p14:creationId xmlns:p14="http://schemas.microsoft.com/office/powerpoint/2010/main" val="1563941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pPr>
              <a:defRPr/>
            </a:pPr>
            <a:endParaRPr lang="en-US" altLang="zh-TW"/>
          </a:p>
        </p:txBody>
      </p:sp>
      <p:sp>
        <p:nvSpPr>
          <p:cNvPr id="7" name="Footer Placeholder 6"/>
          <p:cNvSpPr>
            <a:spLocks noGrp="1"/>
          </p:cNvSpPr>
          <p:nvPr>
            <p:ph type="ftr" sz="quarter" idx="11"/>
          </p:nvPr>
        </p:nvSpPr>
        <p:spPr/>
        <p:txBody>
          <a:bodyPr/>
          <a:lstStyle/>
          <a:p>
            <a:pPr>
              <a:defRPr/>
            </a:pPr>
            <a:endParaRPr lang="en-US" altLang="zh-TW"/>
          </a:p>
        </p:txBody>
      </p:sp>
      <p:sp>
        <p:nvSpPr>
          <p:cNvPr id="8" name="Slide Number Placeholder 7"/>
          <p:cNvSpPr>
            <a:spLocks noGrp="1"/>
          </p:cNvSpPr>
          <p:nvPr>
            <p:ph type="sldNum" sz="quarter" idx="12"/>
          </p:nvPr>
        </p:nvSpPr>
        <p:spPr/>
        <p:txBody>
          <a:bodyPr/>
          <a:lstStyle/>
          <a:p>
            <a:pPr>
              <a:defRPr/>
            </a:pPr>
            <a:fld id="{8B0F5EF4-D082-415A-9D67-D8FB4E5672D5}" type="slidenum">
              <a:rPr lang="en-US" altLang="zh-TW" smtClean="0"/>
              <a:pPr>
                <a:defRPr/>
              </a:pPr>
              <a:t>‹#›</a:t>
            </a:fld>
            <a:endParaRPr lang="en-US" altLang="zh-TW" dirty="0"/>
          </a:p>
        </p:txBody>
      </p:sp>
    </p:spTree>
    <p:extLst>
      <p:ext uri="{BB962C8B-B14F-4D97-AF65-F5344CB8AC3E}">
        <p14:creationId xmlns:p14="http://schemas.microsoft.com/office/powerpoint/2010/main" val="2980220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pPr>
              <a:defRPr/>
            </a:pPr>
            <a:endParaRPr lang="en-US" altLang="zh-TW"/>
          </a:p>
        </p:txBody>
      </p:sp>
      <p:sp>
        <p:nvSpPr>
          <p:cNvPr id="6" name="Footer Placeholder 5"/>
          <p:cNvSpPr>
            <a:spLocks noGrp="1"/>
          </p:cNvSpPr>
          <p:nvPr>
            <p:ph type="ftr" sz="quarter" idx="11"/>
          </p:nvPr>
        </p:nvSpPr>
        <p:spPr/>
        <p:txBody>
          <a:bodyPr/>
          <a:lstStyle/>
          <a:p>
            <a:pPr>
              <a:defRPr/>
            </a:pPr>
            <a:endParaRPr lang="en-US" altLang="zh-TW"/>
          </a:p>
        </p:txBody>
      </p:sp>
      <p:sp>
        <p:nvSpPr>
          <p:cNvPr id="7" name="Slide Number Placeholder 6"/>
          <p:cNvSpPr>
            <a:spLocks noGrp="1"/>
          </p:cNvSpPr>
          <p:nvPr>
            <p:ph type="sldNum" sz="quarter" idx="12"/>
          </p:nvPr>
        </p:nvSpPr>
        <p:spPr/>
        <p:txBody>
          <a:bodyPr/>
          <a:lstStyle/>
          <a:p>
            <a:pPr>
              <a:defRPr/>
            </a:pPr>
            <a:fld id="{5BD813F3-0D3A-4396-A401-AABFF6BDAFAD}" type="slidenum">
              <a:rPr lang="en-US" altLang="zh-TW" smtClean="0"/>
              <a:pPr>
                <a:defRPr/>
              </a:pPr>
              <a:t>‹#›</a:t>
            </a:fld>
            <a:endParaRPr lang="en-US" altLang="zh-TW" dirty="0"/>
          </a:p>
        </p:txBody>
      </p:sp>
    </p:spTree>
    <p:extLst>
      <p:ext uri="{BB962C8B-B14F-4D97-AF65-F5344CB8AC3E}">
        <p14:creationId xmlns:p14="http://schemas.microsoft.com/office/powerpoint/2010/main" val="213682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pPr>
              <a:defRPr/>
            </a:pPr>
            <a:endParaRPr lang="en-US" altLang="zh-TW"/>
          </a:p>
        </p:txBody>
      </p:sp>
      <p:sp>
        <p:nvSpPr>
          <p:cNvPr id="9" name="Footer Placeholder 8"/>
          <p:cNvSpPr>
            <a:spLocks noGrp="1"/>
          </p:cNvSpPr>
          <p:nvPr>
            <p:ph type="ftr" sz="quarter" idx="11"/>
          </p:nvPr>
        </p:nvSpPr>
        <p:spPr/>
        <p:txBody>
          <a:bodyPr/>
          <a:lstStyle/>
          <a:p>
            <a:pPr>
              <a:defRPr/>
            </a:pPr>
            <a:endParaRPr lang="en-US" altLang="zh-TW"/>
          </a:p>
        </p:txBody>
      </p:sp>
      <p:sp>
        <p:nvSpPr>
          <p:cNvPr id="10" name="Slide Number Placeholder 9"/>
          <p:cNvSpPr>
            <a:spLocks noGrp="1"/>
          </p:cNvSpPr>
          <p:nvPr>
            <p:ph type="sldNum" sz="quarter" idx="12"/>
          </p:nvPr>
        </p:nvSpPr>
        <p:spPr/>
        <p:txBody>
          <a:bodyPr/>
          <a:lstStyle/>
          <a:p>
            <a:pPr>
              <a:defRPr/>
            </a:pPr>
            <a:fld id="{6D94781C-8DD1-4FF5-B9D3-D8AE1DBE457A}" type="slidenum">
              <a:rPr lang="en-US" altLang="zh-TW" smtClean="0"/>
              <a:pPr>
                <a:defRPr/>
              </a:pPr>
              <a:t>‹#›</a:t>
            </a:fld>
            <a:endParaRPr lang="en-US" altLang="zh-TW" dirty="0"/>
          </a:p>
        </p:txBody>
      </p:sp>
    </p:spTree>
    <p:extLst>
      <p:ext uri="{BB962C8B-B14F-4D97-AF65-F5344CB8AC3E}">
        <p14:creationId xmlns:p14="http://schemas.microsoft.com/office/powerpoint/2010/main" val="2214587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pPr>
              <a:defRPr/>
            </a:pPr>
            <a:endParaRPr lang="en-US" altLang="zh-TW"/>
          </a:p>
        </p:txBody>
      </p:sp>
      <p:sp>
        <p:nvSpPr>
          <p:cNvPr id="9" name="Footer Placeholder 8"/>
          <p:cNvSpPr>
            <a:spLocks noGrp="1"/>
          </p:cNvSpPr>
          <p:nvPr>
            <p:ph type="ftr" sz="quarter" idx="11"/>
          </p:nvPr>
        </p:nvSpPr>
        <p:spPr>
          <a:xfrm>
            <a:off x="3499101" y="6356350"/>
            <a:ext cx="5911517" cy="365125"/>
          </a:xfrm>
        </p:spPr>
        <p:txBody>
          <a:bodyPr/>
          <a:lstStyle/>
          <a:p>
            <a:pPr>
              <a:defRPr/>
            </a:pPr>
            <a:endParaRPr lang="en-US" altLang="zh-TW"/>
          </a:p>
        </p:txBody>
      </p:sp>
      <p:sp>
        <p:nvSpPr>
          <p:cNvPr id="10" name="Slide Number Placeholder 9"/>
          <p:cNvSpPr>
            <a:spLocks noGrp="1"/>
          </p:cNvSpPr>
          <p:nvPr>
            <p:ph type="sldNum" sz="quarter" idx="12"/>
          </p:nvPr>
        </p:nvSpPr>
        <p:spPr/>
        <p:txBody>
          <a:bodyPr/>
          <a:lstStyle/>
          <a:p>
            <a:pPr>
              <a:defRPr/>
            </a:pPr>
            <a:fld id="{143B6247-7A4D-48CC-8A97-2D4817A6A05E}" type="slidenum">
              <a:rPr lang="en-US" altLang="zh-TW" smtClean="0"/>
              <a:pPr>
                <a:defRPr/>
              </a:pPr>
              <a:t>‹#›</a:t>
            </a:fld>
            <a:endParaRPr lang="en-US" altLang="zh-TW" dirty="0"/>
          </a:p>
        </p:txBody>
      </p:sp>
    </p:spTree>
    <p:extLst>
      <p:ext uri="{BB962C8B-B14F-4D97-AF65-F5344CB8AC3E}">
        <p14:creationId xmlns:p14="http://schemas.microsoft.com/office/powerpoint/2010/main" val="327621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en-US" altLang="zh-TW"/>
          </a:p>
        </p:txBody>
      </p:sp>
      <p:sp>
        <p:nvSpPr>
          <p:cNvPr id="9" name="Slide Number Placeholder 8"/>
          <p:cNvSpPr>
            <a:spLocks noGrp="1"/>
          </p:cNvSpPr>
          <p:nvPr>
            <p:ph type="sldNum" sz="quarter" idx="12"/>
          </p:nvPr>
        </p:nvSpPr>
        <p:spPr/>
        <p:txBody>
          <a:bodyPr/>
          <a:lstStyle/>
          <a:p>
            <a:pPr>
              <a:defRPr/>
            </a:pPr>
            <a:fld id="{4795A7D5-229B-4727-AC54-16DCB052998F}" type="slidenum">
              <a:rPr lang="en-US" altLang="zh-TW" smtClean="0"/>
              <a:pPr>
                <a:defRPr/>
              </a:pPr>
              <a:t>‹#›</a:t>
            </a:fld>
            <a:endParaRPr lang="en-US" altLang="zh-TW" dirty="0"/>
          </a:p>
        </p:txBody>
      </p:sp>
    </p:spTree>
    <p:extLst>
      <p:ext uri="{BB962C8B-B14F-4D97-AF65-F5344CB8AC3E}">
        <p14:creationId xmlns:p14="http://schemas.microsoft.com/office/powerpoint/2010/main" val="956185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en-US" altLang="zh-TW"/>
          </a:p>
        </p:txBody>
      </p:sp>
      <p:sp>
        <p:nvSpPr>
          <p:cNvPr id="9" name="Slide Number Placeholder 8"/>
          <p:cNvSpPr>
            <a:spLocks noGrp="1"/>
          </p:cNvSpPr>
          <p:nvPr>
            <p:ph type="sldNum" sz="quarter" idx="12"/>
          </p:nvPr>
        </p:nvSpPr>
        <p:spPr/>
        <p:txBody>
          <a:bodyPr/>
          <a:lstStyle/>
          <a:p>
            <a:pPr>
              <a:defRPr/>
            </a:pPr>
            <a:fld id="{5E8A5DE7-F68E-4851-BD9E-5A27A6A3D94F}" type="slidenum">
              <a:rPr lang="en-US" altLang="zh-TW" smtClean="0"/>
              <a:pPr>
                <a:defRPr/>
              </a:pPr>
              <a:t>‹#›</a:t>
            </a:fld>
            <a:endParaRPr lang="en-US" altLang="zh-TW" dirty="0"/>
          </a:p>
        </p:txBody>
      </p:sp>
    </p:spTree>
    <p:extLst>
      <p:ext uri="{BB962C8B-B14F-4D97-AF65-F5344CB8AC3E}">
        <p14:creationId xmlns:p14="http://schemas.microsoft.com/office/powerpoint/2010/main" val="2157865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pPr>
              <a:defRPr/>
            </a:pPr>
            <a:endParaRPr lang="en-US" altLang="zh-TW"/>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pPr>
              <a:defRPr/>
            </a:pPr>
            <a:endParaRPr lang="en-US" altLang="zh-TW"/>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pPr>
              <a:defRPr/>
            </a:pPr>
            <a:fld id="{86156DFC-DA30-4AFC-8AFF-FDFB76156633}" type="slidenum">
              <a:rPr lang="en-US" altLang="zh-TW" smtClean="0"/>
              <a:pPr>
                <a:defRPr/>
              </a:pPr>
              <a:t>‹#›</a:t>
            </a:fld>
            <a:endParaRPr lang="en-US" altLang="zh-TW" dirty="0"/>
          </a:p>
        </p:txBody>
      </p:sp>
    </p:spTree>
    <p:extLst>
      <p:ext uri="{BB962C8B-B14F-4D97-AF65-F5344CB8AC3E}">
        <p14:creationId xmlns:p14="http://schemas.microsoft.com/office/powerpoint/2010/main" val="3317416042"/>
      </p:ext>
    </p:extLst>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cid:image001.jpg@01D8B09C.3D298E70"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cid:image007.png@01D8B09C.3D298E70"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cid:image002.jpg@01D8B09C.3D298E70"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cid:image004.jpg@01D8B09C.3D298E70"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panoramio.com/photo/25657078"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cid:image009.jpg@01D8B09C.6B8E1510" TargetMode="External"/><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rawpixel.com/image/107004/thank-you-note-cup-coffee" TargetMode="External"/><Relationship Id="rId2" Type="http://schemas.openxmlformats.org/officeDocument/2006/relationships/image" Target="../media/image19.1"/><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58"/>
          <p:cNvSpPr>
            <a:spLocks noChangeShapeType="1"/>
          </p:cNvSpPr>
          <p:nvPr/>
        </p:nvSpPr>
        <p:spPr bwMode="auto">
          <a:xfrm>
            <a:off x="1524001" y="3989388"/>
            <a:ext cx="7019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Title 1"/>
          <p:cNvSpPr>
            <a:spLocks noGrp="1"/>
          </p:cNvSpPr>
          <p:nvPr>
            <p:ph type="ctrTitle"/>
          </p:nvPr>
        </p:nvSpPr>
        <p:spPr/>
        <p:txBody>
          <a:bodyPr>
            <a:normAutofit/>
          </a:bodyPr>
          <a:lstStyle/>
          <a:p>
            <a:r>
              <a:rPr lang="en-US" altLang="zh-TW" sz="4800" dirty="0">
                <a:solidFill>
                  <a:schemeClr val="bg1"/>
                </a:solidFill>
                <a:effectLst>
                  <a:outerShdw blurRad="38100" dist="38100" dir="2700000" algn="tl">
                    <a:srgbClr val="C0C0C0"/>
                  </a:outerShdw>
                </a:effectLst>
              </a:rPr>
              <a:t>Teaching University Students: </a:t>
            </a:r>
            <a:br>
              <a:rPr lang="en-US" altLang="zh-TW" sz="4800" dirty="0">
                <a:solidFill>
                  <a:schemeClr val="bg1"/>
                </a:solidFill>
                <a:effectLst>
                  <a:outerShdw blurRad="38100" dist="38100" dir="2700000" algn="tl">
                    <a:srgbClr val="C0C0C0"/>
                  </a:outerShdw>
                </a:effectLst>
              </a:rPr>
            </a:br>
            <a:r>
              <a:rPr lang="en-US" altLang="zh-TW" sz="4800" dirty="0">
                <a:solidFill>
                  <a:schemeClr val="bg1"/>
                </a:solidFill>
                <a:effectLst>
                  <a:outerShdw blurRad="38100" dist="38100" dir="2700000" algn="tl">
                    <a:srgbClr val="C0C0C0"/>
                  </a:outerShdw>
                </a:effectLst>
              </a:rPr>
              <a:t>First Steps</a:t>
            </a:r>
            <a:br>
              <a:rPr lang="en-US" altLang="zh-TW" sz="4800" dirty="0">
                <a:solidFill>
                  <a:schemeClr val="bg1"/>
                </a:solidFill>
                <a:effectLst>
                  <a:outerShdw blurRad="38100" dist="38100" dir="2700000" algn="tl">
                    <a:srgbClr val="C0C0C0"/>
                  </a:outerShdw>
                </a:effectLst>
              </a:rPr>
            </a:br>
            <a:endParaRPr lang="en-US" sz="4800" dirty="0">
              <a:solidFill>
                <a:schemeClr val="bg1"/>
              </a:solidFill>
            </a:endParaRPr>
          </a:p>
        </p:txBody>
      </p:sp>
      <p:sp>
        <p:nvSpPr>
          <p:cNvPr id="3" name="Subtitle 2"/>
          <p:cNvSpPr>
            <a:spLocks noGrp="1"/>
          </p:cNvSpPr>
          <p:nvPr>
            <p:ph type="subTitle" idx="1"/>
          </p:nvPr>
        </p:nvSpPr>
        <p:spPr/>
        <p:txBody>
          <a:bodyPr/>
          <a:lstStyle/>
          <a:p>
            <a:r>
              <a:rPr lang="en-US" dirty="0"/>
              <a:t>SG 8001</a:t>
            </a:r>
          </a:p>
        </p:txBody>
      </p:sp>
      <p:sp>
        <p:nvSpPr>
          <p:cNvPr id="92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F6670D84-011B-405B-931F-182F719522B3}" type="slidenum">
              <a:rPr kumimoji="0" lang="en-US" altLang="zh-TW" smtClean="0"/>
              <a:pPr eaLnBrk="1" hangingPunct="1"/>
              <a:t>1</a:t>
            </a:fld>
            <a:endParaRPr kumimoji="0" lang="en-US" altLang="zh-TW"/>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238376" y="1703389"/>
            <a:ext cx="7643813"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100000"/>
              </a:spcBef>
            </a:pPr>
            <a:r>
              <a:rPr lang="en-US" altLang="zh-TW" sz="3200" dirty="0">
                <a:solidFill>
                  <a:srgbClr val="0000FF"/>
                </a:solidFill>
              </a:rPr>
              <a:t>  </a:t>
            </a:r>
            <a:r>
              <a:rPr lang="en-US" altLang="zh-TW" sz="2400" b="1" dirty="0">
                <a:solidFill>
                  <a:srgbClr val="0000FF"/>
                </a:solidFill>
              </a:rPr>
              <a:t>Intended Learning Outcomes of this course (CILOs):</a:t>
            </a:r>
          </a:p>
        </p:txBody>
      </p:sp>
      <p:sp>
        <p:nvSpPr>
          <p:cNvPr id="65539" name="Rectangle 3"/>
          <p:cNvSpPr>
            <a:spLocks noChangeArrowheads="1"/>
          </p:cNvSpPr>
          <p:nvPr/>
        </p:nvSpPr>
        <p:spPr bwMode="auto">
          <a:xfrm>
            <a:off x="2351088" y="333376"/>
            <a:ext cx="7472362" cy="1152525"/>
          </a:xfrm>
          <a:prstGeom prst="rect">
            <a:avLst/>
          </a:prstGeom>
          <a:noFill/>
          <a:ln w="9525">
            <a:noFill/>
            <a:miter lim="800000"/>
            <a:headEnd/>
            <a:tailEnd/>
          </a:ln>
          <a:effectLst>
            <a:outerShdw dist="35921" dir="2700000" algn="ctr" rotWithShape="0">
              <a:schemeClr val="bg2">
                <a:alpha val="50000"/>
              </a:schemeClr>
            </a:outerShdw>
          </a:effectLst>
        </p:spPr>
        <p:txBody>
          <a:bodyPr anchor="b"/>
          <a:lstStyle/>
          <a:p>
            <a:pPr algn="ctr">
              <a:defRPr/>
            </a:pPr>
            <a:r>
              <a:rPr lang="en-US" altLang="zh-TW" sz="3600" b="1" dirty="0">
                <a:solidFill>
                  <a:srgbClr val="000099"/>
                </a:solidFill>
                <a:effectLst>
                  <a:outerShdw blurRad="38100" dist="38100" dir="2700000" algn="tl">
                    <a:srgbClr val="C0C0C0"/>
                  </a:outerShdw>
                </a:effectLst>
              </a:rPr>
              <a:t>Teaching University Students</a:t>
            </a:r>
            <a:br>
              <a:rPr lang="en-US" altLang="zh-TW" sz="3600" b="1" dirty="0">
                <a:solidFill>
                  <a:srgbClr val="000099"/>
                </a:solidFill>
                <a:effectLst>
                  <a:outerShdw blurRad="38100" dist="38100" dir="2700000" algn="tl">
                    <a:srgbClr val="C0C0C0"/>
                  </a:outerShdw>
                </a:effectLst>
              </a:rPr>
            </a:br>
            <a:r>
              <a:rPr lang="en-US" altLang="zh-TW" sz="3600" b="1" dirty="0">
                <a:solidFill>
                  <a:srgbClr val="000099"/>
                </a:solidFill>
                <a:effectLst>
                  <a:outerShdw blurRad="38100" dist="38100" dir="2700000" algn="tl">
                    <a:srgbClr val="C0C0C0"/>
                  </a:outerShdw>
                </a:effectLst>
              </a:rPr>
              <a:t>First Steps</a:t>
            </a:r>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AF09F209-1652-47B9-BEE6-8CBD61746DF7}" type="slidenum">
              <a:rPr kumimoji="0" lang="en-US" altLang="zh-TW" smtClean="0"/>
              <a:pPr eaLnBrk="1" hangingPunct="1"/>
              <a:t>2</a:t>
            </a:fld>
            <a:endParaRPr kumimoji="0" lang="en-US" altLang="zh-TW"/>
          </a:p>
        </p:txBody>
      </p:sp>
      <p:graphicFrame>
        <p:nvGraphicFramePr>
          <p:cNvPr id="2" name="Table 1"/>
          <p:cNvGraphicFramePr>
            <a:graphicFrameLocks noGrp="1"/>
          </p:cNvGraphicFramePr>
          <p:nvPr>
            <p:extLst>
              <p:ext uri="{D42A27DB-BD31-4B8C-83A1-F6EECF244321}">
                <p14:modId xmlns:p14="http://schemas.microsoft.com/office/powerpoint/2010/main" val="1579176746"/>
              </p:ext>
            </p:extLst>
          </p:nvPr>
        </p:nvGraphicFramePr>
        <p:xfrm>
          <a:off x="2135560" y="2204865"/>
          <a:ext cx="8208912" cy="3960441"/>
        </p:xfrm>
        <a:graphic>
          <a:graphicData uri="http://schemas.openxmlformats.org/drawingml/2006/table">
            <a:tbl>
              <a:tblPr firstRow="1" firstCol="1" lastRow="1" lastCol="1" bandRow="1" bandCol="1">
                <a:tableStyleId>{2D5ABB26-0587-4C30-8999-92F81FD0307C}</a:tableStyleId>
              </a:tblPr>
              <a:tblGrid>
                <a:gridCol w="794695">
                  <a:extLst>
                    <a:ext uri="{9D8B030D-6E8A-4147-A177-3AD203B41FA5}">
                      <a16:colId xmlns:a16="http://schemas.microsoft.com/office/drawing/2014/main" val="20000"/>
                    </a:ext>
                  </a:extLst>
                </a:gridCol>
                <a:gridCol w="7414217">
                  <a:extLst>
                    <a:ext uri="{9D8B030D-6E8A-4147-A177-3AD203B41FA5}">
                      <a16:colId xmlns:a16="http://schemas.microsoft.com/office/drawing/2014/main" val="20001"/>
                    </a:ext>
                  </a:extLst>
                </a:gridCol>
              </a:tblGrid>
              <a:tr h="597383">
                <a:tc>
                  <a:txBody>
                    <a:bodyPr/>
                    <a:lstStyle/>
                    <a:p>
                      <a:pPr marL="0" marR="0">
                        <a:spcBef>
                          <a:spcPts val="0"/>
                        </a:spcBef>
                        <a:spcAft>
                          <a:spcPts val="0"/>
                        </a:spcAft>
                      </a:pPr>
                      <a:endParaRPr lang="en-US" sz="2100" b="0" dirty="0">
                        <a:effectLst/>
                        <a:latin typeface="Times New Roman"/>
                        <a:ea typeface="PMingLiU"/>
                      </a:endParaRPr>
                    </a:p>
                  </a:txBody>
                  <a:tcPr marL="68580" marR="68580" marT="0" marB="0"/>
                </a:tc>
                <a:tc>
                  <a:txBody>
                    <a:bodyPr/>
                    <a:lstStyle/>
                    <a:p>
                      <a:pPr marL="0" marR="0">
                        <a:spcBef>
                          <a:spcPts val="0"/>
                        </a:spcBef>
                        <a:spcAft>
                          <a:spcPts val="0"/>
                        </a:spcAft>
                      </a:pPr>
                      <a:endParaRPr lang="en-US" sz="2100" b="0" dirty="0">
                        <a:effectLst/>
                        <a:latin typeface="Times New Roman"/>
                        <a:ea typeface="PMingLiU"/>
                      </a:endParaRPr>
                    </a:p>
                  </a:txBody>
                  <a:tcPr marL="68580" marR="68580" marT="0" marB="0"/>
                </a:tc>
                <a:extLst>
                  <a:ext uri="{0D108BD9-81ED-4DB2-BD59-A6C34878D82A}">
                    <a16:rowId xmlns:a16="http://schemas.microsoft.com/office/drawing/2014/main" val="10000"/>
                  </a:ext>
                </a:extLst>
              </a:tr>
              <a:tr h="990880">
                <a:tc>
                  <a:txBody>
                    <a:bodyPr/>
                    <a:lstStyle/>
                    <a:p>
                      <a:pPr marL="0" marR="0">
                        <a:spcBef>
                          <a:spcPts val="0"/>
                        </a:spcBef>
                        <a:spcAft>
                          <a:spcPts val="0"/>
                        </a:spcAft>
                      </a:pPr>
                      <a:r>
                        <a:rPr lang="en-GB" sz="2100">
                          <a:effectLst/>
                        </a:rPr>
                        <a:t>1.</a:t>
                      </a:r>
                      <a:endParaRPr lang="en-US" sz="2100" b="0">
                        <a:effectLst/>
                        <a:latin typeface="Times New Roman"/>
                        <a:ea typeface="PMingLiU"/>
                      </a:endParaRPr>
                    </a:p>
                  </a:txBody>
                  <a:tcPr marL="68580" marR="68580" marT="0" marB="0"/>
                </a:tc>
                <a:tc>
                  <a:txBody>
                    <a:bodyPr/>
                    <a:lstStyle/>
                    <a:p>
                      <a:pPr marL="0" marR="0">
                        <a:spcBef>
                          <a:spcPts val="0"/>
                        </a:spcBef>
                        <a:spcAft>
                          <a:spcPts val="0"/>
                        </a:spcAft>
                      </a:pPr>
                      <a:r>
                        <a:rPr lang="en-GB" sz="2100" b="1" dirty="0">
                          <a:solidFill>
                            <a:srgbClr val="FF0000"/>
                          </a:solidFill>
                          <a:effectLst/>
                        </a:rPr>
                        <a:t>Describe</a:t>
                      </a:r>
                      <a:r>
                        <a:rPr lang="en-GB" sz="2100" dirty="0">
                          <a:solidFill>
                            <a:srgbClr val="FF0000"/>
                          </a:solidFill>
                          <a:effectLst/>
                        </a:rPr>
                        <a:t> </a:t>
                      </a:r>
                      <a:r>
                        <a:rPr lang="en-GB" sz="2100" dirty="0">
                          <a:effectLst/>
                        </a:rPr>
                        <a:t>the context for learning and teaching at City University of Hong Kong.</a:t>
                      </a:r>
                      <a:endParaRPr lang="en-US" sz="2100" b="0" dirty="0">
                        <a:effectLst/>
                        <a:latin typeface="Times New Roman"/>
                        <a:ea typeface="PMingLiU"/>
                      </a:endParaRPr>
                    </a:p>
                  </a:txBody>
                  <a:tcPr marL="68580" marR="68580" marT="0" marB="0"/>
                </a:tc>
                <a:extLst>
                  <a:ext uri="{0D108BD9-81ED-4DB2-BD59-A6C34878D82A}">
                    <a16:rowId xmlns:a16="http://schemas.microsoft.com/office/drawing/2014/main" val="10001"/>
                  </a:ext>
                </a:extLst>
              </a:tr>
              <a:tr h="939021">
                <a:tc>
                  <a:txBody>
                    <a:bodyPr/>
                    <a:lstStyle/>
                    <a:p>
                      <a:pPr marL="0" marR="0">
                        <a:spcBef>
                          <a:spcPts val="0"/>
                        </a:spcBef>
                        <a:spcAft>
                          <a:spcPts val="0"/>
                        </a:spcAft>
                      </a:pPr>
                      <a:r>
                        <a:rPr lang="en-GB" sz="2100">
                          <a:effectLst/>
                        </a:rPr>
                        <a:t>2.</a:t>
                      </a:r>
                      <a:endParaRPr lang="en-US" sz="2100" b="0">
                        <a:effectLst/>
                        <a:latin typeface="Times New Roman"/>
                        <a:ea typeface="PMingLiU"/>
                      </a:endParaRPr>
                    </a:p>
                  </a:txBody>
                  <a:tcPr marL="68580" marR="68580" marT="0" marB="0"/>
                </a:tc>
                <a:tc>
                  <a:txBody>
                    <a:bodyPr/>
                    <a:lstStyle/>
                    <a:p>
                      <a:pPr marL="0" marR="0">
                        <a:spcBef>
                          <a:spcPts val="0"/>
                        </a:spcBef>
                        <a:spcAft>
                          <a:spcPts val="0"/>
                        </a:spcAft>
                      </a:pPr>
                      <a:r>
                        <a:rPr lang="en-GB" sz="2100" b="1" dirty="0">
                          <a:solidFill>
                            <a:srgbClr val="FF0000"/>
                          </a:solidFill>
                          <a:effectLst/>
                        </a:rPr>
                        <a:t>Apply</a:t>
                      </a:r>
                      <a:r>
                        <a:rPr lang="en-GB" sz="2100" dirty="0">
                          <a:solidFill>
                            <a:srgbClr val="FF0000"/>
                          </a:solidFill>
                          <a:effectLst/>
                        </a:rPr>
                        <a:t> </a:t>
                      </a:r>
                      <a:r>
                        <a:rPr lang="en-GB" sz="2100" dirty="0">
                          <a:effectLst/>
                        </a:rPr>
                        <a:t>Outcomes-Based Teaching and Learning (OBTL) approach in student learning.</a:t>
                      </a:r>
                      <a:endParaRPr lang="en-US" sz="2100" b="0" dirty="0">
                        <a:effectLst/>
                        <a:latin typeface="Times New Roman"/>
                        <a:ea typeface="PMingLiU"/>
                      </a:endParaRPr>
                    </a:p>
                  </a:txBody>
                  <a:tcPr marL="68580" marR="68580" marT="0" marB="0"/>
                </a:tc>
                <a:extLst>
                  <a:ext uri="{0D108BD9-81ED-4DB2-BD59-A6C34878D82A}">
                    <a16:rowId xmlns:a16="http://schemas.microsoft.com/office/drawing/2014/main" val="10002"/>
                  </a:ext>
                </a:extLst>
              </a:tr>
              <a:tr h="698541">
                <a:tc>
                  <a:txBody>
                    <a:bodyPr/>
                    <a:lstStyle/>
                    <a:p>
                      <a:pPr marL="0" marR="0">
                        <a:spcBef>
                          <a:spcPts val="0"/>
                        </a:spcBef>
                        <a:spcAft>
                          <a:spcPts val="0"/>
                        </a:spcAft>
                      </a:pPr>
                      <a:r>
                        <a:rPr lang="en-GB" sz="2100">
                          <a:effectLst/>
                        </a:rPr>
                        <a:t>3.</a:t>
                      </a:r>
                      <a:endParaRPr lang="en-US" sz="2100" b="0">
                        <a:effectLst/>
                        <a:latin typeface="Times New Roman"/>
                        <a:ea typeface="PMingLiU"/>
                      </a:endParaRPr>
                    </a:p>
                  </a:txBody>
                  <a:tcPr marL="68580" marR="68580" marT="0" marB="0"/>
                </a:tc>
                <a:tc>
                  <a:txBody>
                    <a:bodyPr/>
                    <a:lstStyle/>
                    <a:p>
                      <a:pPr marL="0" marR="0">
                        <a:spcBef>
                          <a:spcPts val="0"/>
                        </a:spcBef>
                        <a:spcAft>
                          <a:spcPts val="0"/>
                        </a:spcAft>
                      </a:pPr>
                      <a:r>
                        <a:rPr lang="en-GB" sz="2100" b="1" dirty="0">
                          <a:solidFill>
                            <a:srgbClr val="FF0000"/>
                          </a:solidFill>
                          <a:effectLst/>
                        </a:rPr>
                        <a:t>Utilize</a:t>
                      </a:r>
                      <a:r>
                        <a:rPr lang="en-GB" sz="2100" dirty="0">
                          <a:solidFill>
                            <a:srgbClr val="FF0000"/>
                          </a:solidFill>
                          <a:effectLst/>
                        </a:rPr>
                        <a:t> </a:t>
                      </a:r>
                      <a:r>
                        <a:rPr lang="en-GB" sz="2100" dirty="0" err="1">
                          <a:effectLst/>
                        </a:rPr>
                        <a:t>elearning</a:t>
                      </a:r>
                      <a:r>
                        <a:rPr lang="en-GB" sz="2100" dirty="0">
                          <a:effectLst/>
                        </a:rPr>
                        <a:t> tools in teaching.</a:t>
                      </a:r>
                      <a:endParaRPr lang="en-US" sz="2100" b="0" dirty="0">
                        <a:effectLst/>
                        <a:latin typeface="Times New Roman"/>
                        <a:ea typeface="PMingLiU"/>
                      </a:endParaRPr>
                    </a:p>
                  </a:txBody>
                  <a:tcPr marL="68580" marR="68580" marT="0" marB="0"/>
                </a:tc>
                <a:extLst>
                  <a:ext uri="{0D108BD9-81ED-4DB2-BD59-A6C34878D82A}">
                    <a16:rowId xmlns:a16="http://schemas.microsoft.com/office/drawing/2014/main" val="10003"/>
                  </a:ext>
                </a:extLst>
              </a:tr>
              <a:tr h="734616">
                <a:tc>
                  <a:txBody>
                    <a:bodyPr/>
                    <a:lstStyle/>
                    <a:p>
                      <a:pPr marL="0" marR="0">
                        <a:spcBef>
                          <a:spcPts val="0"/>
                        </a:spcBef>
                        <a:spcAft>
                          <a:spcPts val="0"/>
                        </a:spcAft>
                      </a:pPr>
                      <a:r>
                        <a:rPr lang="en-GB" sz="2100">
                          <a:effectLst/>
                        </a:rPr>
                        <a:t>4.</a:t>
                      </a:r>
                      <a:endParaRPr lang="en-US" sz="2100" b="0">
                        <a:effectLst/>
                        <a:latin typeface="Times New Roman"/>
                        <a:ea typeface="PMingLiU"/>
                      </a:endParaRPr>
                    </a:p>
                  </a:txBody>
                  <a:tcPr marL="68580" marR="68580" marT="0" marB="0"/>
                </a:tc>
                <a:tc>
                  <a:txBody>
                    <a:bodyPr/>
                    <a:lstStyle/>
                    <a:p>
                      <a:pPr marL="0" marR="0">
                        <a:spcBef>
                          <a:spcPts val="0"/>
                        </a:spcBef>
                        <a:spcAft>
                          <a:spcPts val="0"/>
                        </a:spcAft>
                      </a:pPr>
                      <a:r>
                        <a:rPr lang="en-GB" sz="2100" b="1" dirty="0">
                          <a:solidFill>
                            <a:srgbClr val="FF0000"/>
                          </a:solidFill>
                          <a:effectLst/>
                        </a:rPr>
                        <a:t>Deliver</a:t>
                      </a:r>
                      <a:r>
                        <a:rPr lang="en-GB" sz="2100" dirty="0">
                          <a:solidFill>
                            <a:srgbClr val="FF0000"/>
                          </a:solidFill>
                          <a:effectLst/>
                        </a:rPr>
                        <a:t> </a:t>
                      </a:r>
                      <a:r>
                        <a:rPr lang="en-GB" sz="2100" dirty="0">
                          <a:effectLst/>
                        </a:rPr>
                        <a:t>a high quality teaching and learning activity.</a:t>
                      </a:r>
                      <a:endParaRPr lang="en-US" sz="2100" b="0" dirty="0">
                        <a:effectLst/>
                        <a:latin typeface="Times New Roman"/>
                        <a:ea typeface="PMingLiU"/>
                      </a:endParaRPr>
                    </a:p>
                  </a:txBody>
                  <a:tcPr marL="68580" marR="6858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ChangeArrowheads="1"/>
          </p:cNvSpPr>
          <p:nvPr/>
        </p:nvSpPr>
        <p:spPr bwMode="auto">
          <a:xfrm>
            <a:off x="2359819" y="227250"/>
            <a:ext cx="7472362" cy="647353"/>
          </a:xfrm>
          <a:prstGeom prst="rect">
            <a:avLst/>
          </a:prstGeom>
          <a:noFill/>
          <a:ln w="9525">
            <a:noFill/>
            <a:miter lim="800000"/>
            <a:headEnd/>
            <a:tailEnd/>
          </a:ln>
          <a:effectLst>
            <a:outerShdw dist="35921" dir="2700000" algn="ctr" rotWithShape="0">
              <a:schemeClr val="bg2">
                <a:alpha val="50000"/>
              </a:schemeClr>
            </a:outerShdw>
          </a:effectLst>
        </p:spPr>
        <p:txBody>
          <a:bodyPr anchor="b"/>
          <a:lstStyle/>
          <a:p>
            <a:pPr algn="ctr">
              <a:defRPr/>
            </a:pPr>
            <a:r>
              <a:rPr lang="en-US" altLang="zh-TW" sz="3600" b="1" dirty="0">
                <a:solidFill>
                  <a:srgbClr val="000099"/>
                </a:solidFill>
                <a:effectLst>
                  <a:outerShdw blurRad="38100" dist="38100" dir="2700000" algn="tl">
                    <a:srgbClr val="C0C0C0"/>
                  </a:outerShdw>
                </a:effectLst>
              </a:rPr>
              <a:t>Syllabus</a:t>
            </a:r>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AF09F209-1652-47B9-BEE6-8CBD61746DF7}" type="slidenum">
              <a:rPr kumimoji="0" lang="en-US" altLang="zh-TW" smtClean="0"/>
              <a:pPr eaLnBrk="1" hangingPunct="1"/>
              <a:t>3</a:t>
            </a:fld>
            <a:endParaRPr kumimoji="0" lang="en-US" altLang="zh-TW"/>
          </a:p>
        </p:txBody>
      </p:sp>
      <p:sp>
        <p:nvSpPr>
          <p:cNvPr id="5" name="Rectangle 4"/>
          <p:cNvSpPr/>
          <p:nvPr/>
        </p:nvSpPr>
        <p:spPr>
          <a:xfrm>
            <a:off x="8616280" y="6309320"/>
            <a:ext cx="3132589" cy="338554"/>
          </a:xfrm>
          <a:prstGeom prst="rect">
            <a:avLst/>
          </a:prstGeom>
        </p:spPr>
        <p:txBody>
          <a:bodyPr wrap="none">
            <a:spAutoFit/>
          </a:bodyPr>
          <a:lstStyle/>
          <a:p>
            <a:r>
              <a:rPr lang="en-GB" sz="1600" dirty="0">
                <a:latin typeface="Times New Roman" panose="02020603050405020304" pitchFamily="18" charset="0"/>
                <a:ea typeface="PMingLiU" panose="02020500000000000000" pitchFamily="18" charset="-120"/>
              </a:rPr>
              <a:t>*For students with laboratory duty</a:t>
            </a:r>
            <a:endParaRPr lang="en-HK" sz="1600" dirty="0">
              <a:latin typeface="Times New Roman" panose="02020603050405020304" pitchFamily="18" charset="0"/>
              <a:ea typeface="PMingLiU" panose="02020500000000000000" pitchFamily="18" charset="-120"/>
            </a:endParaRPr>
          </a:p>
        </p:txBody>
      </p:sp>
      <p:graphicFrame>
        <p:nvGraphicFramePr>
          <p:cNvPr id="2" name="Table 1">
            <a:extLst>
              <a:ext uri="{FF2B5EF4-FFF2-40B4-BE49-F238E27FC236}">
                <a16:creationId xmlns:a16="http://schemas.microsoft.com/office/drawing/2014/main" id="{AD2D07A8-5EBB-264C-20A9-D5751F075502}"/>
              </a:ext>
            </a:extLst>
          </p:cNvPr>
          <p:cNvGraphicFramePr>
            <a:graphicFrameLocks noGrp="1"/>
          </p:cNvGraphicFramePr>
          <p:nvPr>
            <p:extLst>
              <p:ext uri="{D42A27DB-BD31-4B8C-83A1-F6EECF244321}">
                <p14:modId xmlns:p14="http://schemas.microsoft.com/office/powerpoint/2010/main" val="566262686"/>
              </p:ext>
            </p:extLst>
          </p:nvPr>
        </p:nvGraphicFramePr>
        <p:xfrm>
          <a:off x="839416" y="1032771"/>
          <a:ext cx="10451686" cy="5323578"/>
        </p:xfrm>
        <a:graphic>
          <a:graphicData uri="http://schemas.openxmlformats.org/drawingml/2006/table">
            <a:tbl>
              <a:tblPr firstRow="1" firstCol="1" bandRow="1">
                <a:tableStyleId>{5C22544A-7EE6-4342-B048-85BDC9FD1C3A}</a:tableStyleId>
              </a:tblPr>
              <a:tblGrid>
                <a:gridCol w="1281896">
                  <a:extLst>
                    <a:ext uri="{9D8B030D-6E8A-4147-A177-3AD203B41FA5}">
                      <a16:colId xmlns:a16="http://schemas.microsoft.com/office/drawing/2014/main" val="2569757965"/>
                    </a:ext>
                  </a:extLst>
                </a:gridCol>
                <a:gridCol w="4190712">
                  <a:extLst>
                    <a:ext uri="{9D8B030D-6E8A-4147-A177-3AD203B41FA5}">
                      <a16:colId xmlns:a16="http://schemas.microsoft.com/office/drawing/2014/main" val="3415964447"/>
                    </a:ext>
                  </a:extLst>
                </a:gridCol>
                <a:gridCol w="1910753">
                  <a:extLst>
                    <a:ext uri="{9D8B030D-6E8A-4147-A177-3AD203B41FA5}">
                      <a16:colId xmlns:a16="http://schemas.microsoft.com/office/drawing/2014/main" val="4247068487"/>
                    </a:ext>
                  </a:extLst>
                </a:gridCol>
                <a:gridCol w="1567268">
                  <a:extLst>
                    <a:ext uri="{9D8B030D-6E8A-4147-A177-3AD203B41FA5}">
                      <a16:colId xmlns:a16="http://schemas.microsoft.com/office/drawing/2014/main" val="3428587599"/>
                    </a:ext>
                  </a:extLst>
                </a:gridCol>
                <a:gridCol w="1501057">
                  <a:extLst>
                    <a:ext uri="{9D8B030D-6E8A-4147-A177-3AD203B41FA5}">
                      <a16:colId xmlns:a16="http://schemas.microsoft.com/office/drawing/2014/main" val="3517482822"/>
                    </a:ext>
                  </a:extLst>
                </a:gridCol>
              </a:tblGrid>
              <a:tr h="390412">
                <a:tc>
                  <a:txBody>
                    <a:bodyPr/>
                    <a:lstStyle/>
                    <a:p>
                      <a:pPr marL="0" marR="0">
                        <a:lnSpc>
                          <a:spcPct val="107000"/>
                        </a:lnSpc>
                        <a:spcBef>
                          <a:spcPts val="900"/>
                        </a:spcBef>
                        <a:spcAft>
                          <a:spcPts val="900"/>
                        </a:spcAft>
                      </a:pPr>
                      <a:r>
                        <a:rPr lang="en-US" sz="1700">
                          <a:effectLst/>
                        </a:rPr>
                        <a:t>Workshop</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Bef>
                          <a:spcPts val="900"/>
                        </a:spcBef>
                        <a:spcAft>
                          <a:spcPts val="900"/>
                        </a:spcAft>
                      </a:pPr>
                      <a:r>
                        <a:rPr lang="en-US" sz="1700">
                          <a:effectLst/>
                        </a:rPr>
                        <a:t>Topic</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Bef>
                          <a:spcPts val="900"/>
                        </a:spcBef>
                        <a:spcAft>
                          <a:spcPts val="900"/>
                        </a:spcAft>
                      </a:pPr>
                      <a:r>
                        <a:rPr lang="en-US" sz="1700" dirty="0">
                          <a:effectLst/>
                        </a:rPr>
                        <a:t>Instructor</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Bef>
                          <a:spcPts val="900"/>
                        </a:spcBef>
                        <a:spcAft>
                          <a:spcPts val="900"/>
                        </a:spcAft>
                      </a:pPr>
                      <a:r>
                        <a:rPr lang="en-US" sz="1700" dirty="0">
                          <a:effectLst/>
                        </a:rPr>
                        <a:t>S01</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Bef>
                          <a:spcPts val="900"/>
                        </a:spcBef>
                        <a:spcAft>
                          <a:spcPts val="900"/>
                        </a:spcAft>
                      </a:pPr>
                      <a:r>
                        <a:rPr lang="en-US" sz="1700" dirty="0">
                          <a:effectLst/>
                        </a:rPr>
                        <a:t>S02</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tc>
                <a:extLst>
                  <a:ext uri="{0D108BD9-81ED-4DB2-BD59-A6C34878D82A}">
                    <a16:rowId xmlns:a16="http://schemas.microsoft.com/office/drawing/2014/main" val="1155892717"/>
                  </a:ext>
                </a:extLst>
              </a:tr>
              <a:tr h="662703">
                <a:tc>
                  <a:txBody>
                    <a:bodyPr/>
                    <a:lstStyle/>
                    <a:p>
                      <a:pPr marL="0" marR="0">
                        <a:lnSpc>
                          <a:spcPct val="107000"/>
                        </a:lnSpc>
                        <a:spcAft>
                          <a:spcPts val="800"/>
                        </a:spcAft>
                      </a:pPr>
                      <a:r>
                        <a:rPr lang="en-US" sz="1700">
                          <a:effectLst/>
                        </a:rPr>
                        <a:t>Session 1</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The Context for Learning at City University of Hong Kong</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Lam Yee Man</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latin typeface="Calibri" panose="020F0502020204030204" pitchFamily="34" charset="0"/>
                          <a:ea typeface="DengXian" panose="02010600030101010101" pitchFamily="2" charset="-122"/>
                          <a:cs typeface="Times New Roman" panose="02020603050405020304" pitchFamily="18" charset="0"/>
                        </a:rPr>
                        <a:t>17 Sep</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31 Oct</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94744259"/>
                  </a:ext>
                </a:extLst>
              </a:tr>
              <a:tr h="662703">
                <a:tc>
                  <a:txBody>
                    <a:bodyPr/>
                    <a:lstStyle/>
                    <a:p>
                      <a:pPr marL="0" marR="0">
                        <a:lnSpc>
                          <a:spcPct val="107000"/>
                        </a:lnSpc>
                        <a:spcAft>
                          <a:spcPts val="800"/>
                        </a:spcAft>
                      </a:pPr>
                      <a:r>
                        <a:rPr lang="en-US" sz="1700">
                          <a:effectLst/>
                        </a:rPr>
                        <a:t>Session 2</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Outcomes-Based Teaching &amp; Learning</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Lam Yee Man</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19 Sep</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5 Nov</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944048450"/>
                  </a:ext>
                </a:extLst>
              </a:tr>
              <a:tr h="662703">
                <a:tc>
                  <a:txBody>
                    <a:bodyPr/>
                    <a:lstStyle/>
                    <a:p>
                      <a:pPr marL="0" marR="0">
                        <a:lnSpc>
                          <a:spcPct val="107000"/>
                        </a:lnSpc>
                        <a:spcAft>
                          <a:spcPts val="800"/>
                        </a:spcAft>
                      </a:pPr>
                      <a:r>
                        <a:rPr lang="en-US" sz="1700">
                          <a:effectLst/>
                        </a:rPr>
                        <a:t>Session 3</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a:effectLst/>
                        </a:rPr>
                        <a:t>Teaching and Learning Activities for Undergraduate Students</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Patrio Chiu</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latin typeface="Calibri" panose="020F0502020204030204" pitchFamily="34" charset="0"/>
                          <a:ea typeface="DengXian" panose="02010600030101010101" pitchFamily="2" charset="-122"/>
                          <a:cs typeface="Times New Roman" panose="02020603050405020304" pitchFamily="18" charset="0"/>
                        </a:rPr>
                        <a:t>24 Sep</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7 Nov</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83308519"/>
                  </a:ext>
                </a:extLst>
              </a:tr>
              <a:tr h="662703">
                <a:tc>
                  <a:txBody>
                    <a:bodyPr/>
                    <a:lstStyle/>
                    <a:p>
                      <a:pPr marL="0" marR="0">
                        <a:lnSpc>
                          <a:spcPct val="107000"/>
                        </a:lnSpc>
                        <a:spcAft>
                          <a:spcPts val="800"/>
                        </a:spcAft>
                      </a:pPr>
                      <a:r>
                        <a:rPr lang="en-US" sz="1700">
                          <a:effectLst/>
                        </a:rPr>
                        <a:t>Session 4</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a:effectLst/>
                        </a:rPr>
                        <a:t>Assessment Tasks: Assessment for Learning</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Patrio Chiu</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26 Sep</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12 Nov</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079402976"/>
                  </a:ext>
                </a:extLst>
              </a:tr>
              <a:tr h="363163">
                <a:tc>
                  <a:txBody>
                    <a:bodyPr/>
                    <a:lstStyle/>
                    <a:p>
                      <a:pPr marL="0" marR="0">
                        <a:lnSpc>
                          <a:spcPct val="107000"/>
                        </a:lnSpc>
                        <a:spcAft>
                          <a:spcPts val="800"/>
                        </a:spcAft>
                      </a:pPr>
                      <a:r>
                        <a:rPr lang="en-US" sz="1700">
                          <a:effectLst/>
                        </a:rPr>
                        <a:t>Session 5</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700" dirty="0">
                          <a:effectLst/>
                        </a:rPr>
                        <a:t>Teaching Techniques: Practical Tips</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Patrio Chiu</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3 Oct</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14 Nov</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56507065"/>
                  </a:ext>
                </a:extLst>
              </a:tr>
              <a:tr h="363163">
                <a:tc>
                  <a:txBody>
                    <a:bodyPr/>
                    <a:lstStyle/>
                    <a:p>
                      <a:pPr marL="0" marR="0">
                        <a:lnSpc>
                          <a:spcPct val="107000"/>
                        </a:lnSpc>
                        <a:spcAft>
                          <a:spcPts val="800"/>
                        </a:spcAft>
                      </a:pPr>
                      <a:r>
                        <a:rPr lang="en-US" sz="1700">
                          <a:effectLst/>
                        </a:rPr>
                        <a:t>Session 6</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700" dirty="0">
                          <a:effectLst/>
                        </a:rPr>
                        <a:t>Technology-Enhanced Learning</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Leon Lei</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latin typeface="Calibri" panose="020F0502020204030204" pitchFamily="34" charset="0"/>
                          <a:ea typeface="DengXian" panose="02010600030101010101" pitchFamily="2" charset="-122"/>
                          <a:cs typeface="Times New Roman" panose="02020603050405020304" pitchFamily="18" charset="0"/>
                        </a:rPr>
                        <a:t>8 Oct</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19 Nov</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68798377"/>
                  </a:ext>
                </a:extLst>
              </a:tr>
              <a:tr h="363163">
                <a:tc>
                  <a:txBody>
                    <a:bodyPr/>
                    <a:lstStyle/>
                    <a:p>
                      <a:pPr marL="0" marR="0">
                        <a:lnSpc>
                          <a:spcPct val="107000"/>
                        </a:lnSpc>
                        <a:spcAft>
                          <a:spcPts val="800"/>
                        </a:spcAft>
                      </a:pPr>
                      <a:r>
                        <a:rPr lang="en-US" sz="1700">
                          <a:effectLst/>
                        </a:rPr>
                        <a:t>Session 7*</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Conducting Laboratory</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Dr Leon Lei</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10 Oct</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21 Nov</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813814699"/>
                  </a:ext>
                </a:extLst>
              </a:tr>
              <a:tr h="1192865">
                <a:tc>
                  <a:txBody>
                    <a:bodyPr/>
                    <a:lstStyle/>
                    <a:p>
                      <a:pPr marL="0" marR="0">
                        <a:lnSpc>
                          <a:spcPct val="107000"/>
                        </a:lnSpc>
                        <a:spcAft>
                          <a:spcPts val="800"/>
                        </a:spcAft>
                      </a:pPr>
                      <a:r>
                        <a:rPr lang="en-US" sz="1700">
                          <a:effectLst/>
                        </a:rPr>
                        <a:t>Assessment</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a:effectLst/>
                        </a:rPr>
                        <a:t>Individual Presentation (Simulated Teaching Session with Interactive TLA and Assessment Plan) by Video</a:t>
                      </a:r>
                      <a:endParaRPr lang="en-GB" sz="170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dirty="0">
                          <a:effectLst/>
                        </a:rPr>
                        <a:t>All instructors</a:t>
                      </a:r>
                      <a:endParaRPr lang="en-GB" sz="1700" dirty="0">
                        <a:effectLst/>
                      </a:endParaRPr>
                    </a:p>
                    <a:p>
                      <a:pPr marL="0" marR="0">
                        <a:lnSpc>
                          <a:spcPct val="107000"/>
                        </a:lnSpc>
                        <a:spcAft>
                          <a:spcPts val="800"/>
                        </a:spcAft>
                      </a:pPr>
                      <a:r>
                        <a:rPr lang="en-US" sz="1700" dirty="0">
                          <a:effectLst/>
                        </a:rPr>
                        <a:t> </a:t>
                      </a:r>
                      <a:endParaRPr lang="en-GB" sz="1700"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b="1" dirty="0">
                          <a:effectLst/>
                        </a:rPr>
                        <a:t>Due 17 Oct</a:t>
                      </a:r>
                      <a:endParaRPr lang="en-GB" sz="1700" b="1" dirty="0">
                        <a:effectLst/>
                        <a:latin typeface="Calibri" panose="020F0502020204030204" pitchFamily="34" charset="0"/>
                        <a:ea typeface="DengXian" panose="02010600030101010101" pitchFamily="2" charset="-122"/>
                        <a:cs typeface="Times New Roman" panose="02020603050405020304" pitchFamily="18" charset="0"/>
                      </a:endParaRPr>
                    </a:p>
                  </a:txBody>
                  <a:tcPr marL="19050" marR="19050" marT="19050" marB="19050" anchor="ctr"/>
                </a:tc>
                <a:tc>
                  <a:txBody>
                    <a:bodyPr/>
                    <a:lstStyle/>
                    <a:p>
                      <a:pPr marL="0" marR="0">
                        <a:lnSpc>
                          <a:spcPct val="107000"/>
                        </a:lnSpc>
                        <a:spcAft>
                          <a:spcPts val="800"/>
                        </a:spcAft>
                      </a:pPr>
                      <a:r>
                        <a:rPr lang="en-US" sz="1700" b="1" dirty="0">
                          <a:effectLst/>
                        </a:rPr>
                        <a:t>Due 28 Nov</a:t>
                      </a:r>
                      <a:endParaRPr lang="en-GB" sz="1700" b="1" dirty="0">
                        <a:effectLst/>
                        <a:latin typeface="Calibri" panose="020F050202020403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645429913"/>
                  </a:ext>
                </a:extLst>
              </a:tr>
            </a:tbl>
          </a:graphicData>
        </a:graphic>
      </p:graphicFrame>
    </p:spTree>
    <p:extLst>
      <p:ext uri="{BB962C8B-B14F-4D97-AF65-F5344CB8AC3E}">
        <p14:creationId xmlns:p14="http://schemas.microsoft.com/office/powerpoint/2010/main" val="50649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3" name="Rectangle 29"/>
          <p:cNvSpPr>
            <a:spLocks noChangeArrowheads="1"/>
          </p:cNvSpPr>
          <p:nvPr/>
        </p:nvSpPr>
        <p:spPr bwMode="auto">
          <a:xfrm>
            <a:off x="983433" y="260351"/>
            <a:ext cx="8868592" cy="1368425"/>
          </a:xfrm>
          <a:prstGeom prst="rect">
            <a:avLst/>
          </a:prstGeom>
          <a:noFill/>
          <a:ln w="9525">
            <a:noFill/>
            <a:miter lim="800000"/>
            <a:headEnd/>
            <a:tailEnd/>
          </a:ln>
          <a:effectLst>
            <a:outerShdw dist="35921" dir="2700000" algn="ctr" rotWithShape="0">
              <a:schemeClr val="bg2"/>
            </a:outerShdw>
          </a:effectLst>
        </p:spPr>
        <p:txBody>
          <a:bodyPr anchor="b"/>
          <a:lstStyle/>
          <a:p>
            <a:pPr algn="ctr">
              <a:defRPr/>
            </a:pPr>
            <a:endParaRPr lang="en-US" sz="3700" b="1" dirty="0">
              <a:solidFill>
                <a:srgbClr val="000099"/>
              </a:solidFill>
              <a:effectLst>
                <a:outerShdw blurRad="38100" dist="38100" dir="2700000" algn="tl">
                  <a:srgbClr val="C0C0C0"/>
                </a:outerShdw>
              </a:effectLst>
            </a:endParaRPr>
          </a:p>
        </p:txBody>
      </p:sp>
      <p:sp>
        <p:nvSpPr>
          <p:cNvPr id="11267" name="Rectangle 30"/>
          <p:cNvSpPr>
            <a:spLocks noChangeArrowheads="1"/>
          </p:cNvSpPr>
          <p:nvPr/>
        </p:nvSpPr>
        <p:spPr bwMode="auto">
          <a:xfrm>
            <a:off x="983433" y="2143126"/>
            <a:ext cx="9289282"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Arial" panose="020B0604020202020204" pitchFamily="34" charset="0"/>
              <a:buChar char="•"/>
            </a:pPr>
            <a:endParaRPr lang="en-US" sz="2400" dirty="0"/>
          </a:p>
        </p:txBody>
      </p:sp>
      <p:sp>
        <p:nvSpPr>
          <p:cNvPr id="5" name="Title 4">
            <a:extLst>
              <a:ext uri="{FF2B5EF4-FFF2-40B4-BE49-F238E27FC236}">
                <a16:creationId xmlns:a16="http://schemas.microsoft.com/office/drawing/2014/main" id="{3A23F7CF-CFA7-4C73-8658-54C8DDB4FE09}"/>
              </a:ext>
            </a:extLst>
          </p:cNvPr>
          <p:cNvSpPr>
            <a:spLocks noGrp="1"/>
          </p:cNvSpPr>
          <p:nvPr>
            <p:ph type="title"/>
          </p:nvPr>
        </p:nvSpPr>
        <p:spPr/>
        <p:txBody>
          <a:bodyPr/>
          <a:lstStyle/>
          <a:p>
            <a:r>
              <a:rPr lang="en-US" altLang="zh-TW" sz="3600" dirty="0"/>
              <a:t>Intended Learning Outcomes</a:t>
            </a:r>
            <a:endParaRPr lang="en-HK" sz="3600" dirty="0"/>
          </a:p>
        </p:txBody>
      </p:sp>
      <p:sp>
        <p:nvSpPr>
          <p:cNvPr id="3" name="Content Placeholder 2">
            <a:extLst>
              <a:ext uri="{FF2B5EF4-FFF2-40B4-BE49-F238E27FC236}">
                <a16:creationId xmlns:a16="http://schemas.microsoft.com/office/drawing/2014/main" id="{D0DFA3F5-B3D8-403A-B7A8-AF35609B2074}"/>
              </a:ext>
            </a:extLst>
          </p:cNvPr>
          <p:cNvSpPr>
            <a:spLocks noGrp="1"/>
          </p:cNvSpPr>
          <p:nvPr>
            <p:ph idx="1"/>
          </p:nvPr>
        </p:nvSpPr>
        <p:spPr/>
        <p:txBody>
          <a:bodyPr>
            <a:normAutofit/>
          </a:bodyPr>
          <a:lstStyle/>
          <a:p>
            <a:pPr marL="342900" indent="-342900">
              <a:spcBef>
                <a:spcPct val="20000"/>
              </a:spcBef>
              <a:buFont typeface="Arial" panose="020B0604020202020204" pitchFamily="34" charset="0"/>
              <a:buChar char="•"/>
            </a:pPr>
            <a:r>
              <a:rPr lang="en-US" altLang="zh-TW" sz="2200" b="1" dirty="0">
                <a:solidFill>
                  <a:srgbClr val="000099"/>
                </a:solidFill>
              </a:rPr>
              <a:t>By the end of today’s session, you should be able to:</a:t>
            </a:r>
          </a:p>
          <a:p>
            <a:pPr marL="342900" indent="-342900">
              <a:spcBef>
                <a:spcPct val="20000"/>
              </a:spcBef>
              <a:buFont typeface="Arial" panose="020B0604020202020204" pitchFamily="34" charset="0"/>
              <a:buChar char="•"/>
            </a:pPr>
            <a:endParaRPr lang="en-US" altLang="zh-TW" sz="2200" b="1" dirty="0">
              <a:solidFill>
                <a:srgbClr val="000099"/>
              </a:solidFill>
            </a:endParaRPr>
          </a:p>
          <a:p>
            <a:pPr marL="342900" indent="-342900">
              <a:spcBef>
                <a:spcPct val="40000"/>
              </a:spcBef>
              <a:buFont typeface="Arial" panose="020B0604020202020204" pitchFamily="34" charset="0"/>
              <a:buChar char="•"/>
            </a:pPr>
            <a:r>
              <a:rPr lang="en-US" altLang="zh-TW" sz="2200" b="1" dirty="0">
                <a:solidFill>
                  <a:srgbClr val="0000FF"/>
                </a:solidFill>
              </a:rPr>
              <a:t>Describe</a:t>
            </a:r>
            <a:r>
              <a:rPr lang="en-US" altLang="zh-TW" sz="2200" dirty="0"/>
              <a:t> the family background and learning style of </a:t>
            </a:r>
            <a:r>
              <a:rPr lang="en-US" altLang="zh-TW" sz="2200" dirty="0" err="1"/>
              <a:t>CityU</a:t>
            </a:r>
            <a:r>
              <a:rPr lang="en-US" altLang="zh-TW" sz="2200" dirty="0"/>
              <a:t> students</a:t>
            </a:r>
          </a:p>
          <a:p>
            <a:pPr marL="342900" indent="-342900">
              <a:spcBef>
                <a:spcPct val="40000"/>
              </a:spcBef>
              <a:buFontTx/>
              <a:buChar char="•"/>
            </a:pPr>
            <a:endParaRPr lang="en-US" altLang="zh-TW" sz="2200" dirty="0"/>
          </a:p>
          <a:p>
            <a:pPr marL="342900" indent="-342900">
              <a:spcBef>
                <a:spcPct val="40000"/>
              </a:spcBef>
              <a:buFont typeface="Arial" panose="020B0604020202020204" pitchFamily="34" charset="0"/>
              <a:buChar char="•"/>
            </a:pPr>
            <a:r>
              <a:rPr lang="en-US" altLang="zh-TW" sz="2200" b="1" dirty="0">
                <a:solidFill>
                  <a:srgbClr val="FF9900"/>
                </a:solidFill>
              </a:rPr>
              <a:t>List</a:t>
            </a:r>
            <a:r>
              <a:rPr lang="en-US" altLang="zh-TW" sz="2200" dirty="0">
                <a:solidFill>
                  <a:srgbClr val="FF9900"/>
                </a:solidFill>
              </a:rPr>
              <a:t> </a:t>
            </a:r>
            <a:r>
              <a:rPr lang="en-US" altLang="zh-TW" sz="2200" dirty="0" err="1"/>
              <a:t>CityUHK’s</a:t>
            </a:r>
            <a:r>
              <a:rPr lang="en-US" altLang="zh-TW" sz="2200" dirty="0"/>
              <a:t> expectations of graduate outcomes</a:t>
            </a:r>
          </a:p>
          <a:p>
            <a:pPr marL="342900" indent="-342900">
              <a:spcBef>
                <a:spcPct val="40000"/>
              </a:spcBef>
              <a:buFontTx/>
              <a:buChar char="•"/>
            </a:pPr>
            <a:endParaRPr lang="en-US" altLang="zh-TW" sz="2200" dirty="0"/>
          </a:p>
          <a:p>
            <a:pPr marL="342900" indent="-342900">
              <a:spcBef>
                <a:spcPct val="40000"/>
              </a:spcBef>
              <a:buFont typeface="Arial" panose="020B0604020202020204" pitchFamily="34" charset="0"/>
              <a:buChar char="•"/>
            </a:pPr>
            <a:r>
              <a:rPr lang="en-US" sz="2200" b="1" dirty="0" err="1">
                <a:solidFill>
                  <a:srgbClr val="FF00FF"/>
                </a:solidFill>
              </a:rPr>
              <a:t>Analyse</a:t>
            </a:r>
            <a:r>
              <a:rPr lang="en-US" sz="2200" b="1" dirty="0"/>
              <a:t> </a:t>
            </a:r>
            <a:r>
              <a:rPr lang="en-US" sz="2200" dirty="0"/>
              <a:t>the possible role of a teacher</a:t>
            </a:r>
          </a:p>
        </p:txBody>
      </p:sp>
      <p:sp>
        <p:nvSpPr>
          <p:cNvPr id="6" name="Text Placeholder 5">
            <a:extLst>
              <a:ext uri="{FF2B5EF4-FFF2-40B4-BE49-F238E27FC236}">
                <a16:creationId xmlns:a16="http://schemas.microsoft.com/office/drawing/2014/main" id="{3AACC078-E306-4B26-B15C-36960EC466EE}"/>
              </a:ext>
            </a:extLst>
          </p:cNvPr>
          <p:cNvSpPr>
            <a:spLocks noGrp="1"/>
          </p:cNvSpPr>
          <p:nvPr>
            <p:ph type="body" sz="half" idx="2"/>
          </p:nvPr>
        </p:nvSpPr>
        <p:spPr/>
        <p:txBody>
          <a:bodyPr/>
          <a:lstStyle/>
          <a:p>
            <a:r>
              <a:rPr lang="en-US" sz="1400" b="1" dirty="0">
                <a:solidFill>
                  <a:schemeClr val="bg1"/>
                </a:solidFill>
                <a:effectLst>
                  <a:outerShdw blurRad="38100" dist="38100" dir="2700000" algn="tl">
                    <a:srgbClr val="C0C0C0"/>
                  </a:outerShdw>
                </a:effectLst>
              </a:rPr>
              <a:t>Session One</a:t>
            </a:r>
            <a:endParaRPr lang="en-HK" dirty="0">
              <a:solidFill>
                <a:schemeClr val="bg1"/>
              </a:solidFill>
            </a:endParaRPr>
          </a:p>
        </p:txBody>
      </p:sp>
      <p:sp>
        <p:nvSpPr>
          <p:cNvPr id="112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B0A4E025-4015-4435-A985-E36655238669}" type="slidenum">
              <a:rPr kumimoji="0" lang="en-US" altLang="zh-TW" smtClean="0"/>
              <a:pPr eaLnBrk="1" hangingPunct="1"/>
              <a:t>4</a:t>
            </a:fld>
            <a:endParaRPr kumimoji="0" lang="en-US" altLang="zh-TW"/>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Where are you from?</a:t>
            </a:r>
          </a:p>
        </p:txBody>
      </p:sp>
      <p:sp>
        <p:nvSpPr>
          <p:cNvPr id="2" name="Slide Number Placeholder 1"/>
          <p:cNvSpPr>
            <a:spLocks noGrp="1"/>
          </p:cNvSpPr>
          <p:nvPr>
            <p:ph type="sldNum" sz="quarter" idx="12"/>
          </p:nvPr>
        </p:nvSpPr>
        <p:spPr/>
        <p:txBody>
          <a:bodyPr/>
          <a:lstStyle/>
          <a:p>
            <a:pPr>
              <a:defRPr/>
            </a:pPr>
            <a:fld id="{5BD813F3-0D3A-4396-A401-AABFF6BDAFAD}" type="slidenum">
              <a:rPr lang="en-US" altLang="zh-TW" smtClean="0"/>
              <a:pPr>
                <a:defRPr/>
              </a:pPr>
              <a:t>5</a:t>
            </a:fld>
            <a:endParaRPr lang="en-US" altLang="zh-TW" dirty="0"/>
          </a:p>
        </p:txBody>
      </p:sp>
      <p:sp>
        <p:nvSpPr>
          <p:cNvPr id="7" name="Rectangle 6"/>
          <p:cNvSpPr/>
          <p:nvPr/>
        </p:nvSpPr>
        <p:spPr>
          <a:xfrm>
            <a:off x="3863752" y="1412776"/>
            <a:ext cx="4004673" cy="4611519"/>
          </a:xfrm>
          <a:prstGeom prst="rect">
            <a:avLst/>
          </a:prstGeom>
        </p:spPr>
        <p:txBody>
          <a:bodyPr wrap="square">
            <a:spAutoFit/>
          </a:bodyPr>
          <a:lstStyle/>
          <a:p>
            <a:pPr marL="342900" indent="-342900">
              <a:lnSpc>
                <a:spcPct val="150000"/>
              </a:lnSpc>
              <a:buFont typeface="+mj-lt"/>
              <a:buAutoNum type="alphaUcPeriod"/>
            </a:pPr>
            <a:r>
              <a:rPr lang="en-US" dirty="0"/>
              <a:t>Local (Hong Kong, SAR)</a:t>
            </a:r>
          </a:p>
          <a:p>
            <a:pPr marL="342900" indent="-342900">
              <a:lnSpc>
                <a:spcPct val="150000"/>
              </a:lnSpc>
              <a:buFont typeface="+mj-lt"/>
              <a:buAutoNum type="alphaUcPeriod"/>
            </a:pPr>
            <a:r>
              <a:rPr lang="en-US" dirty="0"/>
              <a:t>South-east Asia</a:t>
            </a:r>
          </a:p>
          <a:p>
            <a:pPr marL="342900" indent="-342900">
              <a:lnSpc>
                <a:spcPct val="150000"/>
              </a:lnSpc>
              <a:buFont typeface="+mj-lt"/>
              <a:buAutoNum type="alphaUcPeriod"/>
            </a:pPr>
            <a:r>
              <a:rPr lang="en-US" dirty="0"/>
              <a:t>South Asia and Central Asia</a:t>
            </a:r>
          </a:p>
          <a:p>
            <a:pPr marL="342900" indent="-342900">
              <a:lnSpc>
                <a:spcPct val="150000"/>
              </a:lnSpc>
              <a:buFont typeface="+mj-lt"/>
              <a:buAutoNum type="alphaUcPeriod"/>
            </a:pPr>
            <a:r>
              <a:rPr lang="en-US" dirty="0"/>
              <a:t>East Asia (not Mainland China)</a:t>
            </a:r>
          </a:p>
          <a:p>
            <a:pPr marL="342900" indent="-342900">
              <a:lnSpc>
                <a:spcPct val="150000"/>
              </a:lnSpc>
              <a:buFont typeface="+mj-lt"/>
              <a:buAutoNum type="alphaUcPeriod"/>
            </a:pPr>
            <a:r>
              <a:rPr lang="en-US" dirty="0"/>
              <a:t>Australia/New Zealand</a:t>
            </a:r>
          </a:p>
          <a:p>
            <a:pPr marL="342900" indent="-342900">
              <a:lnSpc>
                <a:spcPct val="150000"/>
              </a:lnSpc>
              <a:buFont typeface="+mj-lt"/>
              <a:buAutoNum type="alphaUcPeriod"/>
            </a:pPr>
            <a:r>
              <a:rPr lang="en-US" dirty="0"/>
              <a:t>Middle East</a:t>
            </a:r>
          </a:p>
          <a:p>
            <a:pPr marL="342900" indent="-342900">
              <a:lnSpc>
                <a:spcPct val="150000"/>
              </a:lnSpc>
              <a:buFont typeface="+mj-lt"/>
              <a:buAutoNum type="alphaUcPeriod"/>
            </a:pPr>
            <a:r>
              <a:rPr lang="en-US" dirty="0"/>
              <a:t>Europe</a:t>
            </a:r>
          </a:p>
          <a:p>
            <a:pPr marL="342900" indent="-342900">
              <a:lnSpc>
                <a:spcPct val="150000"/>
              </a:lnSpc>
              <a:buFont typeface="+mj-lt"/>
              <a:buAutoNum type="alphaUcPeriod"/>
            </a:pPr>
            <a:r>
              <a:rPr lang="en-US" dirty="0"/>
              <a:t>Africa</a:t>
            </a:r>
          </a:p>
          <a:p>
            <a:pPr marL="342900" indent="-342900">
              <a:lnSpc>
                <a:spcPct val="150000"/>
              </a:lnSpc>
              <a:buFont typeface="+mj-lt"/>
              <a:buAutoNum type="alphaUcPeriod"/>
            </a:pPr>
            <a:r>
              <a:rPr lang="en-US" dirty="0"/>
              <a:t>North/South America</a:t>
            </a:r>
          </a:p>
          <a:p>
            <a:pPr marL="342900" indent="-342900">
              <a:lnSpc>
                <a:spcPct val="150000"/>
              </a:lnSpc>
              <a:buFont typeface="+mj-lt"/>
              <a:buAutoNum type="alphaUcPeriod"/>
            </a:pPr>
            <a:r>
              <a:rPr lang="en-US" dirty="0"/>
              <a:t>Mainland China</a:t>
            </a:r>
          </a:p>
          <a:p>
            <a:pPr marL="342900" indent="-342900">
              <a:lnSpc>
                <a:spcPct val="150000"/>
              </a:lnSpc>
              <a:buFont typeface="+mj-lt"/>
              <a:buAutoNum type="alphaUcPeriod"/>
            </a:pPr>
            <a:r>
              <a:rPr lang="en-US" dirty="0"/>
              <a:t>Other</a:t>
            </a:r>
          </a:p>
        </p:txBody>
      </p:sp>
      <p:pic>
        <p:nvPicPr>
          <p:cNvPr id="2052" name="Picture 4" descr="C:\Users\phchiu\AppData\Local\Microsoft\Windows\Temporary Internet Files\Content.IE5\1GGTH9NK\MC90043961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8639" y="4221088"/>
            <a:ext cx="2196466" cy="241820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894545B-0D41-421B-885A-A3FC294574B7}"/>
              </a:ext>
            </a:extLst>
          </p:cNvPr>
          <p:cNvSpPr/>
          <p:nvPr/>
        </p:nvSpPr>
        <p:spPr>
          <a:xfrm>
            <a:off x="7464152" y="833705"/>
            <a:ext cx="4004673" cy="736035"/>
          </a:xfrm>
          <a:prstGeom prst="rect">
            <a:avLst/>
          </a:prstGeom>
        </p:spPr>
        <p:txBody>
          <a:bodyPr wrap="square">
            <a:spAutoFit/>
          </a:bodyPr>
          <a:lstStyle/>
          <a:p>
            <a:pPr>
              <a:lnSpc>
                <a:spcPct val="150000"/>
              </a:lnSpc>
            </a:pPr>
            <a:r>
              <a:rPr lang="en-US" sz="3200" dirty="0" err="1">
                <a:latin typeface="Berlin Sans FB Demi" panose="020E0802020502020306" pitchFamily="34" charset="0"/>
              </a:rPr>
              <a:t>Mentimeter</a:t>
            </a:r>
            <a:r>
              <a:rPr lang="en-US" sz="3200" dirty="0">
                <a:latin typeface="Berlin Sans FB Demi" panose="020E0802020502020306" pitchFamily="34" charset="0"/>
              </a:rPr>
              <a:t>!</a:t>
            </a:r>
          </a:p>
        </p:txBody>
      </p:sp>
    </p:spTree>
    <p:extLst>
      <p:ext uri="{BB962C8B-B14F-4D97-AF65-F5344CB8AC3E}">
        <p14:creationId xmlns:p14="http://schemas.microsoft.com/office/powerpoint/2010/main" val="3183895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75720" y="1916832"/>
            <a:ext cx="8208912" cy="3384376"/>
          </a:xfrm>
        </p:spPr>
        <p:txBody>
          <a:bodyPr>
            <a:noAutofit/>
          </a:bodyPr>
          <a:lstStyle/>
          <a:p>
            <a:pPr lvl="1" algn="ctr"/>
            <a:r>
              <a:rPr lang="en-US" sz="2500" dirty="0">
                <a:solidFill>
                  <a:srgbClr val="0070C0"/>
                </a:solidFill>
              </a:rPr>
              <a:t>Question:</a:t>
            </a:r>
            <a:br>
              <a:rPr lang="en-US" sz="2500" dirty="0"/>
            </a:br>
            <a:br>
              <a:rPr lang="en-US" sz="2500" dirty="0"/>
            </a:br>
            <a:r>
              <a:rPr lang="en-US" sz="2500" dirty="0"/>
              <a:t>In your opinion, what are your expectations of tutors?</a:t>
            </a:r>
            <a:br>
              <a:rPr lang="en-US" sz="2500" dirty="0"/>
            </a:br>
            <a:br>
              <a:rPr lang="en-US" sz="2500" dirty="0"/>
            </a:br>
            <a:br>
              <a:rPr lang="en-US" sz="2500" dirty="0"/>
            </a:br>
            <a:br>
              <a:rPr lang="en-US" sz="2500" dirty="0"/>
            </a:br>
            <a:br>
              <a:rPr lang="en-US" sz="2500" dirty="0"/>
            </a:br>
            <a:br>
              <a:rPr lang="en-US" sz="2500" dirty="0"/>
            </a:br>
            <a:endParaRPr lang="en-US" sz="2500" dirty="0"/>
          </a:p>
        </p:txBody>
      </p:sp>
      <p:sp>
        <p:nvSpPr>
          <p:cNvPr id="4" name="Slide Number Placeholder 3"/>
          <p:cNvSpPr>
            <a:spLocks noGrp="1"/>
          </p:cNvSpPr>
          <p:nvPr>
            <p:ph type="sldNum" sz="quarter" idx="12"/>
          </p:nvPr>
        </p:nvSpPr>
        <p:spPr/>
        <p:txBody>
          <a:bodyPr/>
          <a:lstStyle/>
          <a:p>
            <a:pPr>
              <a:defRPr/>
            </a:pPr>
            <a:fld id="{6083F8EF-996E-4349-AC07-DBF324BBB722}" type="slidenum">
              <a:rPr lang="en-US" altLang="zh-TW" smtClean="0"/>
              <a:pPr>
                <a:defRPr/>
              </a:pPr>
              <a:t>6</a:t>
            </a:fld>
            <a:endParaRPr lang="en-US" altLang="zh-TW" dirty="0"/>
          </a:p>
        </p:txBody>
      </p:sp>
      <p:sp>
        <p:nvSpPr>
          <p:cNvPr id="5" name="Rectangle 4">
            <a:extLst>
              <a:ext uri="{FF2B5EF4-FFF2-40B4-BE49-F238E27FC236}">
                <a16:creationId xmlns:a16="http://schemas.microsoft.com/office/drawing/2014/main" id="{7192AFE9-2D25-4C7A-A473-D0F9AD7ED232}"/>
              </a:ext>
            </a:extLst>
          </p:cNvPr>
          <p:cNvSpPr/>
          <p:nvPr/>
        </p:nvSpPr>
        <p:spPr>
          <a:xfrm>
            <a:off x="9048328" y="4293096"/>
            <a:ext cx="4004673" cy="736035"/>
          </a:xfrm>
          <a:prstGeom prst="rect">
            <a:avLst/>
          </a:prstGeom>
        </p:spPr>
        <p:txBody>
          <a:bodyPr wrap="square">
            <a:spAutoFit/>
          </a:bodyPr>
          <a:lstStyle/>
          <a:p>
            <a:pPr>
              <a:lnSpc>
                <a:spcPct val="150000"/>
              </a:lnSpc>
            </a:pPr>
            <a:r>
              <a:rPr lang="en-US" sz="3200" dirty="0">
                <a:latin typeface="Berlin Sans FB Demi" panose="020E0802020502020306" pitchFamily="34" charset="0"/>
              </a:rPr>
              <a:t>P</a:t>
            </a:r>
            <a:r>
              <a:rPr lang="en-HK" sz="3200" dirty="0" err="1">
                <a:latin typeface="Berlin Sans FB Demi" panose="020E0802020502020306" pitchFamily="34" charset="0"/>
              </a:rPr>
              <a:t>adlet</a:t>
            </a:r>
            <a:r>
              <a:rPr lang="en-HK" sz="3200" dirty="0">
                <a:latin typeface="Berlin Sans FB Demi" panose="020E0802020502020306" pitchFamily="34" charset="0"/>
              </a:rPr>
              <a:t>!</a:t>
            </a:r>
            <a:endParaRPr lang="en-US" sz="3200" dirty="0">
              <a:latin typeface="Berlin Sans FB Demi" panose="020E0802020502020306" pitchFamily="34" charset="0"/>
            </a:endParaRPr>
          </a:p>
        </p:txBody>
      </p:sp>
      <p:pic>
        <p:nvPicPr>
          <p:cNvPr id="6" name="Picture 5">
            <a:extLst>
              <a:ext uri="{FF2B5EF4-FFF2-40B4-BE49-F238E27FC236}">
                <a16:creationId xmlns:a16="http://schemas.microsoft.com/office/drawing/2014/main" id="{0A3A1EC5-E416-4840-A24C-FCB9A6E4E7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96" y="4149080"/>
            <a:ext cx="2060848" cy="2060848"/>
          </a:xfrm>
          <a:prstGeom prst="rect">
            <a:avLst/>
          </a:prstGeom>
        </p:spPr>
      </p:pic>
    </p:spTree>
    <p:extLst>
      <p:ext uri="{BB962C8B-B14F-4D97-AF65-F5344CB8AC3E}">
        <p14:creationId xmlns:p14="http://schemas.microsoft.com/office/powerpoint/2010/main" val="1886899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Professors’ expectations on tutors at </a:t>
            </a:r>
            <a:r>
              <a:rPr lang="en-US" dirty="0" err="1"/>
              <a:t>CityUHK</a:t>
            </a:r>
            <a:endParaRPr lang="en-US" dirty="0"/>
          </a:p>
        </p:txBody>
      </p:sp>
      <p:sp>
        <p:nvSpPr>
          <p:cNvPr id="3" name="Content Placeholder 2"/>
          <p:cNvSpPr>
            <a:spLocks noGrp="1"/>
          </p:cNvSpPr>
          <p:nvPr>
            <p:ph idx="1"/>
          </p:nvPr>
        </p:nvSpPr>
        <p:spPr/>
        <p:txBody>
          <a:bodyPr>
            <a:normAutofit/>
          </a:bodyPr>
          <a:lstStyle/>
          <a:p>
            <a:r>
              <a:rPr lang="en-US" sz="2200" dirty="0"/>
              <a:t>What are your expectations on tutors? </a:t>
            </a:r>
          </a:p>
          <a:p>
            <a:r>
              <a:rPr lang="en-US" sz="2200" dirty="0"/>
              <a:t>What kind of duties you would like them to handle?</a:t>
            </a:r>
          </a:p>
          <a:p>
            <a:endParaRPr lang="en-US" sz="2200" dirty="0"/>
          </a:p>
          <a:p>
            <a:pPr marL="849313" lvl="1" indent="-457200">
              <a:buFont typeface="+mj-lt"/>
              <a:buAutoNum type="arabicPeriod"/>
            </a:pPr>
            <a:r>
              <a:rPr lang="en-US" sz="2200" dirty="0">
                <a:solidFill>
                  <a:srgbClr val="FF0000"/>
                </a:solidFill>
              </a:rPr>
              <a:t>Conduct tutorial: </a:t>
            </a:r>
            <a:r>
              <a:rPr lang="en-US" sz="2200" dirty="0"/>
              <a:t>Explain lecture materials, guide students to do exercises, answer students’ questions on assignments</a:t>
            </a:r>
          </a:p>
          <a:p>
            <a:pPr marL="849313" lvl="1" indent="-457200">
              <a:buFont typeface="+mj-lt"/>
              <a:buAutoNum type="arabicPeriod"/>
            </a:pPr>
            <a:r>
              <a:rPr lang="en-US" sz="2200" dirty="0">
                <a:solidFill>
                  <a:srgbClr val="FF0000"/>
                </a:solidFill>
              </a:rPr>
              <a:t>Grade assignment/quiz/test: </a:t>
            </a:r>
            <a:r>
              <a:rPr lang="en-US" sz="2200" dirty="0"/>
              <a:t>Provide fair and responsible grading</a:t>
            </a:r>
          </a:p>
          <a:p>
            <a:pPr marL="849313" lvl="1" indent="-457200">
              <a:buFont typeface="+mj-lt"/>
              <a:buAutoNum type="arabicPeriod"/>
            </a:pPr>
            <a:r>
              <a:rPr lang="en-US" sz="2200" dirty="0">
                <a:solidFill>
                  <a:srgbClr val="FF0000"/>
                </a:solidFill>
              </a:rPr>
              <a:t>Conduct Laboratory sessions</a:t>
            </a:r>
            <a:r>
              <a:rPr lang="en-US" sz="2200" dirty="0"/>
              <a:t>: Guide students to conduct experiment</a:t>
            </a:r>
          </a:p>
        </p:txBody>
      </p:sp>
    </p:spTree>
    <p:extLst>
      <p:ext uri="{BB962C8B-B14F-4D97-AF65-F5344CB8AC3E}">
        <p14:creationId xmlns:p14="http://schemas.microsoft.com/office/powerpoint/2010/main" val="101349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Question</a:t>
            </a:r>
          </a:p>
        </p:txBody>
      </p:sp>
      <p:sp>
        <p:nvSpPr>
          <p:cNvPr id="3" name="Content Placeholder 2"/>
          <p:cNvSpPr>
            <a:spLocks noGrp="1"/>
          </p:cNvSpPr>
          <p:nvPr>
            <p:ph idx="1"/>
          </p:nvPr>
        </p:nvSpPr>
        <p:spPr>
          <a:xfrm>
            <a:off x="3503712" y="1133992"/>
            <a:ext cx="8229600" cy="4162276"/>
          </a:xfrm>
        </p:spPr>
        <p:txBody>
          <a:bodyPr/>
          <a:lstStyle/>
          <a:p>
            <a:pPr marL="109537" indent="0" algn="ctr">
              <a:buNone/>
            </a:pPr>
            <a:r>
              <a:rPr lang="en-US" sz="3600" dirty="0"/>
              <a:t>What challenges (or worries) come with being a tutor?</a:t>
            </a:r>
          </a:p>
          <a:p>
            <a:pPr lvl="1"/>
            <a:endParaRPr lang="en-US" sz="2800" dirty="0"/>
          </a:p>
          <a:p>
            <a:pPr lvl="1"/>
            <a:endParaRPr lang="en-US" sz="2400" dirty="0"/>
          </a:p>
        </p:txBody>
      </p:sp>
      <p:sp>
        <p:nvSpPr>
          <p:cNvPr id="5" name="Rectangle 4">
            <a:extLst>
              <a:ext uri="{FF2B5EF4-FFF2-40B4-BE49-F238E27FC236}">
                <a16:creationId xmlns:a16="http://schemas.microsoft.com/office/drawing/2014/main" id="{3855A995-CCA9-4985-985A-10271D0B5893}"/>
              </a:ext>
            </a:extLst>
          </p:cNvPr>
          <p:cNvSpPr/>
          <p:nvPr/>
        </p:nvSpPr>
        <p:spPr>
          <a:xfrm>
            <a:off x="9048328" y="4293096"/>
            <a:ext cx="4004673" cy="736035"/>
          </a:xfrm>
          <a:prstGeom prst="rect">
            <a:avLst/>
          </a:prstGeom>
        </p:spPr>
        <p:txBody>
          <a:bodyPr wrap="square">
            <a:spAutoFit/>
          </a:bodyPr>
          <a:lstStyle/>
          <a:p>
            <a:pPr>
              <a:lnSpc>
                <a:spcPct val="150000"/>
              </a:lnSpc>
            </a:pPr>
            <a:r>
              <a:rPr lang="en-US" sz="3200" dirty="0">
                <a:latin typeface="Berlin Sans FB Demi" panose="020E0802020502020306" pitchFamily="34" charset="0"/>
              </a:rPr>
              <a:t>P</a:t>
            </a:r>
            <a:r>
              <a:rPr lang="en-HK" sz="3200" dirty="0" err="1">
                <a:latin typeface="Berlin Sans FB Demi" panose="020E0802020502020306" pitchFamily="34" charset="0"/>
              </a:rPr>
              <a:t>adlet</a:t>
            </a:r>
            <a:r>
              <a:rPr lang="en-HK" sz="3200" dirty="0">
                <a:latin typeface="Berlin Sans FB Demi" panose="020E0802020502020306" pitchFamily="34" charset="0"/>
              </a:rPr>
              <a:t>!</a:t>
            </a:r>
            <a:endParaRPr lang="en-US" sz="3200" dirty="0">
              <a:latin typeface="Berlin Sans FB Demi" panose="020E0802020502020306" pitchFamily="34" charset="0"/>
            </a:endParaRPr>
          </a:p>
        </p:txBody>
      </p:sp>
      <p:pic>
        <p:nvPicPr>
          <p:cNvPr id="6" name="Picture 5">
            <a:extLst>
              <a:ext uri="{FF2B5EF4-FFF2-40B4-BE49-F238E27FC236}">
                <a16:creationId xmlns:a16="http://schemas.microsoft.com/office/drawing/2014/main" id="{613E3B3C-67FD-4614-B8C9-2103BA239A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96" y="4149080"/>
            <a:ext cx="2060848" cy="2060848"/>
          </a:xfrm>
          <a:prstGeom prst="rect">
            <a:avLst/>
          </a:prstGeom>
        </p:spPr>
      </p:pic>
    </p:spTree>
    <p:extLst>
      <p:ext uri="{BB962C8B-B14F-4D97-AF65-F5344CB8AC3E}">
        <p14:creationId xmlns:p14="http://schemas.microsoft.com/office/powerpoint/2010/main" val="465243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Our Observations on GTAs</a:t>
            </a:r>
          </a:p>
        </p:txBody>
      </p:sp>
      <p:sp>
        <p:nvSpPr>
          <p:cNvPr id="3" name="Content Placeholder 2"/>
          <p:cNvSpPr>
            <a:spLocks noGrp="1"/>
          </p:cNvSpPr>
          <p:nvPr>
            <p:ph idx="1"/>
          </p:nvPr>
        </p:nvSpPr>
        <p:spPr>
          <a:xfrm>
            <a:off x="3575720" y="1706760"/>
            <a:ext cx="8229600" cy="4018260"/>
          </a:xfrm>
        </p:spPr>
        <p:txBody>
          <a:bodyPr>
            <a:normAutofit/>
          </a:bodyPr>
          <a:lstStyle/>
          <a:p>
            <a:r>
              <a:rPr lang="en-US" sz="2300" dirty="0">
                <a:solidFill>
                  <a:srgbClr val="FF0000"/>
                </a:solidFill>
              </a:rPr>
              <a:t>Confuse</a:t>
            </a:r>
            <a:r>
              <a:rPr lang="en-US" sz="2300" dirty="0"/>
              <a:t> about teaching duties at CityU</a:t>
            </a:r>
            <a:endParaRPr lang="en-US" sz="2300" dirty="0">
              <a:solidFill>
                <a:srgbClr val="FF0000"/>
              </a:solidFill>
            </a:endParaRPr>
          </a:p>
          <a:p>
            <a:endParaRPr lang="en-US" sz="2300" dirty="0"/>
          </a:p>
          <a:p>
            <a:r>
              <a:rPr lang="en-US" sz="2300" dirty="0">
                <a:solidFill>
                  <a:srgbClr val="FF0000"/>
                </a:solidFill>
              </a:rPr>
              <a:t>Worry </a:t>
            </a:r>
            <a:r>
              <a:rPr lang="en-US" sz="2300" dirty="0"/>
              <a:t>about conducting teaching duties will consume their time for research activities</a:t>
            </a:r>
          </a:p>
          <a:p>
            <a:endParaRPr lang="en-US" sz="2300" dirty="0"/>
          </a:p>
          <a:p>
            <a:r>
              <a:rPr lang="en-US" sz="2300" dirty="0"/>
              <a:t>May have problem in using </a:t>
            </a:r>
            <a:r>
              <a:rPr lang="en-US" sz="2300" dirty="0">
                <a:solidFill>
                  <a:srgbClr val="FF0000"/>
                </a:solidFill>
              </a:rPr>
              <a:t>English</a:t>
            </a:r>
            <a:r>
              <a:rPr lang="en-US" sz="2300" dirty="0"/>
              <a:t> to teach/to explain materials</a:t>
            </a:r>
          </a:p>
          <a:p>
            <a:endParaRPr lang="en-US" sz="2300" dirty="0"/>
          </a:p>
          <a:p>
            <a:pPr lvl="1"/>
            <a:endParaRPr lang="en-US" sz="2300" dirty="0"/>
          </a:p>
        </p:txBody>
      </p:sp>
    </p:spTree>
    <p:extLst>
      <p:ext uri="{BB962C8B-B14F-4D97-AF65-F5344CB8AC3E}">
        <p14:creationId xmlns:p14="http://schemas.microsoft.com/office/powerpoint/2010/main" val="836280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6632"/>
            <a:ext cx="9067800" cy="639762"/>
          </a:xfrm>
        </p:spPr>
        <p:txBody>
          <a:bodyPr>
            <a:noAutofit/>
          </a:bodyPr>
          <a:lstStyle/>
          <a:p>
            <a:pPr>
              <a:defRPr/>
            </a:pPr>
            <a:r>
              <a:rPr lang="en-US" sz="2800" dirty="0"/>
              <a:t>Teaching duty </a:t>
            </a:r>
            <a:r>
              <a:rPr lang="en-US" sz="1800" dirty="0"/>
              <a:t>(Guidebook for Research Degree Studies)</a:t>
            </a:r>
          </a:p>
        </p:txBody>
      </p:sp>
      <p:sp>
        <p:nvSpPr>
          <p:cNvPr id="3" name="Content Placeholder 2"/>
          <p:cNvSpPr>
            <a:spLocks noGrp="1"/>
          </p:cNvSpPr>
          <p:nvPr>
            <p:ph idx="1"/>
          </p:nvPr>
        </p:nvSpPr>
        <p:spPr>
          <a:xfrm>
            <a:off x="3431704" y="756394"/>
            <a:ext cx="8686800" cy="5486400"/>
          </a:xfrm>
        </p:spPr>
        <p:txBody>
          <a:bodyPr>
            <a:normAutofit fontScale="92500" lnSpcReduction="10000"/>
          </a:bodyPr>
          <a:lstStyle/>
          <a:p>
            <a:pPr>
              <a:defRPr/>
            </a:pPr>
            <a:r>
              <a:rPr lang="en-US" sz="2400" dirty="0">
                <a:solidFill>
                  <a:srgbClr val="002060"/>
                </a:solidFill>
              </a:rPr>
              <a:t>Appendix 17: </a:t>
            </a:r>
            <a:r>
              <a:rPr lang="en-US" dirty="0">
                <a:solidFill>
                  <a:srgbClr val="002060"/>
                </a:solidFill>
              </a:rPr>
              <a:t>Regulations Governing Postgraduate Studentships </a:t>
            </a:r>
          </a:p>
          <a:p>
            <a:pPr>
              <a:defRPr/>
            </a:pPr>
            <a:r>
              <a:rPr lang="en-US" sz="2400" b="1" dirty="0">
                <a:solidFill>
                  <a:schemeClr val="accent1">
                    <a:lumMod val="50000"/>
                  </a:schemeClr>
                </a:solidFill>
              </a:rPr>
              <a:t>Studentship Renewal and Periodic Checking </a:t>
            </a:r>
          </a:p>
          <a:p>
            <a:pPr lvl="1">
              <a:defRPr/>
            </a:pPr>
            <a:r>
              <a:rPr lang="en-US" sz="2000" dirty="0"/>
              <a:t>The Postgraduate Studentship is normally </a:t>
            </a:r>
            <a:r>
              <a:rPr lang="en-US" sz="2000" dirty="0">
                <a:solidFill>
                  <a:schemeClr val="accent2"/>
                </a:solidFill>
              </a:rPr>
              <a:t>granted on a yearly basis and is subject to renewal</a:t>
            </a:r>
            <a:r>
              <a:rPr lang="en-US" sz="2000" dirty="0"/>
              <a:t>…. Students’ performance in any academic-related duties…will also be taken into account when being considered for studentship renewal. </a:t>
            </a:r>
          </a:p>
          <a:p>
            <a:pPr lvl="1">
              <a:defRPr/>
            </a:pPr>
            <a:endParaRPr lang="en-US" sz="2000" dirty="0"/>
          </a:p>
          <a:p>
            <a:pPr lvl="1">
              <a:defRPr/>
            </a:pPr>
            <a:endParaRPr lang="en-US" sz="2000" dirty="0"/>
          </a:p>
          <a:p>
            <a:pPr>
              <a:defRPr/>
            </a:pPr>
            <a:r>
              <a:rPr lang="en-US" sz="2400" b="1" dirty="0">
                <a:solidFill>
                  <a:schemeClr val="accent1">
                    <a:lumMod val="50000"/>
                  </a:schemeClr>
                </a:solidFill>
              </a:rPr>
              <a:t>Conditions</a:t>
            </a:r>
            <a:r>
              <a:rPr lang="en-US" sz="2400" dirty="0">
                <a:solidFill>
                  <a:schemeClr val="accent1">
                    <a:lumMod val="50000"/>
                  </a:schemeClr>
                </a:solidFill>
              </a:rPr>
              <a:t> </a:t>
            </a:r>
          </a:p>
          <a:p>
            <a:pPr lvl="1">
              <a:defRPr/>
            </a:pPr>
            <a:r>
              <a:rPr lang="en-US" sz="2000" dirty="0"/>
              <a:t>Studentship recipients are normally required to undertake up to </a:t>
            </a:r>
            <a:r>
              <a:rPr lang="en-US" sz="3000" b="1" dirty="0">
                <a:solidFill>
                  <a:schemeClr val="accent2"/>
                </a:solidFill>
                <a:effectLst>
                  <a:outerShdw blurRad="38100" dist="38100" dir="2700000" algn="tl">
                    <a:srgbClr val="000000">
                      <a:alpha val="43137"/>
                    </a:srgbClr>
                  </a:outerShdw>
                </a:effectLst>
              </a:rPr>
              <a:t>six hours of academic-related duties </a:t>
            </a:r>
            <a:r>
              <a:rPr lang="en-US" sz="2000" dirty="0"/>
              <a:t>per week</a:t>
            </a:r>
          </a:p>
          <a:p>
            <a:pPr lvl="1">
              <a:defRPr/>
            </a:pPr>
            <a:endParaRPr lang="en-US" sz="2000" dirty="0"/>
          </a:p>
          <a:p>
            <a:pPr>
              <a:defRPr/>
            </a:pPr>
            <a:r>
              <a:rPr lang="en-US" sz="2400" b="1" dirty="0">
                <a:solidFill>
                  <a:schemeClr val="accent1">
                    <a:lumMod val="50000"/>
                  </a:schemeClr>
                </a:solidFill>
              </a:rPr>
              <a:t>Discontinuation/Suspension of the Award </a:t>
            </a:r>
          </a:p>
          <a:p>
            <a:pPr lvl="1">
              <a:defRPr/>
            </a:pPr>
            <a:r>
              <a:rPr lang="en-US" sz="2000" dirty="0"/>
              <a:t> A student’s award shall be discontinued in the event of one of the following: </a:t>
            </a:r>
          </a:p>
          <a:p>
            <a:pPr lvl="1">
              <a:buFont typeface="Verdana" pitchFamily="34" charset="0"/>
              <a:buNone/>
              <a:defRPr/>
            </a:pPr>
            <a:r>
              <a:rPr lang="en-US" sz="2000" dirty="0"/>
              <a:t>	(c)  </a:t>
            </a:r>
            <a:r>
              <a:rPr lang="en-US" sz="2000" dirty="0">
                <a:solidFill>
                  <a:schemeClr val="accent2"/>
                </a:solidFill>
              </a:rPr>
              <a:t>unsatisfactory performance in academic-related duties as reported by the Department;</a:t>
            </a:r>
          </a:p>
        </p:txBody>
      </p:sp>
      <p:sp>
        <p:nvSpPr>
          <p:cNvPr id="13320"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E7E60D32-C22E-4B8E-9584-18FEB221964B}" type="slidenum">
              <a:rPr kumimoji="0" lang="en-US" altLang="zh-TW" smtClean="0"/>
              <a:pPr eaLnBrk="1" hangingPunct="1"/>
              <a:t>10</a:t>
            </a:fld>
            <a:endParaRPr kumimoji="0" lang="en-US" altLang="zh-TW"/>
          </a:p>
        </p:txBody>
      </p:sp>
      <p:pic>
        <p:nvPicPr>
          <p:cNvPr id="13316" name="Picture 3" descr="C:\Users\phchiu\AppData\Local\Microsoft\Windows\Temporary Internet Files\Content.IE5\PZDR722B\MC900441922[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5836046"/>
            <a:ext cx="14478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4" descr="C:\Users\phchiu\AppData\Local\Microsoft\Windows\Temporary Internet Files\Content.IE5\SHGK4DFM\MC900039007[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1314" y="2640014"/>
            <a:ext cx="839787"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5" descr="C:\Users\phchiu\AppData\Local\Microsoft\Windows\Temporary Internet Files\Content.IE5\4GC421Y6\MC900446300[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5914" y="2620963"/>
            <a:ext cx="8270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6" descr="C:\Users\phchiu\AppData\Local\Microsoft\Windows\Temporary Internet Files\Content.IE5\SHGK4DFM\MC91021631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00826" y="2881313"/>
            <a:ext cx="8493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97224" y="4077072"/>
            <a:ext cx="8229600" cy="1143000"/>
          </a:xfrm>
        </p:spPr>
        <p:txBody>
          <a:bodyPr/>
          <a:lstStyle/>
          <a:p>
            <a:pPr algn="ctr"/>
            <a:r>
              <a:rPr lang="en-US" dirty="0"/>
              <a:t>Teaching is Good for YOU!</a:t>
            </a:r>
          </a:p>
        </p:txBody>
      </p:sp>
      <p:sp>
        <p:nvSpPr>
          <p:cNvPr id="4" name="Slide Number Placeholder 3"/>
          <p:cNvSpPr>
            <a:spLocks noGrp="1"/>
          </p:cNvSpPr>
          <p:nvPr>
            <p:ph type="sldNum" sz="quarter" idx="12"/>
          </p:nvPr>
        </p:nvSpPr>
        <p:spPr/>
        <p:txBody>
          <a:bodyPr/>
          <a:lstStyle/>
          <a:p>
            <a:pPr>
              <a:defRPr/>
            </a:pPr>
            <a:fld id="{6083F8EF-996E-4349-AC07-DBF324BBB722}" type="slidenum">
              <a:rPr lang="en-US" altLang="zh-TW" smtClean="0"/>
              <a:pPr>
                <a:defRPr/>
              </a:pPr>
              <a:t>11</a:t>
            </a:fld>
            <a:endParaRPr lang="en-US" altLang="zh-TW"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9856" y="1438825"/>
            <a:ext cx="4946896" cy="3781247"/>
          </a:xfrm>
          <a:prstGeom prst="rect">
            <a:avLst/>
          </a:prstGeom>
        </p:spPr>
      </p:pic>
    </p:spTree>
    <p:extLst>
      <p:ext uri="{BB962C8B-B14F-4D97-AF65-F5344CB8AC3E}">
        <p14:creationId xmlns:p14="http://schemas.microsoft.com/office/powerpoint/2010/main" val="141416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2AAD-3147-4260-BBFC-128A398E0FC7}"/>
              </a:ext>
            </a:extLst>
          </p:cNvPr>
          <p:cNvSpPr>
            <a:spLocks noGrp="1"/>
          </p:cNvSpPr>
          <p:nvPr>
            <p:ph type="title"/>
          </p:nvPr>
        </p:nvSpPr>
        <p:spPr/>
        <p:txBody>
          <a:bodyPr/>
          <a:lstStyle/>
          <a:p>
            <a:endParaRPr lang="en-HK"/>
          </a:p>
        </p:txBody>
      </p:sp>
      <p:sp>
        <p:nvSpPr>
          <p:cNvPr id="3" name="Content Placeholder 2">
            <a:extLst>
              <a:ext uri="{FF2B5EF4-FFF2-40B4-BE49-F238E27FC236}">
                <a16:creationId xmlns:a16="http://schemas.microsoft.com/office/drawing/2014/main" id="{5D1FF20E-7BD5-4516-AC58-5D6CFE07D509}"/>
              </a:ext>
            </a:extLst>
          </p:cNvPr>
          <p:cNvSpPr>
            <a:spLocks noGrp="1"/>
          </p:cNvSpPr>
          <p:nvPr>
            <p:ph idx="1"/>
          </p:nvPr>
        </p:nvSpPr>
        <p:spPr/>
        <p:txBody>
          <a:bodyPr>
            <a:normAutofit/>
          </a:bodyPr>
          <a:lstStyle/>
          <a:p>
            <a:r>
              <a:rPr lang="en-HK" sz="2800" dirty="0"/>
              <a:t>Do you think that you will benefit from teaching?</a:t>
            </a:r>
          </a:p>
        </p:txBody>
      </p:sp>
      <p:sp>
        <p:nvSpPr>
          <p:cNvPr id="4" name="Slide Number Placeholder 3">
            <a:extLst>
              <a:ext uri="{FF2B5EF4-FFF2-40B4-BE49-F238E27FC236}">
                <a16:creationId xmlns:a16="http://schemas.microsoft.com/office/drawing/2014/main" id="{4021A7BA-D73F-43F2-AD35-04931F63F381}"/>
              </a:ext>
            </a:extLst>
          </p:cNvPr>
          <p:cNvSpPr>
            <a:spLocks noGrp="1"/>
          </p:cNvSpPr>
          <p:nvPr>
            <p:ph type="sldNum" sz="quarter" idx="12"/>
          </p:nvPr>
        </p:nvSpPr>
        <p:spPr/>
        <p:txBody>
          <a:bodyPr/>
          <a:lstStyle/>
          <a:p>
            <a:pPr>
              <a:defRPr/>
            </a:pPr>
            <a:fld id="{6083F8EF-996E-4349-AC07-DBF324BBB722}" type="slidenum">
              <a:rPr lang="en-US" altLang="zh-TW" smtClean="0"/>
              <a:pPr>
                <a:defRPr/>
              </a:pPr>
              <a:t>12</a:t>
            </a:fld>
            <a:endParaRPr lang="en-US" altLang="zh-TW" dirty="0"/>
          </a:p>
        </p:txBody>
      </p:sp>
      <p:sp>
        <p:nvSpPr>
          <p:cNvPr id="6" name="Rectangle 5">
            <a:extLst>
              <a:ext uri="{FF2B5EF4-FFF2-40B4-BE49-F238E27FC236}">
                <a16:creationId xmlns:a16="http://schemas.microsoft.com/office/drawing/2014/main" id="{A3B28C05-9B69-4BB2-B97D-F896B777B450}"/>
              </a:ext>
            </a:extLst>
          </p:cNvPr>
          <p:cNvSpPr/>
          <p:nvPr/>
        </p:nvSpPr>
        <p:spPr>
          <a:xfrm>
            <a:off x="9048328" y="4293096"/>
            <a:ext cx="4004673" cy="736035"/>
          </a:xfrm>
          <a:prstGeom prst="rect">
            <a:avLst/>
          </a:prstGeom>
        </p:spPr>
        <p:txBody>
          <a:bodyPr wrap="square">
            <a:spAutoFit/>
          </a:bodyPr>
          <a:lstStyle/>
          <a:p>
            <a:pPr>
              <a:lnSpc>
                <a:spcPct val="150000"/>
              </a:lnSpc>
            </a:pPr>
            <a:r>
              <a:rPr lang="en-US" sz="3200" dirty="0">
                <a:latin typeface="Berlin Sans FB Demi" panose="020E0802020502020306" pitchFamily="34" charset="0"/>
              </a:rPr>
              <a:t>P</a:t>
            </a:r>
            <a:r>
              <a:rPr lang="en-HK" sz="3200" dirty="0" err="1">
                <a:latin typeface="Berlin Sans FB Demi" panose="020E0802020502020306" pitchFamily="34" charset="0"/>
              </a:rPr>
              <a:t>adlet</a:t>
            </a:r>
            <a:r>
              <a:rPr lang="en-HK" sz="3200" dirty="0">
                <a:latin typeface="Berlin Sans FB Demi" panose="020E0802020502020306" pitchFamily="34" charset="0"/>
              </a:rPr>
              <a:t>!</a:t>
            </a:r>
            <a:endParaRPr lang="en-US" sz="3200" dirty="0">
              <a:latin typeface="Berlin Sans FB Demi" panose="020E0802020502020306" pitchFamily="34" charset="0"/>
            </a:endParaRPr>
          </a:p>
        </p:txBody>
      </p:sp>
      <p:pic>
        <p:nvPicPr>
          <p:cNvPr id="7" name="Picture 6">
            <a:extLst>
              <a:ext uri="{FF2B5EF4-FFF2-40B4-BE49-F238E27FC236}">
                <a16:creationId xmlns:a16="http://schemas.microsoft.com/office/drawing/2014/main" id="{40708065-515F-4006-8379-AF36D0A3E4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96" y="4149080"/>
            <a:ext cx="2060848" cy="2060848"/>
          </a:xfrm>
          <a:prstGeom prst="rect">
            <a:avLst/>
          </a:prstGeom>
        </p:spPr>
      </p:pic>
    </p:spTree>
    <p:extLst>
      <p:ext uri="{BB962C8B-B14F-4D97-AF65-F5344CB8AC3E}">
        <p14:creationId xmlns:p14="http://schemas.microsoft.com/office/powerpoint/2010/main" val="1213436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7ADF5-BF0C-47A8-8A02-C776DCF0C0AD}"/>
              </a:ext>
            </a:extLst>
          </p:cNvPr>
          <p:cNvSpPr>
            <a:spLocks noGrp="1"/>
          </p:cNvSpPr>
          <p:nvPr>
            <p:ph type="title"/>
          </p:nvPr>
        </p:nvSpPr>
        <p:spPr/>
        <p:txBody>
          <a:bodyPr/>
          <a:lstStyle/>
          <a:p>
            <a:endParaRPr lang="en-HK"/>
          </a:p>
        </p:txBody>
      </p:sp>
      <p:sp>
        <p:nvSpPr>
          <p:cNvPr id="3" name="Content Placeholder 2">
            <a:extLst>
              <a:ext uri="{FF2B5EF4-FFF2-40B4-BE49-F238E27FC236}">
                <a16:creationId xmlns:a16="http://schemas.microsoft.com/office/drawing/2014/main" id="{E8283B59-AD91-4AEB-BAFB-5DA151A52B3E}"/>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91878BEF-14B5-4324-8A40-B5967084A718}"/>
              </a:ext>
            </a:extLst>
          </p:cNvPr>
          <p:cNvSpPr>
            <a:spLocks noGrp="1"/>
          </p:cNvSpPr>
          <p:nvPr>
            <p:ph type="sldNum" sz="quarter" idx="12"/>
          </p:nvPr>
        </p:nvSpPr>
        <p:spPr/>
        <p:txBody>
          <a:bodyPr/>
          <a:lstStyle/>
          <a:p>
            <a:pPr>
              <a:defRPr/>
            </a:pPr>
            <a:fld id="{6083F8EF-996E-4349-AC07-DBF324BBB722}" type="slidenum">
              <a:rPr lang="en-US" altLang="zh-TW" smtClean="0"/>
              <a:pPr>
                <a:defRPr/>
              </a:pPr>
              <a:t>13</a:t>
            </a:fld>
            <a:endParaRPr lang="en-US" altLang="zh-TW" dirty="0"/>
          </a:p>
        </p:txBody>
      </p:sp>
      <p:pic>
        <p:nvPicPr>
          <p:cNvPr id="6" name="Picture 5">
            <a:extLst>
              <a:ext uri="{FF2B5EF4-FFF2-40B4-BE49-F238E27FC236}">
                <a16:creationId xmlns:a16="http://schemas.microsoft.com/office/drawing/2014/main" id="{21F7E896-3F62-4A65-9866-2B306D233814}"/>
              </a:ext>
            </a:extLst>
          </p:cNvPr>
          <p:cNvPicPr>
            <a:picLocks noChangeAspect="1"/>
          </p:cNvPicPr>
          <p:nvPr/>
        </p:nvPicPr>
        <p:blipFill>
          <a:blip r:embed="rId2"/>
          <a:stretch>
            <a:fillRect/>
          </a:stretch>
        </p:blipFill>
        <p:spPr>
          <a:xfrm>
            <a:off x="875571" y="1518971"/>
            <a:ext cx="10440857" cy="3820058"/>
          </a:xfrm>
          <a:prstGeom prst="rect">
            <a:avLst/>
          </a:prstGeom>
        </p:spPr>
      </p:pic>
    </p:spTree>
    <p:extLst>
      <p:ext uri="{BB962C8B-B14F-4D97-AF65-F5344CB8AC3E}">
        <p14:creationId xmlns:p14="http://schemas.microsoft.com/office/powerpoint/2010/main" val="1761600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Teaching vs Research</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8035" y="980728"/>
            <a:ext cx="4263981" cy="352353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0522" y="1001358"/>
            <a:ext cx="4323630" cy="3502901"/>
          </a:xfrm>
          <a:prstGeom prst="rect">
            <a:avLst/>
          </a:prstGeom>
        </p:spPr>
      </p:pic>
      <p:sp>
        <p:nvSpPr>
          <p:cNvPr id="6" name="Rectangle 5"/>
          <p:cNvSpPr/>
          <p:nvPr/>
        </p:nvSpPr>
        <p:spPr>
          <a:xfrm>
            <a:off x="3518074" y="4576267"/>
            <a:ext cx="8626598" cy="1384995"/>
          </a:xfrm>
          <a:prstGeom prst="rect">
            <a:avLst/>
          </a:prstGeom>
        </p:spPr>
        <p:txBody>
          <a:bodyPr wrap="square">
            <a:spAutoFit/>
          </a:bodyPr>
          <a:lstStyle/>
          <a:p>
            <a:r>
              <a:rPr lang="en-US" sz="2400" dirty="0"/>
              <a:t>“Teaching experience can contribute substantially to the improvement of essential research skills.”</a:t>
            </a:r>
          </a:p>
          <a:p>
            <a:pPr lvl="0"/>
            <a:r>
              <a:rPr lang="en-US" dirty="0" err="1"/>
              <a:t>Feldon</a:t>
            </a:r>
            <a:r>
              <a:rPr lang="en-US" dirty="0"/>
              <a:t> et al. (2011). </a:t>
            </a:r>
            <a:r>
              <a:rPr lang="en-US" i="1" dirty="0"/>
              <a:t>Graduate students' teaching experiences improve their methodological research skills.</a:t>
            </a:r>
            <a:r>
              <a:rPr lang="en-US" dirty="0"/>
              <a:t> </a:t>
            </a:r>
            <a:r>
              <a:rPr lang="en-US" b="1" dirty="0">
                <a:solidFill>
                  <a:srgbClr val="FF0000"/>
                </a:solidFill>
              </a:rPr>
              <a:t>Science</a:t>
            </a:r>
            <a:r>
              <a:rPr lang="en-US" dirty="0"/>
              <a:t>, 333(6045), 1037-1039.</a:t>
            </a:r>
            <a:endParaRPr lang="en-GB" dirty="0"/>
          </a:p>
        </p:txBody>
      </p:sp>
    </p:spTree>
    <p:extLst>
      <p:ext uri="{BB962C8B-B14F-4D97-AF65-F5344CB8AC3E}">
        <p14:creationId xmlns:p14="http://schemas.microsoft.com/office/powerpoint/2010/main" val="2658812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29D607B2-4B72-43A8-8E08-80ECBF3D044B}" type="slidenum">
              <a:rPr kumimoji="0" lang="en-US" altLang="zh-TW" smtClean="0"/>
              <a:pPr eaLnBrk="1" hangingPunct="1"/>
              <a:t>15</a:t>
            </a:fld>
            <a:endParaRPr kumimoji="0" lang="en-US" altLang="zh-TW"/>
          </a:p>
        </p:txBody>
      </p:sp>
      <p:sp>
        <p:nvSpPr>
          <p:cNvPr id="4" name="Rectangle 2"/>
          <p:cNvSpPr txBox="1">
            <a:spLocks noChangeArrowheads="1"/>
          </p:cNvSpPr>
          <p:nvPr/>
        </p:nvSpPr>
        <p:spPr>
          <a:xfrm>
            <a:off x="2855640" y="211717"/>
            <a:ext cx="6548438" cy="738336"/>
          </a:xfrm>
          <a:prstGeom prst="rect">
            <a:avLst/>
          </a:prstGeom>
        </p:spPr>
        <p:txBody>
          <a:bodyPr/>
          <a:lst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icrosoft JhengHei" pitchFamily="34" charset="-120"/>
                <a:cs typeface="+mj-cs"/>
              </a:defRPr>
            </a:lvl1pPr>
            <a:lvl2pPr algn="l" rtl="0" eaLnBrk="0" fontAlgn="base" hangingPunct="0">
              <a:spcBef>
                <a:spcPct val="0"/>
              </a:spcBef>
              <a:spcAft>
                <a:spcPct val="0"/>
              </a:spcAft>
              <a:defRPr sz="4100" b="1">
                <a:solidFill>
                  <a:schemeClr val="tx2"/>
                </a:solidFill>
                <a:latin typeface="Lucida Sans Unicode" pitchFamily="34" charset="0"/>
                <a:ea typeface="Microsoft JhengHei" pitchFamily="34" charset="-120"/>
              </a:defRPr>
            </a:lvl2pPr>
            <a:lvl3pPr algn="l" rtl="0" eaLnBrk="0" fontAlgn="base" hangingPunct="0">
              <a:spcBef>
                <a:spcPct val="0"/>
              </a:spcBef>
              <a:spcAft>
                <a:spcPct val="0"/>
              </a:spcAft>
              <a:defRPr sz="4100" b="1">
                <a:solidFill>
                  <a:schemeClr val="tx2"/>
                </a:solidFill>
                <a:latin typeface="Lucida Sans Unicode" pitchFamily="34" charset="0"/>
                <a:ea typeface="Microsoft JhengHei" pitchFamily="34" charset="-120"/>
              </a:defRPr>
            </a:lvl3pPr>
            <a:lvl4pPr algn="l" rtl="0" eaLnBrk="0" fontAlgn="base" hangingPunct="0">
              <a:spcBef>
                <a:spcPct val="0"/>
              </a:spcBef>
              <a:spcAft>
                <a:spcPct val="0"/>
              </a:spcAft>
              <a:defRPr sz="4100" b="1">
                <a:solidFill>
                  <a:schemeClr val="tx2"/>
                </a:solidFill>
                <a:latin typeface="Lucida Sans Unicode" pitchFamily="34" charset="0"/>
                <a:ea typeface="Microsoft JhengHei" pitchFamily="34" charset="-120"/>
              </a:defRPr>
            </a:lvl4pPr>
            <a:lvl5pPr algn="l" rtl="0" eaLnBrk="0" fontAlgn="base" hangingPunct="0">
              <a:spcBef>
                <a:spcPct val="0"/>
              </a:spcBef>
              <a:spcAft>
                <a:spcPct val="0"/>
              </a:spcAft>
              <a:defRPr sz="4100" b="1">
                <a:solidFill>
                  <a:schemeClr val="tx2"/>
                </a:solidFill>
                <a:latin typeface="Lucida Sans Unicode" pitchFamily="34" charset="0"/>
                <a:ea typeface="Microsoft JhengHei" pitchFamily="34" charset="-120"/>
              </a:defRPr>
            </a:lvl5pPr>
            <a:lvl6pPr marL="457200" algn="l" rtl="0" fontAlgn="base">
              <a:spcBef>
                <a:spcPct val="0"/>
              </a:spcBef>
              <a:spcAft>
                <a:spcPct val="0"/>
              </a:spcAft>
              <a:defRPr sz="4100" b="1">
                <a:solidFill>
                  <a:schemeClr val="tx2"/>
                </a:solidFill>
                <a:latin typeface="Lucida Sans Unicode" pitchFamily="34" charset="0"/>
                <a:ea typeface="Microsoft JhengHei" pitchFamily="34" charset="-120"/>
              </a:defRPr>
            </a:lvl6pPr>
            <a:lvl7pPr marL="914400" algn="l" rtl="0" fontAlgn="base">
              <a:spcBef>
                <a:spcPct val="0"/>
              </a:spcBef>
              <a:spcAft>
                <a:spcPct val="0"/>
              </a:spcAft>
              <a:defRPr sz="4100" b="1">
                <a:solidFill>
                  <a:schemeClr val="tx2"/>
                </a:solidFill>
                <a:latin typeface="Lucida Sans Unicode" pitchFamily="34" charset="0"/>
                <a:ea typeface="Microsoft JhengHei" pitchFamily="34" charset="-120"/>
              </a:defRPr>
            </a:lvl7pPr>
            <a:lvl8pPr marL="1371600" algn="l" rtl="0" fontAlgn="base">
              <a:spcBef>
                <a:spcPct val="0"/>
              </a:spcBef>
              <a:spcAft>
                <a:spcPct val="0"/>
              </a:spcAft>
              <a:defRPr sz="4100" b="1">
                <a:solidFill>
                  <a:schemeClr val="tx2"/>
                </a:solidFill>
                <a:latin typeface="Lucida Sans Unicode" pitchFamily="34" charset="0"/>
                <a:ea typeface="Microsoft JhengHei" pitchFamily="34" charset="-120"/>
              </a:defRPr>
            </a:lvl8pPr>
            <a:lvl9pPr marL="1828800" algn="l" rtl="0" fontAlgn="base">
              <a:spcBef>
                <a:spcPct val="0"/>
              </a:spcBef>
              <a:spcAft>
                <a:spcPct val="0"/>
              </a:spcAft>
              <a:defRPr sz="4100" b="1">
                <a:solidFill>
                  <a:schemeClr val="tx2"/>
                </a:solidFill>
                <a:latin typeface="Lucida Sans Unicode" pitchFamily="34" charset="0"/>
                <a:ea typeface="Microsoft JhengHei" pitchFamily="34" charset="-120"/>
              </a:defRPr>
            </a:lvl9pPr>
            <a:extLst/>
          </a:lstStyle>
          <a:p>
            <a:pPr algn="ctr" eaLnBrk="1" fontAlgn="auto" hangingPunct="1">
              <a:spcAft>
                <a:spcPts val="0"/>
              </a:spcAft>
              <a:defRPr/>
            </a:pPr>
            <a:r>
              <a:rPr lang="en-US" sz="3600" dirty="0">
                <a:ea typeface="+mj-ea"/>
              </a:rPr>
              <a:t>CityU Graduate Outcomes</a:t>
            </a:r>
          </a:p>
        </p:txBody>
      </p:sp>
      <p:sp>
        <p:nvSpPr>
          <p:cNvPr id="2" name="Rectangle 1"/>
          <p:cNvSpPr/>
          <p:nvPr/>
        </p:nvSpPr>
        <p:spPr>
          <a:xfrm>
            <a:off x="2063552" y="1052736"/>
            <a:ext cx="7128792" cy="369332"/>
          </a:xfrm>
          <a:prstGeom prst="rect">
            <a:avLst/>
          </a:prstGeom>
        </p:spPr>
        <p:txBody>
          <a:bodyPr wrap="square">
            <a:spAutoFit/>
          </a:bodyPr>
          <a:lstStyle/>
          <a:p>
            <a:r>
              <a:rPr lang="en-HK" dirty="0">
                <a:solidFill>
                  <a:srgbClr val="222222"/>
                </a:solidFill>
                <a:latin typeface="Helvetica" panose="020B0604020202020204" pitchFamily="34" charset="0"/>
              </a:rPr>
              <a:t>On graduation, </a:t>
            </a:r>
            <a:r>
              <a:rPr lang="en-HK" dirty="0" err="1">
                <a:solidFill>
                  <a:srgbClr val="222222"/>
                </a:solidFill>
                <a:latin typeface="Helvetica" panose="020B0604020202020204" pitchFamily="34" charset="0"/>
              </a:rPr>
              <a:t>CityUHK’s</a:t>
            </a:r>
            <a:r>
              <a:rPr lang="en-HK" dirty="0">
                <a:solidFill>
                  <a:srgbClr val="222222"/>
                </a:solidFill>
                <a:latin typeface="Helvetica" panose="020B0604020202020204" pitchFamily="34" charset="0"/>
              </a:rPr>
              <a:t> research degree graduates will be able to:</a:t>
            </a:r>
            <a:endParaRPr lang="en-HK" dirty="0"/>
          </a:p>
        </p:txBody>
      </p:sp>
      <p:sp>
        <p:nvSpPr>
          <p:cNvPr id="3" name="Rectangle 2"/>
          <p:cNvSpPr/>
          <p:nvPr/>
        </p:nvSpPr>
        <p:spPr>
          <a:xfrm>
            <a:off x="6960096" y="5733258"/>
            <a:ext cx="3627126" cy="430887"/>
          </a:xfrm>
          <a:prstGeom prst="rect">
            <a:avLst/>
          </a:prstGeom>
        </p:spPr>
        <p:txBody>
          <a:bodyPr wrap="square">
            <a:spAutoFit/>
          </a:bodyPr>
          <a:lstStyle/>
          <a:p>
            <a:r>
              <a:rPr lang="en-HK" sz="1050" dirty="0">
                <a:solidFill>
                  <a:srgbClr val="222222"/>
                </a:solidFill>
                <a:latin typeface="Roboto"/>
              </a:rPr>
              <a:t>https://www.cityu.edu.hk/qac/city_university_graduate_outcomes.htm</a:t>
            </a:r>
          </a:p>
        </p:txBody>
      </p:sp>
      <p:graphicFrame>
        <p:nvGraphicFramePr>
          <p:cNvPr id="6" name="Diagram 5">
            <a:extLst>
              <a:ext uri="{FF2B5EF4-FFF2-40B4-BE49-F238E27FC236}">
                <a16:creationId xmlns:a16="http://schemas.microsoft.com/office/drawing/2014/main" id="{D7C9306C-8F2F-8623-36D7-E0EDF6EAC458}"/>
              </a:ext>
            </a:extLst>
          </p:cNvPr>
          <p:cNvGraphicFramePr/>
          <p:nvPr>
            <p:extLst>
              <p:ext uri="{D42A27DB-BD31-4B8C-83A1-F6EECF244321}">
                <p14:modId xmlns:p14="http://schemas.microsoft.com/office/powerpoint/2010/main" val="3212617245"/>
              </p:ext>
            </p:extLst>
          </p:nvPr>
        </p:nvGraphicFramePr>
        <p:xfrm>
          <a:off x="1631504" y="1524752"/>
          <a:ext cx="8784976" cy="52491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75720" y="2286000"/>
            <a:ext cx="8229600" cy="1143000"/>
          </a:xfrm>
        </p:spPr>
        <p:txBody>
          <a:bodyPr>
            <a:noAutofit/>
          </a:bodyPr>
          <a:lstStyle/>
          <a:p>
            <a:pPr algn="ctr"/>
            <a:r>
              <a:rPr lang="en-US" sz="3200" dirty="0">
                <a:solidFill>
                  <a:srgbClr val="0070C0"/>
                </a:solidFill>
              </a:rPr>
              <a:t>Open Question</a:t>
            </a:r>
            <a:br>
              <a:rPr lang="en-US" sz="3200" dirty="0">
                <a:solidFill>
                  <a:srgbClr val="0070C0"/>
                </a:solidFill>
              </a:rPr>
            </a:br>
            <a:br>
              <a:rPr lang="en-US" sz="3200" dirty="0">
                <a:solidFill>
                  <a:srgbClr val="0070C0"/>
                </a:solidFill>
              </a:rPr>
            </a:br>
            <a:r>
              <a:rPr lang="en-HK" sz="3200" dirty="0">
                <a:solidFill>
                  <a:srgbClr val="0070C0"/>
                </a:solidFill>
              </a:rPr>
              <a:t>Do you think </a:t>
            </a:r>
            <a:r>
              <a:rPr lang="en-HK" sz="3200" dirty="0" err="1">
                <a:solidFill>
                  <a:srgbClr val="0070C0"/>
                </a:solidFill>
              </a:rPr>
              <a:t>CityUHK</a:t>
            </a:r>
            <a:r>
              <a:rPr lang="en-HK" sz="3200" dirty="0">
                <a:solidFill>
                  <a:srgbClr val="0070C0"/>
                </a:solidFill>
              </a:rPr>
              <a:t> students come from affluent families?</a:t>
            </a:r>
            <a:br>
              <a:rPr lang="en-HK" sz="3200" dirty="0">
                <a:solidFill>
                  <a:srgbClr val="0070C0"/>
                </a:solidFill>
              </a:rPr>
            </a:br>
            <a:endParaRPr lang="en-US" sz="3200" dirty="0">
              <a:solidFill>
                <a:srgbClr val="0070C0"/>
              </a:solidFill>
            </a:endParaRPr>
          </a:p>
        </p:txBody>
      </p:sp>
      <p:sp>
        <p:nvSpPr>
          <p:cNvPr id="4" name="Slide Number Placeholder 3"/>
          <p:cNvSpPr>
            <a:spLocks noGrp="1"/>
          </p:cNvSpPr>
          <p:nvPr>
            <p:ph type="sldNum" sz="quarter" idx="12"/>
          </p:nvPr>
        </p:nvSpPr>
        <p:spPr/>
        <p:txBody>
          <a:bodyPr/>
          <a:lstStyle/>
          <a:p>
            <a:pPr>
              <a:defRPr/>
            </a:pPr>
            <a:fld id="{6083F8EF-996E-4349-AC07-DBF324BBB722}" type="slidenum">
              <a:rPr lang="en-US" altLang="zh-TW" smtClean="0"/>
              <a:pPr>
                <a:defRPr/>
              </a:pPr>
              <a:t>16</a:t>
            </a:fld>
            <a:endParaRPr lang="en-US" altLang="zh-TW" dirty="0"/>
          </a:p>
        </p:txBody>
      </p:sp>
      <p:sp>
        <p:nvSpPr>
          <p:cNvPr id="6" name="Rectangle 5">
            <a:extLst>
              <a:ext uri="{FF2B5EF4-FFF2-40B4-BE49-F238E27FC236}">
                <a16:creationId xmlns:a16="http://schemas.microsoft.com/office/drawing/2014/main" id="{181D5E05-8615-4380-87D3-1E99837F54CD}"/>
              </a:ext>
            </a:extLst>
          </p:cNvPr>
          <p:cNvSpPr/>
          <p:nvPr/>
        </p:nvSpPr>
        <p:spPr>
          <a:xfrm>
            <a:off x="9048328" y="4293096"/>
            <a:ext cx="4004673" cy="736035"/>
          </a:xfrm>
          <a:prstGeom prst="rect">
            <a:avLst/>
          </a:prstGeom>
        </p:spPr>
        <p:txBody>
          <a:bodyPr wrap="square">
            <a:spAutoFit/>
          </a:bodyPr>
          <a:lstStyle/>
          <a:p>
            <a:pPr>
              <a:lnSpc>
                <a:spcPct val="150000"/>
              </a:lnSpc>
            </a:pPr>
            <a:r>
              <a:rPr lang="en-US" sz="3200" dirty="0">
                <a:latin typeface="Berlin Sans FB Demi" panose="020E0802020502020306" pitchFamily="34" charset="0"/>
              </a:rPr>
              <a:t>P</a:t>
            </a:r>
            <a:r>
              <a:rPr lang="en-HK" sz="3200" dirty="0" err="1">
                <a:latin typeface="Berlin Sans FB Demi" panose="020E0802020502020306" pitchFamily="34" charset="0"/>
              </a:rPr>
              <a:t>adlet</a:t>
            </a:r>
            <a:r>
              <a:rPr lang="en-HK" sz="3200" dirty="0">
                <a:latin typeface="Berlin Sans FB Demi" panose="020E0802020502020306" pitchFamily="34" charset="0"/>
              </a:rPr>
              <a:t>!</a:t>
            </a:r>
            <a:endParaRPr lang="en-US" sz="3200" dirty="0">
              <a:latin typeface="Berlin Sans FB Demi" panose="020E0802020502020306" pitchFamily="34" charset="0"/>
            </a:endParaRPr>
          </a:p>
        </p:txBody>
      </p:sp>
      <p:pic>
        <p:nvPicPr>
          <p:cNvPr id="7" name="Picture 6">
            <a:extLst>
              <a:ext uri="{FF2B5EF4-FFF2-40B4-BE49-F238E27FC236}">
                <a16:creationId xmlns:a16="http://schemas.microsoft.com/office/drawing/2014/main" id="{71A53E87-8342-4288-8D8F-251FDA75C7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96" y="4149080"/>
            <a:ext cx="2060848" cy="2060848"/>
          </a:xfrm>
          <a:prstGeom prst="rect">
            <a:avLst/>
          </a:prstGeom>
        </p:spPr>
      </p:pic>
    </p:spTree>
    <p:extLst>
      <p:ext uri="{BB962C8B-B14F-4D97-AF65-F5344CB8AC3E}">
        <p14:creationId xmlns:p14="http://schemas.microsoft.com/office/powerpoint/2010/main" val="2456860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7728" y="692696"/>
            <a:ext cx="7299857" cy="966564"/>
          </a:xfrm>
        </p:spPr>
        <p:txBody>
          <a:bodyPr>
            <a:noAutofit/>
          </a:bodyPr>
          <a:lstStyle/>
          <a:p>
            <a:pPr algn="ctr"/>
            <a:r>
              <a:rPr lang="en-US" sz="2800" dirty="0">
                <a:solidFill>
                  <a:schemeClr val="accent2">
                    <a:lumMod val="50000"/>
                  </a:schemeClr>
                </a:solidFill>
                <a:latin typeface="+mn-lt"/>
                <a:cs typeface="Times New Roman" pitchFamily="18" charset="0"/>
              </a:rPr>
              <a:t>Background of CityU students: </a:t>
            </a:r>
            <a:br>
              <a:rPr lang="en-US" sz="2800" dirty="0">
                <a:solidFill>
                  <a:schemeClr val="accent2">
                    <a:lumMod val="50000"/>
                  </a:schemeClr>
                </a:solidFill>
                <a:latin typeface="+mn-lt"/>
                <a:cs typeface="Times New Roman" pitchFamily="18" charset="0"/>
              </a:rPr>
            </a:br>
            <a:r>
              <a:rPr lang="en-US" sz="2800" dirty="0">
                <a:solidFill>
                  <a:schemeClr val="accent2">
                    <a:lumMod val="50000"/>
                  </a:schemeClr>
                </a:solidFill>
                <a:latin typeface="+mn-lt"/>
                <a:cs typeface="Times New Roman" pitchFamily="18" charset="0"/>
              </a:rPr>
              <a:t>2021-22 Cohort</a:t>
            </a:r>
          </a:p>
        </p:txBody>
      </p:sp>
      <p:sp>
        <p:nvSpPr>
          <p:cNvPr id="3" name="Content Placeholder 2"/>
          <p:cNvSpPr>
            <a:spLocks noGrp="1"/>
          </p:cNvSpPr>
          <p:nvPr>
            <p:ph idx="1"/>
          </p:nvPr>
        </p:nvSpPr>
        <p:spPr>
          <a:xfrm>
            <a:off x="3919248" y="2347755"/>
            <a:ext cx="7433336" cy="2776185"/>
          </a:xfrm>
        </p:spPr>
        <p:txBody>
          <a:bodyPr>
            <a:noAutofit/>
          </a:bodyPr>
          <a:lstStyle/>
          <a:p>
            <a:r>
              <a:rPr lang="en-US" sz="2200" dirty="0">
                <a:cs typeface="Times New Roman" pitchFamily="18" charset="0"/>
              </a:rPr>
              <a:t>This survey was taken by new students enrolled in UGC-funded programs </a:t>
            </a:r>
          </a:p>
          <a:p>
            <a:pPr lvl="1"/>
            <a:r>
              <a:rPr lang="en-US" sz="2200" dirty="0"/>
              <a:t>2,832 students newly admitted to nominative 4-year degrees, Advance Standing I &amp; II as well as 111 new students to Associate Degree programmes. However, incoming exchange and visiting students are excluded.</a:t>
            </a:r>
          </a:p>
          <a:p>
            <a:endParaRPr lang="en-US" sz="2200" dirty="0">
              <a:cs typeface="Times New Roman" pitchFamily="18" charset="0"/>
            </a:endParaRPr>
          </a:p>
          <a:p>
            <a:endParaRPr lang="en-US" sz="2200" dirty="0">
              <a:cs typeface="Times New Roman" pitchFamily="18" charset="0"/>
            </a:endParaRPr>
          </a:p>
          <a:p>
            <a:r>
              <a:rPr lang="en-US" sz="2200" b="1" dirty="0">
                <a:solidFill>
                  <a:srgbClr val="FF0000"/>
                </a:solidFill>
                <a:cs typeface="Times New Roman" pitchFamily="18" charset="0"/>
              </a:rPr>
              <a:t>NOTE: Data cannot be used, reproduced, or redistributed in other courses/project/activities…etc.</a:t>
            </a:r>
          </a:p>
        </p:txBody>
      </p:sp>
      <p:sp>
        <p:nvSpPr>
          <p:cNvPr id="5" name="Slide Number Placeholder 4"/>
          <p:cNvSpPr>
            <a:spLocks noGrp="1"/>
          </p:cNvSpPr>
          <p:nvPr>
            <p:ph type="sldNum" sz="quarter" idx="12"/>
          </p:nvPr>
        </p:nvSpPr>
        <p:spPr/>
        <p:txBody>
          <a:bodyPr/>
          <a:lstStyle/>
          <a:p>
            <a:fld id="{33C17AEF-5ED4-4EF6-8C37-5FB1FB50CC9A}" type="slidenum">
              <a:rPr lang="en-US" smtClean="0">
                <a:solidFill>
                  <a:prstClr val="black">
                    <a:tint val="75000"/>
                  </a:prstClr>
                </a:solidFill>
              </a:rPr>
              <a:pPr/>
              <a:t>17</a:t>
            </a:fld>
            <a:endParaRPr lang="en-US" dirty="0">
              <a:solidFill>
                <a:prstClr val="black">
                  <a:tint val="75000"/>
                </a:prstClr>
              </a:solidFill>
            </a:endParaRPr>
          </a:p>
        </p:txBody>
      </p:sp>
    </p:spTree>
    <p:extLst>
      <p:ext uri="{BB962C8B-B14F-4D97-AF65-F5344CB8AC3E}">
        <p14:creationId xmlns:p14="http://schemas.microsoft.com/office/powerpoint/2010/main" val="39585243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Family Education</a:t>
            </a:r>
            <a:endParaRPr lang="en-HK" dirty="0"/>
          </a:p>
        </p:txBody>
      </p:sp>
      <p:pic>
        <p:nvPicPr>
          <p:cNvPr id="5" name="Content Placeholder 4" descr="cid:image001.jpg@01D8B09C.3D298E70"/>
          <p:cNvPicPr>
            <a:picLocks noGrp="1"/>
          </p:cNvPicPr>
          <p:nvPr>
            <p:ph idx="1"/>
          </p:nvPr>
        </p:nvPicPr>
        <p:blipFill>
          <a:blip r:embed="rId2" r:link="rId3">
            <a:extLst>
              <a:ext uri="{28A0092B-C50C-407E-A947-70E740481C1C}">
                <a14:useLocalDpi xmlns:a14="http://schemas.microsoft.com/office/drawing/2010/main" val="0"/>
              </a:ext>
            </a:extLst>
          </a:blip>
          <a:stretch>
            <a:fillRect/>
          </a:stretch>
        </p:blipFill>
        <p:spPr bwMode="auto">
          <a:xfrm>
            <a:off x="3226211" y="2132856"/>
            <a:ext cx="8859494" cy="2744947"/>
          </a:xfrm>
          <a:prstGeom prst="rect">
            <a:avLst/>
          </a:prstGeom>
          <a:noFill/>
          <a:ln>
            <a:noFill/>
          </a:ln>
        </p:spPr>
      </p:pic>
    </p:spTree>
    <p:extLst>
      <p:ext uri="{BB962C8B-B14F-4D97-AF65-F5344CB8AC3E}">
        <p14:creationId xmlns:p14="http://schemas.microsoft.com/office/powerpoint/2010/main" val="2544153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Family Income (local)</a:t>
            </a:r>
            <a:endParaRPr lang="en-HK" dirty="0"/>
          </a:p>
        </p:txBody>
      </p:sp>
      <p:pic>
        <p:nvPicPr>
          <p:cNvPr id="4" name="Picture 2" descr="cid:image007.png@01D8B09C.3D298E70"/>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431704" y="1608506"/>
            <a:ext cx="8415639" cy="3631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87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of Housing</a:t>
            </a:r>
            <a:endParaRPr lang="en-HK" dirty="0"/>
          </a:p>
        </p:txBody>
      </p:sp>
      <p:pic>
        <p:nvPicPr>
          <p:cNvPr id="4" name="Content Placeholder 3" descr="cid:image002.jpg@01D8B09C.3D298E70"/>
          <p:cNvPicPr>
            <a:picLocks noGrp="1"/>
          </p:cNvPicPr>
          <p:nvPr>
            <p:ph idx="1"/>
          </p:nvPr>
        </p:nvPicPr>
        <p:blipFill>
          <a:blip r:embed="rId2" r:link="rId3">
            <a:extLst>
              <a:ext uri="{28A0092B-C50C-407E-A947-70E740481C1C}">
                <a14:useLocalDpi xmlns:a14="http://schemas.microsoft.com/office/drawing/2010/main" val="0"/>
              </a:ext>
            </a:extLst>
          </a:blip>
          <a:stretch>
            <a:fillRect/>
          </a:stretch>
        </p:blipFill>
        <p:spPr bwMode="auto">
          <a:xfrm>
            <a:off x="3575720" y="1412776"/>
            <a:ext cx="7344816" cy="3721472"/>
          </a:xfrm>
          <a:prstGeom prst="rect">
            <a:avLst/>
          </a:prstGeom>
          <a:noFill/>
          <a:ln>
            <a:noFill/>
          </a:ln>
        </p:spPr>
      </p:pic>
    </p:spTree>
    <p:extLst>
      <p:ext uri="{BB962C8B-B14F-4D97-AF65-F5344CB8AC3E}">
        <p14:creationId xmlns:p14="http://schemas.microsoft.com/office/powerpoint/2010/main" val="4079292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DDA805-92F5-62EE-5BEA-31E78988A48D}"/>
              </a:ext>
            </a:extLst>
          </p:cNvPr>
          <p:cNvSpPr>
            <a:spLocks noGrp="1"/>
          </p:cNvSpPr>
          <p:nvPr>
            <p:ph type="title"/>
          </p:nvPr>
        </p:nvSpPr>
        <p:spPr>
          <a:xfrm>
            <a:off x="2003775" y="1052736"/>
            <a:ext cx="8229600" cy="1138138"/>
          </a:xfrm>
        </p:spPr>
        <p:txBody>
          <a:bodyPr/>
          <a:lstStyle/>
          <a:p>
            <a:pPr algn="ctr"/>
            <a:r>
              <a:rPr lang="en-US" dirty="0">
                <a:solidFill>
                  <a:srgbClr val="0070C0"/>
                </a:solidFill>
              </a:rPr>
              <a:t>Quick question	</a:t>
            </a:r>
          </a:p>
        </p:txBody>
      </p:sp>
      <p:sp>
        <p:nvSpPr>
          <p:cNvPr id="2" name="Content Placeholder 1">
            <a:extLst>
              <a:ext uri="{FF2B5EF4-FFF2-40B4-BE49-F238E27FC236}">
                <a16:creationId xmlns:a16="http://schemas.microsoft.com/office/drawing/2014/main" id="{0A943D3C-A8F7-7BA3-B254-8B5979B101E6}"/>
              </a:ext>
            </a:extLst>
          </p:cNvPr>
          <p:cNvSpPr>
            <a:spLocks noGrp="1"/>
          </p:cNvSpPr>
          <p:nvPr>
            <p:ph idx="1"/>
          </p:nvPr>
        </p:nvSpPr>
        <p:spPr>
          <a:xfrm>
            <a:off x="3431704" y="1449276"/>
            <a:ext cx="8229600" cy="3730228"/>
          </a:xfrm>
        </p:spPr>
        <p:txBody>
          <a:bodyPr/>
          <a:lstStyle/>
          <a:p>
            <a:r>
              <a:rPr lang="en-US" sz="3600" dirty="0"/>
              <a:t>Do you have your own bedroom at home?</a:t>
            </a:r>
          </a:p>
        </p:txBody>
      </p:sp>
      <p:sp>
        <p:nvSpPr>
          <p:cNvPr id="4" name="Slide Number Placeholder 3">
            <a:extLst>
              <a:ext uri="{FF2B5EF4-FFF2-40B4-BE49-F238E27FC236}">
                <a16:creationId xmlns:a16="http://schemas.microsoft.com/office/drawing/2014/main" id="{30AF6A10-6B78-766C-FE8B-F9CAF0A9FB43}"/>
              </a:ext>
            </a:extLst>
          </p:cNvPr>
          <p:cNvSpPr>
            <a:spLocks noGrp="1"/>
          </p:cNvSpPr>
          <p:nvPr>
            <p:ph type="sldNum" sz="quarter" idx="12"/>
          </p:nvPr>
        </p:nvSpPr>
        <p:spPr/>
        <p:txBody>
          <a:bodyPr/>
          <a:lstStyle/>
          <a:p>
            <a:pPr>
              <a:defRPr/>
            </a:pPr>
            <a:fld id="{6083F8EF-996E-4349-AC07-DBF324BBB722}" type="slidenum">
              <a:rPr lang="en-US" altLang="zh-TW" smtClean="0"/>
              <a:pPr>
                <a:defRPr/>
              </a:pPr>
              <a:t>21</a:t>
            </a:fld>
            <a:endParaRPr lang="en-US" altLang="zh-TW" dirty="0"/>
          </a:p>
        </p:txBody>
      </p:sp>
      <p:sp>
        <p:nvSpPr>
          <p:cNvPr id="6" name="Rectangle 5">
            <a:extLst>
              <a:ext uri="{FF2B5EF4-FFF2-40B4-BE49-F238E27FC236}">
                <a16:creationId xmlns:a16="http://schemas.microsoft.com/office/drawing/2014/main" id="{0ABDE7AE-A622-4797-A2BE-CFB16DE1B667}"/>
              </a:ext>
            </a:extLst>
          </p:cNvPr>
          <p:cNvSpPr/>
          <p:nvPr/>
        </p:nvSpPr>
        <p:spPr>
          <a:xfrm>
            <a:off x="9048328" y="4293096"/>
            <a:ext cx="4004673" cy="736035"/>
          </a:xfrm>
          <a:prstGeom prst="rect">
            <a:avLst/>
          </a:prstGeom>
        </p:spPr>
        <p:txBody>
          <a:bodyPr wrap="square">
            <a:spAutoFit/>
          </a:bodyPr>
          <a:lstStyle/>
          <a:p>
            <a:pPr>
              <a:lnSpc>
                <a:spcPct val="150000"/>
              </a:lnSpc>
            </a:pPr>
            <a:r>
              <a:rPr lang="en-US" sz="3200" dirty="0">
                <a:latin typeface="Berlin Sans FB Demi" panose="020E0802020502020306" pitchFamily="34" charset="0"/>
              </a:rPr>
              <a:t>P</a:t>
            </a:r>
            <a:r>
              <a:rPr lang="en-HK" sz="3200" dirty="0" err="1">
                <a:latin typeface="Berlin Sans FB Demi" panose="020E0802020502020306" pitchFamily="34" charset="0"/>
              </a:rPr>
              <a:t>adlet</a:t>
            </a:r>
            <a:r>
              <a:rPr lang="en-HK" sz="3200" dirty="0">
                <a:latin typeface="Berlin Sans FB Demi" panose="020E0802020502020306" pitchFamily="34" charset="0"/>
              </a:rPr>
              <a:t>!</a:t>
            </a:r>
            <a:endParaRPr lang="en-US" sz="3200" dirty="0">
              <a:latin typeface="Berlin Sans FB Demi" panose="020E0802020502020306" pitchFamily="34" charset="0"/>
            </a:endParaRPr>
          </a:p>
        </p:txBody>
      </p:sp>
      <p:pic>
        <p:nvPicPr>
          <p:cNvPr id="7" name="Picture 6">
            <a:extLst>
              <a:ext uri="{FF2B5EF4-FFF2-40B4-BE49-F238E27FC236}">
                <a16:creationId xmlns:a16="http://schemas.microsoft.com/office/drawing/2014/main" id="{A4726A99-9091-441D-BCF6-0CA400A3FA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96" y="4149080"/>
            <a:ext cx="2060848" cy="2060848"/>
          </a:xfrm>
          <a:prstGeom prst="rect">
            <a:avLst/>
          </a:prstGeom>
        </p:spPr>
      </p:pic>
    </p:spTree>
    <p:extLst>
      <p:ext uri="{BB962C8B-B14F-4D97-AF65-F5344CB8AC3E}">
        <p14:creationId xmlns:p14="http://schemas.microsoft.com/office/powerpoint/2010/main" val="1501158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 Environment at Home</a:t>
            </a:r>
            <a:endParaRPr lang="en-HK" dirty="0"/>
          </a:p>
        </p:txBody>
      </p:sp>
      <p:pic>
        <p:nvPicPr>
          <p:cNvPr id="4" name="Content Placeholder 3" descr="cid:image004.jpg@01D8B09C.3D298E70"/>
          <p:cNvPicPr>
            <a:picLocks noGrp="1"/>
          </p:cNvPicPr>
          <p:nvPr>
            <p:ph idx="1"/>
          </p:nvPr>
        </p:nvPicPr>
        <p:blipFill>
          <a:blip r:embed="rId2" r:link="rId3">
            <a:extLst>
              <a:ext uri="{28A0092B-C50C-407E-A947-70E740481C1C}">
                <a14:useLocalDpi xmlns:a14="http://schemas.microsoft.com/office/drawing/2010/main" val="0"/>
              </a:ext>
            </a:extLst>
          </a:blip>
          <a:srcRect/>
          <a:stretch>
            <a:fillRect/>
          </a:stretch>
        </p:blipFill>
        <p:spPr bwMode="auto">
          <a:xfrm>
            <a:off x="3863752" y="2348880"/>
            <a:ext cx="6891107" cy="1872208"/>
          </a:xfrm>
          <a:prstGeom prst="rect">
            <a:avLst/>
          </a:prstGeom>
          <a:noFill/>
          <a:ln>
            <a:noFill/>
          </a:ln>
        </p:spPr>
      </p:pic>
    </p:spTree>
    <p:extLst>
      <p:ext uri="{BB962C8B-B14F-4D97-AF65-F5344CB8AC3E}">
        <p14:creationId xmlns:p14="http://schemas.microsoft.com/office/powerpoint/2010/main" val="3538668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defRPr/>
            </a:pPr>
            <a:r>
              <a:rPr lang="en-US" altLang="zh-TW" dirty="0"/>
              <a:t>Private Space?</a:t>
            </a:r>
          </a:p>
        </p:txBody>
      </p:sp>
      <p:sp>
        <p:nvSpPr>
          <p:cNvPr id="21506" name="Content Placeholder 1"/>
          <p:cNvSpPr>
            <a:spLocks noGrp="1"/>
          </p:cNvSpPr>
          <p:nvPr>
            <p:ph idx="1"/>
          </p:nvPr>
        </p:nvSpPr>
        <p:spPr/>
        <p:txBody>
          <a:bodyPr/>
          <a:lstStyle/>
          <a:p>
            <a:r>
              <a:rPr lang="en-US" dirty="0"/>
              <a:t>   </a:t>
            </a:r>
          </a:p>
        </p:txBody>
      </p:sp>
      <p:sp>
        <p:nvSpPr>
          <p:cNvPr id="21512" name="Slide Number Placeholder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557213" indent="-214313" eaLnBrk="0" hangingPunct="0">
              <a:defRPr kumimoji="1">
                <a:solidFill>
                  <a:schemeClr val="tx1"/>
                </a:solidFill>
                <a:latin typeface="Arial" charset="0"/>
                <a:ea typeface="新細明體" pitchFamily="18" charset="-120"/>
              </a:defRPr>
            </a:lvl2pPr>
            <a:lvl3pPr marL="857250" indent="-171450" eaLnBrk="0" hangingPunct="0">
              <a:defRPr kumimoji="1">
                <a:solidFill>
                  <a:schemeClr val="tx1"/>
                </a:solidFill>
                <a:latin typeface="Arial" charset="0"/>
                <a:ea typeface="新細明體" pitchFamily="18" charset="-120"/>
              </a:defRPr>
            </a:lvl3pPr>
            <a:lvl4pPr marL="1200150" indent="-171450" eaLnBrk="0" hangingPunct="0">
              <a:defRPr kumimoji="1">
                <a:solidFill>
                  <a:schemeClr val="tx1"/>
                </a:solidFill>
                <a:latin typeface="Arial" charset="0"/>
                <a:ea typeface="新細明體" pitchFamily="18" charset="-120"/>
              </a:defRPr>
            </a:lvl4pPr>
            <a:lvl5pPr marL="1543050" indent="-171450" eaLnBrk="0" hangingPunct="0">
              <a:defRPr kumimoji="1">
                <a:solidFill>
                  <a:schemeClr val="tx1"/>
                </a:solidFill>
                <a:latin typeface="Arial" charset="0"/>
                <a:ea typeface="新細明體" pitchFamily="18" charset="-120"/>
              </a:defRPr>
            </a:lvl5pPr>
            <a:lvl6pPr marL="1885950" indent="-171450" eaLnBrk="0" fontAlgn="base" hangingPunct="0">
              <a:spcBef>
                <a:spcPct val="0"/>
              </a:spcBef>
              <a:spcAft>
                <a:spcPct val="0"/>
              </a:spcAft>
              <a:defRPr kumimoji="1">
                <a:solidFill>
                  <a:schemeClr val="tx1"/>
                </a:solidFill>
                <a:latin typeface="Arial" charset="0"/>
                <a:ea typeface="新細明體" pitchFamily="18" charset="-120"/>
              </a:defRPr>
            </a:lvl6pPr>
            <a:lvl7pPr marL="2228850" indent="-171450" eaLnBrk="0" fontAlgn="base" hangingPunct="0">
              <a:spcBef>
                <a:spcPct val="0"/>
              </a:spcBef>
              <a:spcAft>
                <a:spcPct val="0"/>
              </a:spcAft>
              <a:defRPr kumimoji="1">
                <a:solidFill>
                  <a:schemeClr val="tx1"/>
                </a:solidFill>
                <a:latin typeface="Arial" charset="0"/>
                <a:ea typeface="新細明體" pitchFamily="18" charset="-120"/>
              </a:defRPr>
            </a:lvl7pPr>
            <a:lvl8pPr marL="2571750" indent="-171450" eaLnBrk="0" fontAlgn="base" hangingPunct="0">
              <a:spcBef>
                <a:spcPct val="0"/>
              </a:spcBef>
              <a:spcAft>
                <a:spcPct val="0"/>
              </a:spcAft>
              <a:defRPr kumimoji="1">
                <a:solidFill>
                  <a:schemeClr val="tx1"/>
                </a:solidFill>
                <a:latin typeface="Arial" charset="0"/>
                <a:ea typeface="新細明體" pitchFamily="18" charset="-120"/>
              </a:defRPr>
            </a:lvl8pPr>
            <a:lvl9pPr marL="2914650" indent="-17145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C7568BAF-C7A3-42E4-9EA7-4D3F2D56270F}" type="slidenum">
              <a:rPr kumimoji="0" lang="en-US" altLang="zh-TW" smtClean="0"/>
              <a:pPr eaLnBrk="1" hangingPunct="1"/>
              <a:t>23</a:t>
            </a:fld>
            <a:endParaRPr kumimoji="0" lang="en-US" altLang="zh-TW" dirty="0"/>
          </a:p>
        </p:txBody>
      </p:sp>
      <p:pic>
        <p:nvPicPr>
          <p:cNvPr id="21508" name="Picture 2" descr="http://mw2.google.com/mw-panoramio/photos/medium/25657078.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598" y="1591739"/>
            <a:ext cx="4617244" cy="3463529"/>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1509" name="Picture 4" descr="http://tkfiles.storage.live.com/y1pPVQf4A71_mC8XZ6HE8ah86g0LrC6Kw0fB0sIafbKF6KEKyh1dLCbojv4mMiXrc0oU19DvodOq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8980" y="548680"/>
            <a:ext cx="295275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Curved Connector 6"/>
          <p:cNvCxnSpPr/>
          <p:nvPr/>
        </p:nvCxnSpPr>
        <p:spPr>
          <a:xfrm flipV="1">
            <a:off x="6126814" y="2053881"/>
            <a:ext cx="2537222" cy="1026319"/>
          </a:xfrm>
          <a:prstGeom prst="curvedConnector3">
            <a:avLst>
              <a:gd name="adj1" fmla="val 50000"/>
            </a:avLst>
          </a:prstGeom>
          <a:ln w="76200">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sp>
        <p:nvSpPr>
          <p:cNvPr id="21511" name="TextBox 7"/>
          <p:cNvSpPr txBox="1">
            <a:spLocks noChangeArrowheads="1"/>
          </p:cNvSpPr>
          <p:nvPr/>
        </p:nvSpPr>
        <p:spPr bwMode="auto">
          <a:xfrm>
            <a:off x="5515306" y="5338226"/>
            <a:ext cx="49011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r>
              <a:rPr lang="en-US" dirty="0"/>
              <a:t>A typical flat in a public housing estate</a:t>
            </a:r>
          </a:p>
        </p:txBody>
      </p:sp>
    </p:spTree>
    <p:extLst>
      <p:ext uri="{BB962C8B-B14F-4D97-AF65-F5344CB8AC3E}">
        <p14:creationId xmlns:p14="http://schemas.microsoft.com/office/powerpoint/2010/main" val="3095206726"/>
      </p:ext>
    </p:extLst>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Support (local)</a:t>
            </a:r>
            <a:endParaRPr lang="en-HK" dirty="0"/>
          </a:p>
        </p:txBody>
      </p:sp>
      <p:pic>
        <p:nvPicPr>
          <p:cNvPr id="4101" name="Picture 10" descr="image0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0" y="1700808"/>
            <a:ext cx="7881836" cy="30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4894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Part-time jobs</a:t>
            </a:r>
            <a:endParaRPr lang="en-HK" dirty="0"/>
          </a:p>
        </p:txBody>
      </p:sp>
      <p:pic>
        <p:nvPicPr>
          <p:cNvPr id="4" name="Picture 3" descr="cid:image009.jpg@01D8B09C.6B8E1510"/>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364957" y="2132856"/>
            <a:ext cx="8574124" cy="1728192"/>
          </a:xfrm>
          <a:prstGeom prst="rect">
            <a:avLst/>
          </a:prstGeom>
          <a:noFill/>
          <a:ln>
            <a:noFill/>
          </a:ln>
        </p:spPr>
      </p:pic>
    </p:spTree>
    <p:extLst>
      <p:ext uri="{BB962C8B-B14F-4D97-AF65-F5344CB8AC3E}">
        <p14:creationId xmlns:p14="http://schemas.microsoft.com/office/powerpoint/2010/main" val="260790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19736" y="1484784"/>
            <a:ext cx="8229600" cy="4090268"/>
          </a:xfrm>
        </p:spPr>
        <p:txBody>
          <a:bodyPr/>
          <a:lstStyle/>
          <a:p>
            <a:pPr marL="109537" indent="0">
              <a:buNone/>
            </a:pPr>
            <a:r>
              <a:rPr lang="en-US" sz="5400" dirty="0"/>
              <a:t>Surprise or expected?</a:t>
            </a:r>
          </a:p>
        </p:txBody>
      </p:sp>
      <p:sp>
        <p:nvSpPr>
          <p:cNvPr id="4" name="Slide Number Placeholder 3"/>
          <p:cNvSpPr>
            <a:spLocks noGrp="1"/>
          </p:cNvSpPr>
          <p:nvPr>
            <p:ph type="sldNum" sz="quarter" idx="12"/>
          </p:nvPr>
        </p:nvSpPr>
        <p:spPr/>
        <p:txBody>
          <a:bodyPr/>
          <a:lstStyle/>
          <a:p>
            <a:pPr>
              <a:defRPr/>
            </a:pPr>
            <a:fld id="{6083F8EF-996E-4349-AC07-DBF324BBB722}" type="slidenum">
              <a:rPr lang="en-US" altLang="zh-TW" smtClean="0"/>
              <a:pPr>
                <a:defRPr/>
              </a:pPr>
              <a:t>26</a:t>
            </a:fld>
            <a:endParaRPr lang="en-US" altLang="zh-TW" dirty="0"/>
          </a:p>
        </p:txBody>
      </p:sp>
    </p:spTree>
    <p:extLst>
      <p:ext uri="{BB962C8B-B14F-4D97-AF65-F5344CB8AC3E}">
        <p14:creationId xmlns:p14="http://schemas.microsoft.com/office/powerpoint/2010/main" val="1858785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a:pPr>
            <a:r>
              <a:rPr lang="en-US" altLang="zh-TW" sz="3200" dirty="0">
                <a:solidFill>
                  <a:schemeClr val="bg1"/>
                </a:solidFill>
                <a:latin typeface="+mn-lt"/>
                <a:cs typeface="Times New Roman" pitchFamily="18" charset="0"/>
              </a:rPr>
              <a:t>Challenges</a:t>
            </a:r>
            <a:endParaRPr lang="en-US" sz="3200" dirty="0">
              <a:solidFill>
                <a:schemeClr val="bg1"/>
              </a:solidFill>
              <a:latin typeface="+mn-lt"/>
              <a:cs typeface="Times New Roman" pitchFamily="18" charset="0"/>
            </a:endParaRPr>
          </a:p>
        </p:txBody>
      </p:sp>
      <p:sp>
        <p:nvSpPr>
          <p:cNvPr id="26626" name="Content Placeholder 2"/>
          <p:cNvSpPr>
            <a:spLocks noGrp="1"/>
          </p:cNvSpPr>
          <p:nvPr>
            <p:ph idx="1"/>
          </p:nvPr>
        </p:nvSpPr>
        <p:spPr>
          <a:xfrm>
            <a:off x="3791744" y="1988840"/>
            <a:ext cx="6929438" cy="2655888"/>
          </a:xfrm>
          <a:ln>
            <a:solidFill>
              <a:schemeClr val="bg1"/>
            </a:solidFill>
            <a:miter lim="800000"/>
            <a:headEnd/>
            <a:tailEnd/>
          </a:ln>
        </p:spPr>
        <p:txBody>
          <a:bodyPr/>
          <a:lstStyle/>
          <a:p>
            <a:pPr eaLnBrk="1" hangingPunct="1">
              <a:lnSpc>
                <a:spcPct val="80000"/>
              </a:lnSpc>
              <a:buSzPct val="100000"/>
              <a:buFont typeface="Wingdings 2" pitchFamily="18" charset="2"/>
              <a:buNone/>
            </a:pPr>
            <a:r>
              <a:rPr lang="en-US" altLang="zh-TW" sz="2800" dirty="0">
                <a:latin typeface="Arial" charset="0"/>
                <a:cs typeface="Arial" charset="0"/>
              </a:rPr>
              <a:t>Recalling your first day at the university…</a:t>
            </a:r>
            <a:endParaRPr lang="zh-TW" altLang="en-US" sz="2400" dirty="0">
              <a:latin typeface="Arial" charset="0"/>
              <a:cs typeface="Arial" charset="0"/>
            </a:endParaRPr>
          </a:p>
        </p:txBody>
      </p:sp>
      <p:sp>
        <p:nvSpPr>
          <p:cNvPr id="266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3FE57C82-BCC5-4929-A16A-7A4F22386C9F}" type="slidenum">
              <a:rPr kumimoji="0" lang="en-US" altLang="zh-TW" smtClean="0"/>
              <a:pPr eaLnBrk="1" hangingPunct="1"/>
              <a:t>27</a:t>
            </a:fld>
            <a:endParaRPr kumimoji="0" lang="en-US" altLang="zh-TW"/>
          </a:p>
        </p:txBody>
      </p:sp>
      <p:sp>
        <p:nvSpPr>
          <p:cNvPr id="6" name="Rectangle 5">
            <a:extLst>
              <a:ext uri="{FF2B5EF4-FFF2-40B4-BE49-F238E27FC236}">
                <a16:creationId xmlns:a16="http://schemas.microsoft.com/office/drawing/2014/main" id="{38A57844-19AE-4E79-93ED-85AF2D97F099}"/>
              </a:ext>
            </a:extLst>
          </p:cNvPr>
          <p:cNvSpPr/>
          <p:nvPr/>
        </p:nvSpPr>
        <p:spPr>
          <a:xfrm>
            <a:off x="9048328" y="4293096"/>
            <a:ext cx="4004673" cy="736035"/>
          </a:xfrm>
          <a:prstGeom prst="rect">
            <a:avLst/>
          </a:prstGeom>
        </p:spPr>
        <p:txBody>
          <a:bodyPr wrap="square">
            <a:spAutoFit/>
          </a:bodyPr>
          <a:lstStyle/>
          <a:p>
            <a:pPr>
              <a:lnSpc>
                <a:spcPct val="150000"/>
              </a:lnSpc>
            </a:pPr>
            <a:r>
              <a:rPr lang="en-US" sz="3200" dirty="0">
                <a:latin typeface="Berlin Sans FB Demi" panose="020E0802020502020306" pitchFamily="34" charset="0"/>
              </a:rPr>
              <a:t>P</a:t>
            </a:r>
            <a:r>
              <a:rPr lang="en-HK" sz="3200" dirty="0" err="1">
                <a:latin typeface="Berlin Sans FB Demi" panose="020E0802020502020306" pitchFamily="34" charset="0"/>
              </a:rPr>
              <a:t>adlet</a:t>
            </a:r>
            <a:r>
              <a:rPr lang="en-HK" sz="3200" dirty="0">
                <a:latin typeface="Berlin Sans FB Demi" panose="020E0802020502020306" pitchFamily="34" charset="0"/>
              </a:rPr>
              <a:t>!</a:t>
            </a:r>
            <a:endParaRPr lang="en-US" sz="3200" dirty="0">
              <a:latin typeface="Berlin Sans FB Demi" panose="020E0802020502020306" pitchFamily="34" charset="0"/>
            </a:endParaRPr>
          </a:p>
        </p:txBody>
      </p:sp>
      <p:pic>
        <p:nvPicPr>
          <p:cNvPr id="7" name="Picture 6">
            <a:extLst>
              <a:ext uri="{FF2B5EF4-FFF2-40B4-BE49-F238E27FC236}">
                <a16:creationId xmlns:a16="http://schemas.microsoft.com/office/drawing/2014/main" id="{661A0CFC-7942-447D-9A0D-883CAE8758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60096" y="4149080"/>
            <a:ext cx="2060848" cy="2060848"/>
          </a:xfrm>
          <a:prstGeom prst="rect">
            <a:avLst/>
          </a:prstGeom>
        </p:spPr>
      </p:pic>
    </p:spTree>
    <p:extLst>
      <p:ext uri="{BB962C8B-B14F-4D97-AF65-F5344CB8AC3E}">
        <p14:creationId xmlns:p14="http://schemas.microsoft.com/office/powerpoint/2010/main" val="3685552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zh-TW" sz="3200" dirty="0">
                <a:solidFill>
                  <a:schemeClr val="bg1"/>
                </a:solidFill>
                <a:latin typeface="+mn-lt"/>
                <a:cs typeface="Times New Roman" pitchFamily="18" charset="0"/>
              </a:rPr>
              <a:t>Challenges</a:t>
            </a:r>
            <a:endParaRPr lang="en-US" sz="3200" dirty="0">
              <a:solidFill>
                <a:schemeClr val="bg1"/>
              </a:solidFill>
              <a:latin typeface="+mn-lt"/>
              <a:cs typeface="Times New Roman" pitchFamily="18" charset="0"/>
            </a:endParaRPr>
          </a:p>
        </p:txBody>
      </p:sp>
      <p:sp>
        <p:nvSpPr>
          <p:cNvPr id="26626" name="Content Placeholder 2"/>
          <p:cNvSpPr>
            <a:spLocks noGrp="1"/>
          </p:cNvSpPr>
          <p:nvPr>
            <p:ph idx="1"/>
          </p:nvPr>
        </p:nvSpPr>
        <p:spPr>
          <a:xfrm>
            <a:off x="3791744" y="1988840"/>
            <a:ext cx="6929438" cy="2655888"/>
          </a:xfrm>
          <a:ln>
            <a:solidFill>
              <a:srgbClr val="FF00FF"/>
            </a:solidFill>
            <a:miter lim="800000"/>
            <a:headEnd/>
            <a:tailEnd/>
          </a:ln>
        </p:spPr>
        <p:txBody>
          <a:bodyPr/>
          <a:lstStyle/>
          <a:p>
            <a:pPr eaLnBrk="1" hangingPunct="1">
              <a:lnSpc>
                <a:spcPct val="80000"/>
              </a:lnSpc>
              <a:buSzPct val="100000"/>
              <a:buFont typeface="Wingdings 2" pitchFamily="18" charset="2"/>
              <a:buNone/>
            </a:pPr>
            <a:r>
              <a:rPr lang="en-US" altLang="zh-TW" sz="2800" dirty="0">
                <a:latin typeface="Arial" charset="0"/>
                <a:cs typeface="Arial" charset="0"/>
              </a:rPr>
              <a:t>In general, our students </a:t>
            </a:r>
            <a:r>
              <a:rPr lang="en-US" altLang="zh-TW" sz="2800" dirty="0">
                <a:solidFill>
                  <a:srgbClr val="FF0000"/>
                </a:solidFill>
                <a:latin typeface="Arial" charset="0"/>
                <a:cs typeface="Arial" charset="0"/>
              </a:rPr>
              <a:t>do not</a:t>
            </a:r>
          </a:p>
          <a:p>
            <a:pPr eaLnBrk="1" hangingPunct="1">
              <a:lnSpc>
                <a:spcPct val="80000"/>
              </a:lnSpc>
              <a:buSzPct val="100000"/>
              <a:buFont typeface="Wingdings 2" pitchFamily="18" charset="2"/>
              <a:buNone/>
            </a:pPr>
            <a:endParaRPr lang="en-US" altLang="zh-TW" sz="2800" dirty="0">
              <a:solidFill>
                <a:srgbClr val="FF0000"/>
              </a:solidFill>
              <a:latin typeface="Arial" charset="0"/>
              <a:cs typeface="Arial" charset="0"/>
            </a:endParaRPr>
          </a:p>
          <a:p>
            <a:pPr lvl="1" eaLnBrk="1" hangingPunct="1">
              <a:lnSpc>
                <a:spcPct val="80000"/>
              </a:lnSpc>
              <a:buClr>
                <a:srgbClr val="FF0000"/>
              </a:buClr>
              <a:buFont typeface="Verdana" pitchFamily="34" charset="0"/>
              <a:buNone/>
            </a:pPr>
            <a:r>
              <a:rPr lang="en-US" altLang="zh-TW" sz="2400" dirty="0">
                <a:solidFill>
                  <a:srgbClr val="FF0000"/>
                </a:solidFill>
                <a:latin typeface="Arial" charset="0"/>
                <a:cs typeface="Arial" charset="0"/>
              </a:rPr>
              <a:t>make the transition </a:t>
            </a:r>
            <a:r>
              <a:rPr lang="en-US" altLang="zh-TW" sz="2400" dirty="0">
                <a:latin typeface="Arial" charset="0"/>
                <a:cs typeface="Arial" charset="0"/>
              </a:rPr>
              <a:t>from secondary school to university easily</a:t>
            </a:r>
          </a:p>
          <a:p>
            <a:pPr lvl="1" eaLnBrk="1" hangingPunct="1">
              <a:lnSpc>
                <a:spcPct val="80000"/>
              </a:lnSpc>
              <a:buClr>
                <a:srgbClr val="FF0000"/>
              </a:buClr>
              <a:buFont typeface="Verdana" pitchFamily="34" charset="0"/>
              <a:buNone/>
            </a:pPr>
            <a:endParaRPr lang="en-US" altLang="zh-TW" sz="2400" dirty="0">
              <a:latin typeface="Arial" charset="0"/>
              <a:cs typeface="Arial" charset="0"/>
            </a:endParaRPr>
          </a:p>
          <a:p>
            <a:pPr lvl="1" eaLnBrk="1" hangingPunct="1">
              <a:lnSpc>
                <a:spcPct val="80000"/>
              </a:lnSpc>
              <a:buClr>
                <a:srgbClr val="FF0000"/>
              </a:buClr>
              <a:buFont typeface="Verdana" pitchFamily="34" charset="0"/>
              <a:buNone/>
            </a:pPr>
            <a:r>
              <a:rPr lang="en-US" altLang="zh-TW" sz="2400" dirty="0">
                <a:solidFill>
                  <a:srgbClr val="FF0000"/>
                </a:solidFill>
                <a:latin typeface="Arial" charset="0"/>
                <a:cs typeface="Arial" charset="0"/>
              </a:rPr>
              <a:t>have any clear goals </a:t>
            </a:r>
            <a:r>
              <a:rPr lang="en-US" altLang="zh-TW" sz="2400" dirty="0">
                <a:latin typeface="Arial" charset="0"/>
                <a:cs typeface="Arial" charset="0"/>
              </a:rPr>
              <a:t>for university and beyond</a:t>
            </a:r>
            <a:endParaRPr lang="zh-TW" altLang="en-US" sz="2400" dirty="0">
              <a:latin typeface="Arial" charset="0"/>
              <a:cs typeface="Arial" charset="0"/>
            </a:endParaRPr>
          </a:p>
        </p:txBody>
      </p:sp>
      <p:sp>
        <p:nvSpPr>
          <p:cNvPr id="266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3FE57C82-BCC5-4929-A16A-7A4F22386C9F}" type="slidenum">
              <a:rPr kumimoji="0" lang="en-US" altLang="zh-TW" smtClean="0"/>
              <a:pPr eaLnBrk="1" hangingPunct="1"/>
              <a:t>28</a:t>
            </a:fld>
            <a:endParaRPr kumimoji="0" lang="en-US" altLang="zh-TW"/>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chemeClr val="bg1"/>
                </a:solidFill>
                <a:latin typeface="+mn-lt"/>
                <a:cs typeface="Times New Roman" pitchFamily="18" charset="0"/>
              </a:rPr>
              <a:t>Opportunities</a:t>
            </a:r>
          </a:p>
        </p:txBody>
      </p:sp>
      <p:sp>
        <p:nvSpPr>
          <p:cNvPr id="3" name="Subtitle 2"/>
          <p:cNvSpPr>
            <a:spLocks noGrp="1"/>
          </p:cNvSpPr>
          <p:nvPr>
            <p:ph idx="1"/>
          </p:nvPr>
        </p:nvSpPr>
        <p:spPr>
          <a:xfrm>
            <a:off x="3463842" y="980728"/>
            <a:ext cx="8686800" cy="5029200"/>
          </a:xfrm>
        </p:spPr>
        <p:txBody>
          <a:bodyPr>
            <a:noAutofit/>
          </a:bodyPr>
          <a:lstStyle/>
          <a:p>
            <a:pPr algn="l"/>
            <a:r>
              <a:rPr lang="en-US" sz="2400" dirty="0">
                <a:cs typeface="Times New Roman" pitchFamily="18" charset="0"/>
              </a:rPr>
              <a:t>You can enrich their university experience!</a:t>
            </a:r>
          </a:p>
          <a:p>
            <a:endParaRPr lang="en-US" dirty="0"/>
          </a:p>
        </p:txBody>
      </p:sp>
      <p:sp>
        <p:nvSpPr>
          <p:cNvPr id="5" name="Slide Number Placeholder 4"/>
          <p:cNvSpPr>
            <a:spLocks noGrp="1"/>
          </p:cNvSpPr>
          <p:nvPr>
            <p:ph type="sldNum" sz="quarter" idx="12"/>
          </p:nvPr>
        </p:nvSpPr>
        <p:spPr/>
        <p:txBody>
          <a:bodyPr/>
          <a:lstStyle/>
          <a:p>
            <a:fld id="{33C17AEF-5ED4-4EF6-8C37-5FB1FB50CC9A}" type="slidenum">
              <a:rPr lang="en-US" smtClean="0">
                <a:solidFill>
                  <a:prstClr val="black">
                    <a:tint val="75000"/>
                  </a:prstClr>
                </a:solidFill>
              </a:rPr>
              <a:pPr/>
              <a:t>29</a:t>
            </a:fld>
            <a:endParaRPr lang="en-US">
              <a:solidFill>
                <a:prstClr val="black">
                  <a:tint val="75000"/>
                </a:prstClr>
              </a:solidFill>
            </a:endParaRPr>
          </a:p>
        </p:txBody>
      </p:sp>
    </p:spTree>
    <p:extLst>
      <p:ext uri="{BB962C8B-B14F-4D97-AF65-F5344CB8AC3E}">
        <p14:creationId xmlns:p14="http://schemas.microsoft.com/office/powerpoint/2010/main" val="3888402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A1CAA9-0AB6-751B-19DF-9DB8E15322D6}"/>
              </a:ext>
            </a:extLst>
          </p:cNvPr>
          <p:cNvSpPr>
            <a:spLocks noGrp="1"/>
          </p:cNvSpPr>
          <p:nvPr>
            <p:ph type="title"/>
          </p:nvPr>
        </p:nvSpPr>
        <p:spPr/>
        <p:txBody>
          <a:bodyPr>
            <a:normAutofit/>
          </a:bodyPr>
          <a:lstStyle/>
          <a:p>
            <a:pPr algn="ctr"/>
            <a:r>
              <a:rPr lang="en-US" sz="3200" dirty="0">
                <a:solidFill>
                  <a:srgbClr val="0070C0"/>
                </a:solidFill>
                <a:latin typeface="+mn-lt"/>
                <a:cs typeface="Times New Roman" pitchFamily="18" charset="0"/>
              </a:rPr>
              <a:t>Teaching Confidence: Teaching  Assistants’ Reality Shock</a:t>
            </a:r>
            <a:endParaRPr lang="en-GB" sz="3200" dirty="0">
              <a:solidFill>
                <a:srgbClr val="0070C0"/>
              </a:solidFill>
              <a:latin typeface="+mn-lt"/>
              <a:cs typeface="Times New Roman" pitchFamily="18" charset="0"/>
            </a:endParaRPr>
          </a:p>
        </p:txBody>
      </p:sp>
      <p:sp>
        <p:nvSpPr>
          <p:cNvPr id="4" name="Slide Number Placeholder 3">
            <a:extLst>
              <a:ext uri="{FF2B5EF4-FFF2-40B4-BE49-F238E27FC236}">
                <a16:creationId xmlns:a16="http://schemas.microsoft.com/office/drawing/2014/main" id="{F0AF8F8D-94DE-484A-561F-230524426AFD}"/>
              </a:ext>
            </a:extLst>
          </p:cNvPr>
          <p:cNvSpPr>
            <a:spLocks noGrp="1"/>
          </p:cNvSpPr>
          <p:nvPr>
            <p:ph type="sldNum" sz="quarter" idx="12"/>
          </p:nvPr>
        </p:nvSpPr>
        <p:spPr/>
        <p:txBody>
          <a:bodyPr/>
          <a:lstStyle/>
          <a:p>
            <a:pPr>
              <a:defRPr/>
            </a:pPr>
            <a:fld id="{6083F8EF-996E-4349-AC07-DBF324BBB722}" type="slidenum">
              <a:rPr lang="en-US" altLang="zh-TW" smtClean="0"/>
              <a:pPr>
                <a:defRPr/>
              </a:pPr>
              <a:t>30</a:t>
            </a:fld>
            <a:endParaRPr lang="en-US" altLang="zh-TW" dirty="0"/>
          </a:p>
        </p:txBody>
      </p:sp>
      <p:graphicFrame>
        <p:nvGraphicFramePr>
          <p:cNvPr id="8" name="Chart 7">
            <a:extLst>
              <a:ext uri="{FF2B5EF4-FFF2-40B4-BE49-F238E27FC236}">
                <a16:creationId xmlns:a16="http://schemas.microsoft.com/office/drawing/2014/main" id="{57DDBA85-5F91-2ABA-ECAD-4092BA98423C}"/>
              </a:ext>
            </a:extLst>
          </p:cNvPr>
          <p:cNvGraphicFramePr/>
          <p:nvPr>
            <p:extLst>
              <p:ext uri="{D42A27DB-BD31-4B8C-83A1-F6EECF244321}">
                <p14:modId xmlns:p14="http://schemas.microsoft.com/office/powerpoint/2010/main" val="958495108"/>
              </p:ext>
            </p:extLst>
          </p:nvPr>
        </p:nvGraphicFramePr>
        <p:xfrm>
          <a:off x="3483370" y="836712"/>
          <a:ext cx="8229599" cy="4819674"/>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EC56D3B8-3437-156E-8754-46804EDFD24E}"/>
              </a:ext>
            </a:extLst>
          </p:cNvPr>
          <p:cNvSpPr txBox="1"/>
          <p:nvPr/>
        </p:nvSpPr>
        <p:spPr>
          <a:xfrm>
            <a:off x="5293914" y="3757756"/>
            <a:ext cx="1224136" cy="523220"/>
          </a:xfrm>
          <a:prstGeom prst="rect">
            <a:avLst/>
          </a:prstGeom>
          <a:noFill/>
        </p:spPr>
        <p:txBody>
          <a:bodyPr wrap="square" rtlCol="0">
            <a:spAutoFit/>
          </a:bodyPr>
          <a:lstStyle/>
          <a:p>
            <a:pPr algn="ctr"/>
            <a:r>
              <a:rPr lang="en-US" sz="1400" dirty="0"/>
              <a:t>Phase 1: Honeymoon</a:t>
            </a:r>
            <a:endParaRPr lang="en-GB" sz="1400" dirty="0"/>
          </a:p>
        </p:txBody>
      </p:sp>
      <p:sp>
        <p:nvSpPr>
          <p:cNvPr id="10" name="TextBox 9">
            <a:extLst>
              <a:ext uri="{FF2B5EF4-FFF2-40B4-BE49-F238E27FC236}">
                <a16:creationId xmlns:a16="http://schemas.microsoft.com/office/drawing/2014/main" id="{F8C91841-E331-677F-0261-80B8874F5F68}"/>
              </a:ext>
            </a:extLst>
          </p:cNvPr>
          <p:cNvSpPr txBox="1"/>
          <p:nvPr/>
        </p:nvSpPr>
        <p:spPr>
          <a:xfrm>
            <a:off x="7166122" y="3496146"/>
            <a:ext cx="1080120" cy="523220"/>
          </a:xfrm>
          <a:prstGeom prst="rect">
            <a:avLst/>
          </a:prstGeom>
          <a:noFill/>
        </p:spPr>
        <p:txBody>
          <a:bodyPr wrap="square" rtlCol="0">
            <a:spAutoFit/>
          </a:bodyPr>
          <a:lstStyle/>
          <a:p>
            <a:pPr algn="ctr"/>
            <a:r>
              <a:rPr lang="en-US" sz="1400" dirty="0"/>
              <a:t>Phase 2: Shock</a:t>
            </a:r>
            <a:endParaRPr lang="en-GB" sz="1400" dirty="0"/>
          </a:p>
        </p:txBody>
      </p:sp>
      <p:sp>
        <p:nvSpPr>
          <p:cNvPr id="11" name="TextBox 8">
            <a:extLst>
              <a:ext uri="{FF2B5EF4-FFF2-40B4-BE49-F238E27FC236}">
                <a16:creationId xmlns:a16="http://schemas.microsoft.com/office/drawing/2014/main" id="{F63942DD-6AE5-CBF0-C0B2-DD3528D11CD7}"/>
              </a:ext>
            </a:extLst>
          </p:cNvPr>
          <p:cNvSpPr txBox="1"/>
          <p:nvPr/>
        </p:nvSpPr>
        <p:spPr>
          <a:xfrm>
            <a:off x="10262466" y="1410203"/>
            <a:ext cx="1080120" cy="523220"/>
          </a:xfrm>
          <a:prstGeom prst="rect">
            <a:avLst/>
          </a:prstGeom>
          <a:noFill/>
        </p:spPr>
        <p:txBody>
          <a:bodyPr wrap="square" rtlCol="0">
            <a:spAutoFit/>
          </a:bodyPr>
          <a:lstStyle>
            <a:defPPr>
              <a:defRPr lang="zh-TW"/>
            </a:defPPr>
            <a:lvl1pPr marL="0" indent="0" algn="l" rtl="0" fontAlgn="base">
              <a:spcBef>
                <a:spcPct val="0"/>
              </a:spcBef>
              <a:spcAft>
                <a:spcPct val="0"/>
              </a:spcAft>
              <a:defRPr kumimoji="1" sz="1100" kern="1200">
                <a:solidFill>
                  <a:schemeClr val="tx1"/>
                </a:solidFill>
                <a:latin typeface="Arial" charset="0"/>
                <a:ea typeface="新細明體" pitchFamily="18" charset="-120"/>
                <a:cs typeface="+mn-cs"/>
              </a:defRPr>
            </a:lvl1pPr>
            <a:lvl2pPr marL="457200" indent="0" algn="l" rtl="0" fontAlgn="base">
              <a:spcBef>
                <a:spcPct val="0"/>
              </a:spcBef>
              <a:spcAft>
                <a:spcPct val="0"/>
              </a:spcAft>
              <a:defRPr kumimoji="1" sz="1100" kern="1200">
                <a:solidFill>
                  <a:schemeClr val="tx1"/>
                </a:solidFill>
                <a:latin typeface="Arial" charset="0"/>
                <a:ea typeface="新細明體" pitchFamily="18" charset="-120"/>
                <a:cs typeface="+mn-cs"/>
              </a:defRPr>
            </a:lvl2pPr>
            <a:lvl3pPr marL="914400" indent="0" algn="l" rtl="0" fontAlgn="base">
              <a:spcBef>
                <a:spcPct val="0"/>
              </a:spcBef>
              <a:spcAft>
                <a:spcPct val="0"/>
              </a:spcAft>
              <a:defRPr kumimoji="1" sz="1100" kern="1200">
                <a:solidFill>
                  <a:schemeClr val="tx1"/>
                </a:solidFill>
                <a:latin typeface="Arial" charset="0"/>
                <a:ea typeface="新細明體" pitchFamily="18" charset="-120"/>
                <a:cs typeface="+mn-cs"/>
              </a:defRPr>
            </a:lvl3pPr>
            <a:lvl4pPr marL="1371600" indent="0" algn="l" rtl="0" fontAlgn="base">
              <a:spcBef>
                <a:spcPct val="0"/>
              </a:spcBef>
              <a:spcAft>
                <a:spcPct val="0"/>
              </a:spcAft>
              <a:defRPr kumimoji="1" sz="1100" kern="1200">
                <a:solidFill>
                  <a:schemeClr val="tx1"/>
                </a:solidFill>
                <a:latin typeface="Arial" charset="0"/>
                <a:ea typeface="新細明體" pitchFamily="18" charset="-120"/>
                <a:cs typeface="+mn-cs"/>
              </a:defRPr>
            </a:lvl4pPr>
            <a:lvl5pPr marL="1828800" indent="0" algn="l" rtl="0" fontAlgn="base">
              <a:spcBef>
                <a:spcPct val="0"/>
              </a:spcBef>
              <a:spcAft>
                <a:spcPct val="0"/>
              </a:spcAft>
              <a:defRPr kumimoji="1" sz="1100" kern="1200">
                <a:solidFill>
                  <a:schemeClr val="tx1"/>
                </a:solidFill>
                <a:latin typeface="Arial" charset="0"/>
                <a:ea typeface="新細明體" pitchFamily="18" charset="-120"/>
                <a:cs typeface="+mn-cs"/>
              </a:defRPr>
            </a:lvl5pPr>
            <a:lvl6pPr marL="2286000" indent="0" algn="l" defTabSz="914400" rtl="0" eaLnBrk="1" latinLnBrk="0" hangingPunct="1">
              <a:defRPr kumimoji="1" sz="1100" kern="1200">
                <a:solidFill>
                  <a:schemeClr val="tx1"/>
                </a:solidFill>
                <a:latin typeface="Arial" charset="0"/>
                <a:ea typeface="新細明體" pitchFamily="18" charset="-120"/>
                <a:cs typeface="+mn-cs"/>
              </a:defRPr>
            </a:lvl6pPr>
            <a:lvl7pPr marL="2743200" indent="0" algn="l" defTabSz="914400" rtl="0" eaLnBrk="1" latinLnBrk="0" hangingPunct="1">
              <a:defRPr kumimoji="1" sz="1100" kern="1200">
                <a:solidFill>
                  <a:schemeClr val="tx1"/>
                </a:solidFill>
                <a:latin typeface="Arial" charset="0"/>
                <a:ea typeface="新細明體" pitchFamily="18" charset="-120"/>
                <a:cs typeface="+mn-cs"/>
              </a:defRPr>
            </a:lvl7pPr>
            <a:lvl8pPr marL="3200400" indent="0" algn="l" defTabSz="914400" rtl="0" eaLnBrk="1" latinLnBrk="0" hangingPunct="1">
              <a:defRPr kumimoji="1" sz="1100" kern="1200">
                <a:solidFill>
                  <a:schemeClr val="tx1"/>
                </a:solidFill>
                <a:latin typeface="Arial" charset="0"/>
                <a:ea typeface="新細明體" pitchFamily="18" charset="-120"/>
                <a:cs typeface="+mn-cs"/>
              </a:defRPr>
            </a:lvl8pPr>
            <a:lvl9pPr marL="3657600" indent="0" algn="l" defTabSz="914400" rtl="0" eaLnBrk="1" latinLnBrk="0" hangingPunct="1">
              <a:defRPr kumimoji="1" sz="1100" kern="1200">
                <a:solidFill>
                  <a:schemeClr val="tx1"/>
                </a:solidFill>
                <a:latin typeface="Arial" charset="0"/>
                <a:ea typeface="新細明體" pitchFamily="18" charset="-120"/>
                <a:cs typeface="+mn-cs"/>
              </a:defRPr>
            </a:lvl9pPr>
          </a:lstStyle>
          <a:p>
            <a:pPr algn="ctr"/>
            <a:r>
              <a:rPr lang="en-US" sz="1400" dirty="0"/>
              <a:t>Phase 4: Resolution</a:t>
            </a:r>
            <a:endParaRPr lang="en-GB" sz="1400" dirty="0"/>
          </a:p>
        </p:txBody>
      </p:sp>
      <p:sp>
        <p:nvSpPr>
          <p:cNvPr id="12" name="Rectangle 11">
            <a:extLst>
              <a:ext uri="{FF2B5EF4-FFF2-40B4-BE49-F238E27FC236}">
                <a16:creationId xmlns:a16="http://schemas.microsoft.com/office/drawing/2014/main" id="{2CAC93DA-4FD8-ABB6-C753-E96936C7E500}"/>
              </a:ext>
            </a:extLst>
          </p:cNvPr>
          <p:cNvSpPr/>
          <p:nvPr/>
        </p:nvSpPr>
        <p:spPr>
          <a:xfrm>
            <a:off x="6950098" y="1407914"/>
            <a:ext cx="1800200" cy="3672408"/>
          </a:xfrm>
          <a:prstGeom prst="rect">
            <a:avLst/>
          </a:prstGeom>
          <a:solidFill>
            <a:schemeClr val="bg2"/>
          </a:solidFill>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3" name="Rectangle 12">
            <a:extLst>
              <a:ext uri="{FF2B5EF4-FFF2-40B4-BE49-F238E27FC236}">
                <a16:creationId xmlns:a16="http://schemas.microsoft.com/office/drawing/2014/main" id="{CB1A5755-75C6-047D-322B-A525622294D2}"/>
              </a:ext>
            </a:extLst>
          </p:cNvPr>
          <p:cNvSpPr/>
          <p:nvPr/>
        </p:nvSpPr>
        <p:spPr>
          <a:xfrm>
            <a:off x="8750298" y="1407914"/>
            <a:ext cx="1512168" cy="3672408"/>
          </a:xfrm>
          <a:prstGeom prst="rect">
            <a:avLst/>
          </a:prstGeom>
          <a:solidFill>
            <a:schemeClr val="bg2"/>
          </a:solidFill>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4" name="Rectangle 13">
            <a:extLst>
              <a:ext uri="{FF2B5EF4-FFF2-40B4-BE49-F238E27FC236}">
                <a16:creationId xmlns:a16="http://schemas.microsoft.com/office/drawing/2014/main" id="{B837E022-086C-30CD-CFDA-1A64258401A2}"/>
              </a:ext>
            </a:extLst>
          </p:cNvPr>
          <p:cNvSpPr/>
          <p:nvPr/>
        </p:nvSpPr>
        <p:spPr>
          <a:xfrm>
            <a:off x="10262467" y="1407914"/>
            <a:ext cx="1368151" cy="3672408"/>
          </a:xfrm>
          <a:prstGeom prst="rect">
            <a:avLst/>
          </a:prstGeom>
          <a:solidFill>
            <a:schemeClr val="bg2"/>
          </a:solidFill>
          <a:ln>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8" name="TextBox 17">
            <a:extLst>
              <a:ext uri="{FF2B5EF4-FFF2-40B4-BE49-F238E27FC236}">
                <a16:creationId xmlns:a16="http://schemas.microsoft.com/office/drawing/2014/main" id="{74918105-F694-11BB-F3CC-9BDB695C490D}"/>
              </a:ext>
            </a:extLst>
          </p:cNvPr>
          <p:cNvSpPr txBox="1"/>
          <p:nvPr/>
        </p:nvSpPr>
        <p:spPr>
          <a:xfrm>
            <a:off x="7553661" y="5817770"/>
            <a:ext cx="4302979" cy="338554"/>
          </a:xfrm>
          <a:prstGeom prst="rect">
            <a:avLst/>
          </a:prstGeom>
          <a:noFill/>
        </p:spPr>
        <p:txBody>
          <a:bodyPr wrap="square">
            <a:spAutoFit/>
          </a:bodyPr>
          <a:lstStyle/>
          <a:p>
            <a:r>
              <a:rPr lang="en-HK" sz="800" dirty="0"/>
              <a:t>A study of graduate teaching assistants’ self-efficacy in teaching: Fits and starts in the first triennium of teaching, PHP Chiu, P Corrigan - Cogent Education, 2019</a:t>
            </a:r>
            <a:endParaRPr lang="en-GB" sz="800" dirty="0"/>
          </a:p>
        </p:txBody>
      </p:sp>
    </p:spTree>
    <p:extLst>
      <p:ext uri="{BB962C8B-B14F-4D97-AF65-F5344CB8AC3E}">
        <p14:creationId xmlns:p14="http://schemas.microsoft.com/office/powerpoint/2010/main" val="187503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2"/>
                                        </p:tgtEl>
                                        <p:attrNameLst>
                                          <p:attrName>ppt_x</p:attrName>
                                        </p:attrNameLst>
                                      </p:cBhvr>
                                      <p:tavLst>
                                        <p:tav tm="0">
                                          <p:val>
                                            <p:strVal val="ppt_x"/>
                                          </p:val>
                                        </p:tav>
                                        <p:tav tm="100000">
                                          <p:val>
                                            <p:strVal val="ppt_x"/>
                                          </p:val>
                                        </p:tav>
                                      </p:tavLst>
                                    </p:anim>
                                    <p:anim calcmode="lin" valueType="num">
                                      <p:cBhvr additive="base">
                                        <p:cTn id="7" dur="500"/>
                                        <p:tgtEl>
                                          <p:spTgt spid="12"/>
                                        </p:tgtEl>
                                        <p:attrNameLst>
                                          <p:attrName>ppt_y</p:attrName>
                                        </p:attrNameLst>
                                      </p:cBhvr>
                                      <p:tavLst>
                                        <p:tav tm="0">
                                          <p:val>
                                            <p:strVal val="ppt_y"/>
                                          </p:val>
                                        </p:tav>
                                        <p:tav tm="100000">
                                          <p:val>
                                            <p:strVal val="1+ppt_h/2"/>
                                          </p:val>
                                        </p:tav>
                                      </p:tavLst>
                                    </p:anim>
                                    <p:set>
                                      <p:cBhvr>
                                        <p:cTn id="8" dur="1" fill="hold">
                                          <p:stCondLst>
                                            <p:cond delay="499"/>
                                          </p:stCondLst>
                                        </p:cTn>
                                        <p:tgtEl>
                                          <p:spTgt spid="1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2" presetClass="exit" presetSubtype="8" fill="hold" grpId="0" nodeType="clickEffect">
                                  <p:stCondLst>
                                    <p:cond delay="0"/>
                                  </p:stCondLst>
                                  <p:childTnLst>
                                    <p:animEffect transition="out" filter="wipe(left)">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2" presetClass="exit" presetSubtype="8" fill="hold" grpId="0" nodeType="clickEffect">
                                  <p:stCondLst>
                                    <p:cond delay="0"/>
                                  </p:stCondLst>
                                  <p:childTnLst>
                                    <p:animEffect transition="out" filter="wipe(left)">
                                      <p:cBhvr>
                                        <p:cTn id="17" dur="500"/>
                                        <p:tgtEl>
                                          <p:spTgt spid="14"/>
                                        </p:tgtEl>
                                      </p:cBhvr>
                                    </p:animEffect>
                                    <p:set>
                                      <p:cBhvr>
                                        <p:cTn id="18"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4"/>
          <p:cNvSpPr>
            <a:spLocks noGrp="1" noChangeArrowheads="1"/>
          </p:cNvSpPr>
          <p:nvPr>
            <p:ph type="title"/>
          </p:nvPr>
        </p:nvSpPr>
        <p:spPr>
          <a:effectLst>
            <a:outerShdw dist="35921" dir="2700000" algn="ctr" rotWithShape="0">
              <a:srgbClr val="B2B2B2"/>
            </a:outerShdw>
          </a:effectLst>
        </p:spPr>
        <p:txBody>
          <a:bodyPr rtlCol="0">
            <a:normAutofit/>
          </a:bodyPr>
          <a:lstStyle/>
          <a:p>
            <a:pPr algn="ctr">
              <a:defRPr/>
            </a:pPr>
            <a:r>
              <a:rPr lang="en-US" dirty="0">
                <a:solidFill>
                  <a:srgbClr val="0070C0"/>
                </a:solidFill>
                <a:latin typeface="+mn-lt"/>
                <a:cs typeface="Times New Roman" pitchFamily="18" charset="0"/>
              </a:rPr>
              <a:t>Assessment!</a:t>
            </a:r>
          </a:p>
        </p:txBody>
      </p:sp>
      <p:sp>
        <p:nvSpPr>
          <p:cNvPr id="3" name="Content Placeholder 2">
            <a:extLst>
              <a:ext uri="{FF2B5EF4-FFF2-40B4-BE49-F238E27FC236}">
                <a16:creationId xmlns:a16="http://schemas.microsoft.com/office/drawing/2014/main" id="{C1628946-41EB-4355-BE6C-1AC08237B68D}"/>
              </a:ext>
            </a:extLst>
          </p:cNvPr>
          <p:cNvSpPr>
            <a:spLocks noGrp="1"/>
          </p:cNvSpPr>
          <p:nvPr>
            <p:ph idx="1"/>
          </p:nvPr>
        </p:nvSpPr>
        <p:spPr/>
        <p:txBody>
          <a:bodyPr>
            <a:normAutofit/>
          </a:bodyPr>
          <a:lstStyle/>
          <a:p>
            <a:pPr marL="0" marR="0" indent="0" algn="l" rtl="0" eaLnBrk="1" fontAlgn="t" latinLnBrk="0" hangingPunct="1">
              <a:spcBef>
                <a:spcPts val="0"/>
              </a:spcBef>
              <a:spcAft>
                <a:spcPts val="0"/>
              </a:spcAft>
              <a:buNone/>
            </a:pPr>
            <a:r>
              <a:rPr lang="en-GB" sz="2800" b="1" i="0" u="none" strike="noStrike" kern="1200" dirty="0">
                <a:solidFill>
                  <a:srgbClr val="FFFFFF"/>
                </a:solidFill>
                <a:effectLst/>
                <a:latin typeface="Corbel" panose="020B0503020204020204" pitchFamily="34" charset="0"/>
              </a:rPr>
              <a:t>pe of Assessment Tasks/Activities</a:t>
            </a:r>
            <a:endParaRPr lang="en-HK" sz="2800" b="0" i="0" u="none" strike="noStrike" dirty="0">
              <a:effectLst/>
              <a:latin typeface="Arial" panose="020B0604020202020204" pitchFamily="34" charset="0"/>
            </a:endParaRPr>
          </a:p>
          <a:p>
            <a:pPr marL="0" marR="0" indent="0" algn="l" rtl="0" eaLnBrk="1" fontAlgn="t" latinLnBrk="0" hangingPunct="1">
              <a:spcBef>
                <a:spcPts val="0"/>
              </a:spcBef>
              <a:spcAft>
                <a:spcPts val="0"/>
              </a:spcAft>
              <a:buNone/>
            </a:pPr>
            <a:r>
              <a:rPr lang="en-GB" sz="2800" b="0" i="0" u="none" strike="noStrike" kern="1200" dirty="0">
                <a:solidFill>
                  <a:srgbClr val="000000"/>
                </a:solidFill>
                <a:effectLst/>
                <a:latin typeface="Corbel" panose="020B0503020204020204" pitchFamily="34" charset="0"/>
              </a:rPr>
              <a:t>Individual presentation (simulated teaching session with interactive student learning activities </a:t>
            </a:r>
            <a:r>
              <a:rPr lang="en-US" sz="2800" b="0" i="0" u="none" strike="noStrike" kern="1200" dirty="0">
                <a:solidFill>
                  <a:srgbClr val="000000"/>
                </a:solidFill>
                <a:effectLst/>
                <a:latin typeface="Corbel" panose="020B0503020204020204" pitchFamily="34" charset="0"/>
              </a:rPr>
              <a:t>and assessment plan</a:t>
            </a:r>
            <a:r>
              <a:rPr lang="en-GB" sz="2800" b="0" i="0" u="none" strike="noStrike" kern="1200" dirty="0">
                <a:solidFill>
                  <a:srgbClr val="000000"/>
                </a:solidFill>
                <a:effectLst/>
                <a:latin typeface="Corbel" panose="020B0503020204020204" pitchFamily="34" charset="0"/>
              </a:rPr>
              <a:t>)</a:t>
            </a:r>
          </a:p>
          <a:p>
            <a:pPr marL="0" marR="0" indent="0" algn="l" rtl="0" eaLnBrk="1" fontAlgn="t" latinLnBrk="0" hangingPunct="1">
              <a:spcBef>
                <a:spcPts val="0"/>
              </a:spcBef>
              <a:spcAft>
                <a:spcPts val="0"/>
              </a:spcAft>
              <a:buNone/>
            </a:pPr>
            <a:endParaRPr lang="en-GB" sz="2800" dirty="0">
              <a:solidFill>
                <a:srgbClr val="000000"/>
              </a:solidFill>
              <a:latin typeface="Corbel" panose="020B0503020204020204" pitchFamily="34" charset="0"/>
            </a:endParaRPr>
          </a:p>
          <a:p>
            <a:pPr fontAlgn="t">
              <a:spcBef>
                <a:spcPts val="0"/>
              </a:spcBef>
            </a:pPr>
            <a:r>
              <a:rPr lang="en-GB" sz="2800" dirty="0">
                <a:solidFill>
                  <a:srgbClr val="000000"/>
                </a:solidFill>
                <a:latin typeface="Corbel" panose="020B0503020204020204" pitchFamily="34" charset="0"/>
              </a:rPr>
              <a:t>OBTL</a:t>
            </a:r>
          </a:p>
          <a:p>
            <a:pPr fontAlgn="t">
              <a:spcBef>
                <a:spcPts val="0"/>
              </a:spcBef>
            </a:pPr>
            <a:r>
              <a:rPr lang="en-GB" sz="2800" dirty="0">
                <a:solidFill>
                  <a:srgbClr val="000000"/>
                </a:solidFill>
                <a:latin typeface="Corbel" panose="020B0503020204020204" pitchFamily="34" charset="0"/>
              </a:rPr>
              <a:t>About 10 mins</a:t>
            </a:r>
            <a:endParaRPr lang="en-HK" sz="2800" dirty="0"/>
          </a:p>
        </p:txBody>
      </p:sp>
      <p:sp>
        <p:nvSpPr>
          <p:cNvPr id="4" name="Text Placeholder 3">
            <a:extLst>
              <a:ext uri="{FF2B5EF4-FFF2-40B4-BE49-F238E27FC236}">
                <a16:creationId xmlns:a16="http://schemas.microsoft.com/office/drawing/2014/main" id="{7C8B7931-31EB-475D-BF43-1ABA70158AE6}"/>
              </a:ext>
            </a:extLst>
          </p:cNvPr>
          <p:cNvSpPr>
            <a:spLocks noGrp="1"/>
          </p:cNvSpPr>
          <p:nvPr>
            <p:ph type="body" sz="half" idx="2"/>
          </p:nvPr>
        </p:nvSpPr>
        <p:spPr/>
        <p:txBody>
          <a:bodyPr/>
          <a:lstStyle/>
          <a:p>
            <a:endParaRPr lang="en-HK"/>
          </a:p>
        </p:txBody>
      </p:sp>
      <p:sp>
        <p:nvSpPr>
          <p:cNvPr id="3072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96106400-E1B4-4AF6-8618-8E511895CBF1}" type="slidenum">
              <a:rPr kumimoji="0" lang="en-US" altLang="zh-TW" smtClean="0">
                <a:solidFill>
                  <a:srgbClr val="FFFFFF"/>
                </a:solidFill>
              </a:rPr>
              <a:pPr eaLnBrk="1" hangingPunct="1"/>
              <a:t>31</a:t>
            </a:fld>
            <a:endParaRPr kumimoji="0" lang="en-US" altLang="zh-TW">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1"/>
          <p:cNvSpPr>
            <a:spLocks noChangeArrowheads="1"/>
          </p:cNvSpPr>
          <p:nvPr/>
        </p:nvSpPr>
        <p:spPr bwMode="auto">
          <a:xfrm>
            <a:off x="1703389" y="115889"/>
            <a:ext cx="8569325" cy="936625"/>
          </a:xfrm>
          <a:prstGeom prst="rect">
            <a:avLst/>
          </a:prstGeom>
          <a:noFill/>
          <a:ln w="9525">
            <a:noFill/>
            <a:miter lim="800000"/>
            <a:headEnd/>
            <a:tailEnd/>
          </a:ln>
          <a:effectLst/>
        </p:spPr>
        <p:txBody>
          <a:bodyPr anchor="b"/>
          <a:lstStyle/>
          <a:p>
            <a:pPr>
              <a:defRPr/>
            </a:pPr>
            <a:endParaRPr lang="en-US" altLang="zh-TW" sz="2800" b="1" dirty="0">
              <a:solidFill>
                <a:srgbClr val="000099"/>
              </a:solidFill>
              <a:effectLst>
                <a:outerShdw blurRad="38100" dist="38100" dir="2700000" algn="tl">
                  <a:srgbClr val="C0C0C0"/>
                </a:outerShdw>
              </a:effectLst>
            </a:endParaRPr>
          </a:p>
        </p:txBody>
      </p:sp>
      <p:sp>
        <p:nvSpPr>
          <p:cNvPr id="4" name="Title 3">
            <a:extLst>
              <a:ext uri="{FF2B5EF4-FFF2-40B4-BE49-F238E27FC236}">
                <a16:creationId xmlns:a16="http://schemas.microsoft.com/office/drawing/2014/main" id="{4DCA121E-CCDD-42B2-81DA-16393E61D903}"/>
              </a:ext>
            </a:extLst>
          </p:cNvPr>
          <p:cNvSpPr>
            <a:spLocks noGrp="1"/>
          </p:cNvSpPr>
          <p:nvPr>
            <p:ph type="title"/>
          </p:nvPr>
        </p:nvSpPr>
        <p:spPr/>
        <p:txBody>
          <a:bodyPr/>
          <a:lstStyle/>
          <a:p>
            <a:r>
              <a:rPr lang="en-US" dirty="0"/>
              <a:t>Course Readings</a:t>
            </a:r>
            <a:endParaRPr lang="en-HK" dirty="0"/>
          </a:p>
        </p:txBody>
      </p:sp>
      <p:sp>
        <p:nvSpPr>
          <p:cNvPr id="5" name="Content Placeholder 4">
            <a:extLst>
              <a:ext uri="{FF2B5EF4-FFF2-40B4-BE49-F238E27FC236}">
                <a16:creationId xmlns:a16="http://schemas.microsoft.com/office/drawing/2014/main" id="{280EED4F-407E-4672-84D8-F1BFD3CE4C1B}"/>
              </a:ext>
            </a:extLst>
          </p:cNvPr>
          <p:cNvSpPr>
            <a:spLocks noGrp="1"/>
          </p:cNvSpPr>
          <p:nvPr>
            <p:ph idx="1"/>
          </p:nvPr>
        </p:nvSpPr>
        <p:spPr>
          <a:xfrm>
            <a:off x="3791744" y="1072247"/>
            <a:ext cx="7315200" cy="5120640"/>
          </a:xfrm>
        </p:spPr>
        <p:txBody>
          <a:bodyPr>
            <a:noAutofit/>
          </a:bodyPr>
          <a:lstStyle/>
          <a:p>
            <a:pPr marL="228600" indent="-228600">
              <a:buFont typeface="Arial" pitchFamily="34" charset="0"/>
              <a:buChar char="•"/>
              <a:defRPr/>
            </a:pPr>
            <a:r>
              <a:rPr lang="en-US" sz="1800" b="1" dirty="0"/>
              <a:t>Formative assessment in higher education: Moves towards theory and the enhancement of pedagogic practice.  </a:t>
            </a:r>
            <a:r>
              <a:rPr lang="en-US" sz="1800" dirty="0" err="1"/>
              <a:t>Mantz</a:t>
            </a:r>
            <a:r>
              <a:rPr lang="en-US" sz="1800" dirty="0"/>
              <a:t> Yorke</a:t>
            </a:r>
            <a:r>
              <a:rPr lang="en-US" sz="1800" baseline="30000" dirty="0"/>
              <a:t> </a:t>
            </a:r>
            <a:r>
              <a:rPr lang="en-US" sz="1800" dirty="0"/>
              <a:t>. Centre for Higher Education Development, Liverpool John </a:t>
            </a:r>
            <a:r>
              <a:rPr lang="en-US" sz="1800" dirty="0" err="1"/>
              <a:t>Moores</a:t>
            </a:r>
            <a:r>
              <a:rPr lang="en-US" sz="1800" dirty="0"/>
              <a:t> University. UK </a:t>
            </a:r>
            <a:r>
              <a:rPr lang="en-GB" sz="1800" dirty="0"/>
              <a:t>Higher Education, 45(4), 477-501. </a:t>
            </a:r>
            <a:endParaRPr lang="en-US" sz="1800" dirty="0"/>
          </a:p>
          <a:p>
            <a:pPr marL="228600" indent="-228600">
              <a:buFont typeface="Arial" pitchFamily="34" charset="0"/>
              <a:buChar char="•"/>
              <a:defRPr/>
            </a:pPr>
            <a:endParaRPr lang="en-US" sz="1800" dirty="0"/>
          </a:p>
          <a:p>
            <a:pPr marL="228600" indent="-228600">
              <a:buFont typeface="Arial" pitchFamily="34" charset="0"/>
              <a:buChar char="•"/>
              <a:defRPr/>
            </a:pPr>
            <a:r>
              <a:rPr lang="en-US" sz="1800" b="1" dirty="0"/>
              <a:t>Improved learning in a large-enrollment physics class. </a:t>
            </a:r>
            <a:r>
              <a:rPr lang="en-US" sz="1800" dirty="0" err="1"/>
              <a:t>Deslauriers</a:t>
            </a:r>
            <a:r>
              <a:rPr lang="en-US" sz="1800" dirty="0"/>
              <a:t>, L., </a:t>
            </a:r>
            <a:r>
              <a:rPr lang="en-US" sz="1800" dirty="0" err="1"/>
              <a:t>Schelew</a:t>
            </a:r>
            <a:r>
              <a:rPr lang="en-US" sz="1800" dirty="0"/>
              <a:t>, E., &amp; </a:t>
            </a:r>
            <a:r>
              <a:rPr lang="en-US" sz="1800" dirty="0" err="1"/>
              <a:t>Wieman</a:t>
            </a:r>
            <a:r>
              <a:rPr lang="en-US" sz="1800" dirty="0"/>
              <a:t>, C. (2011). Science, 332(6031), 862-864. </a:t>
            </a:r>
          </a:p>
          <a:p>
            <a:pPr marL="228600" indent="-228600">
              <a:buFont typeface="Arial" pitchFamily="34" charset="0"/>
              <a:buChar char="•"/>
              <a:defRPr/>
            </a:pPr>
            <a:endParaRPr lang="en-US" sz="1800" b="1" dirty="0"/>
          </a:p>
          <a:p>
            <a:pPr marL="228600" indent="-228600">
              <a:buFont typeface="Arial" pitchFamily="34" charset="0"/>
              <a:buChar char="•"/>
              <a:defRPr/>
            </a:pPr>
            <a:r>
              <a:rPr lang="en-US" sz="1800" b="1" dirty="0"/>
              <a:t>Graduate students' teaching experiences improve their methodological research skills. </a:t>
            </a:r>
            <a:r>
              <a:rPr lang="en-US" sz="1800" dirty="0" err="1"/>
              <a:t>Feldon</a:t>
            </a:r>
            <a:r>
              <a:rPr lang="en-US" sz="1800" dirty="0"/>
              <a:t>, D. F., </a:t>
            </a:r>
            <a:r>
              <a:rPr lang="en-US" sz="1800" dirty="0" err="1"/>
              <a:t>Peugh</a:t>
            </a:r>
            <a:r>
              <a:rPr lang="en-US" sz="1800" dirty="0"/>
              <a:t>, J., Timmerman, B. E., Maher, M. A., Hurst, M., Strickland, D., et al. (2011). Science, 333(6045), 1037-1039.</a:t>
            </a:r>
          </a:p>
          <a:p>
            <a:pPr marL="228600" indent="-228600">
              <a:buFont typeface="Arial" pitchFamily="34" charset="0"/>
              <a:buChar char="•"/>
              <a:defRPr/>
            </a:pPr>
            <a:endParaRPr lang="en-US" sz="1800" dirty="0"/>
          </a:p>
          <a:p>
            <a:pPr marL="228600" indent="-228600">
              <a:buFont typeface="Arial" pitchFamily="34" charset="0"/>
              <a:buChar char="•"/>
              <a:defRPr/>
            </a:pPr>
            <a:r>
              <a:rPr lang="en-HK" sz="1800" b="1" dirty="0"/>
              <a:t>A study of graduate teaching assistants’ self-efficacy in teaching: Fits and starts in the first triennium of teaching. </a:t>
            </a:r>
            <a:r>
              <a:rPr lang="en-HK" sz="1800" dirty="0"/>
              <a:t>Chiu, P. H. P., Corrigan, P., &amp; Hui, S. K. F. (2019).. Cogent Education, 6(1). https://doi.org/10.1080/2331186X.2019.1579964</a:t>
            </a:r>
            <a:br>
              <a:rPr lang="en-US" sz="1800" dirty="0"/>
            </a:br>
            <a:endParaRPr lang="en-US" sz="1800" dirty="0"/>
          </a:p>
          <a:p>
            <a:endParaRPr lang="en-HK" sz="1800" dirty="0"/>
          </a:p>
        </p:txBody>
      </p:sp>
      <p:sp>
        <p:nvSpPr>
          <p:cNvPr id="348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eaLnBrk="0" hangingPunct="0">
              <a:defRPr kumimoji="1">
                <a:solidFill>
                  <a:schemeClr val="tx1"/>
                </a:solidFill>
                <a:latin typeface="Arial" charset="0"/>
                <a:ea typeface="新細明體" pitchFamily="18" charset="-120"/>
              </a:defRPr>
            </a:lvl1pPr>
            <a:lvl2pPr marL="742950" indent="-285750" eaLnBrk="0" hangingPunct="0">
              <a:defRPr kumimoji="1">
                <a:solidFill>
                  <a:schemeClr val="tx1"/>
                </a:solidFill>
                <a:latin typeface="Arial" charset="0"/>
                <a:ea typeface="新細明體" pitchFamily="18" charset="-120"/>
              </a:defRPr>
            </a:lvl2pPr>
            <a:lvl3pPr marL="1143000" indent="-228600" eaLnBrk="0" hangingPunct="0">
              <a:defRPr kumimoji="1">
                <a:solidFill>
                  <a:schemeClr val="tx1"/>
                </a:solidFill>
                <a:latin typeface="Arial" charset="0"/>
                <a:ea typeface="新細明體" pitchFamily="18" charset="-120"/>
              </a:defRPr>
            </a:lvl3pPr>
            <a:lvl4pPr marL="1600200" indent="-228600" eaLnBrk="0" hangingPunct="0">
              <a:defRPr kumimoji="1">
                <a:solidFill>
                  <a:schemeClr val="tx1"/>
                </a:solidFill>
                <a:latin typeface="Arial" charset="0"/>
                <a:ea typeface="新細明體" pitchFamily="18" charset="-120"/>
              </a:defRPr>
            </a:lvl4pPr>
            <a:lvl5pPr marL="2057400" indent="-228600" eaLnBrk="0" hangingPunct="0">
              <a:defRPr kumimoji="1">
                <a:solidFill>
                  <a:schemeClr val="tx1"/>
                </a:solidFill>
                <a:latin typeface="Arial"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charset="0"/>
                <a:ea typeface="新細明體" pitchFamily="18" charset="-120"/>
              </a:defRPr>
            </a:lvl9pPr>
          </a:lstStyle>
          <a:p>
            <a:pPr eaLnBrk="1" hangingPunct="1"/>
            <a:fld id="{EB8AEA0D-1B4D-4512-95C6-C5ED29AD777B}" type="slidenum">
              <a:rPr kumimoji="0" lang="en-US" altLang="zh-TW" smtClean="0"/>
              <a:pPr eaLnBrk="1" hangingPunct="1"/>
              <a:t>32</a:t>
            </a:fld>
            <a:endParaRPr kumimoji="0" lang="en-US" altLang="zh-TW"/>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4FAAFC-86E6-44A3-B209-B72A5450247F}"/>
              </a:ext>
            </a:extLst>
          </p:cNvPr>
          <p:cNvSpPr>
            <a:spLocks noGrp="1"/>
          </p:cNvSpPr>
          <p:nvPr>
            <p:ph type="title"/>
          </p:nvPr>
        </p:nvSpPr>
        <p:spPr/>
        <p:txBody>
          <a:bodyPr/>
          <a:lstStyle/>
          <a:p>
            <a:endParaRPr lang="en-HK"/>
          </a:p>
        </p:txBody>
      </p:sp>
      <p:sp>
        <p:nvSpPr>
          <p:cNvPr id="5" name="Text Placeholder 4">
            <a:extLst>
              <a:ext uri="{FF2B5EF4-FFF2-40B4-BE49-F238E27FC236}">
                <a16:creationId xmlns:a16="http://schemas.microsoft.com/office/drawing/2014/main" id="{CA22BB6E-A145-4782-960A-36A3934C3973}"/>
              </a:ext>
            </a:extLst>
          </p:cNvPr>
          <p:cNvSpPr>
            <a:spLocks noGrp="1"/>
          </p:cNvSpPr>
          <p:nvPr>
            <p:ph type="body" idx="1"/>
          </p:nvPr>
        </p:nvSpPr>
        <p:spPr/>
        <p:txBody>
          <a:bodyPr/>
          <a:lstStyle/>
          <a:p>
            <a:endParaRPr lang="en-HK"/>
          </a:p>
        </p:txBody>
      </p:sp>
      <p:sp>
        <p:nvSpPr>
          <p:cNvPr id="2" name="Slide Number Placeholder 1">
            <a:extLst>
              <a:ext uri="{FF2B5EF4-FFF2-40B4-BE49-F238E27FC236}">
                <a16:creationId xmlns:a16="http://schemas.microsoft.com/office/drawing/2014/main" id="{D86D4446-A299-0AAC-D33B-F2A4AA1257FA}"/>
              </a:ext>
            </a:extLst>
          </p:cNvPr>
          <p:cNvSpPr>
            <a:spLocks noGrp="1"/>
          </p:cNvSpPr>
          <p:nvPr>
            <p:ph type="sldNum" sz="quarter" idx="12"/>
          </p:nvPr>
        </p:nvSpPr>
        <p:spPr/>
        <p:txBody>
          <a:bodyPr/>
          <a:lstStyle/>
          <a:p>
            <a:pPr>
              <a:defRPr/>
            </a:pPr>
            <a:fld id="{5BD813F3-0D3A-4396-A401-AABFF6BDAFAD}" type="slidenum">
              <a:rPr lang="en-US" altLang="zh-TW" smtClean="0"/>
              <a:pPr>
                <a:defRPr/>
              </a:pPr>
              <a:t>33</a:t>
            </a:fld>
            <a:endParaRPr lang="en-US" altLang="zh-TW" dirty="0"/>
          </a:p>
        </p:txBody>
      </p:sp>
      <p:pic>
        <p:nvPicPr>
          <p:cNvPr id="4" name="Picture 3" descr="Text&#10;&#10;Description automatically generated">
            <a:extLst>
              <a:ext uri="{FF2B5EF4-FFF2-40B4-BE49-F238E27FC236}">
                <a16:creationId xmlns:a16="http://schemas.microsoft.com/office/drawing/2014/main" id="{495AA6F5-2C56-6BCF-1A12-76346672D05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83832" y="958416"/>
            <a:ext cx="4941168" cy="4941168"/>
          </a:xfrm>
          <a:prstGeom prst="rect">
            <a:avLst/>
          </a:prstGeom>
        </p:spPr>
      </p:pic>
    </p:spTree>
    <p:extLst>
      <p:ext uri="{BB962C8B-B14F-4D97-AF65-F5344CB8AC3E}">
        <p14:creationId xmlns:p14="http://schemas.microsoft.com/office/powerpoint/2010/main" val="529977769"/>
      </p:ext>
    </p:extLst>
  </p:cSld>
  <p:clrMapOvr>
    <a:masterClrMapping/>
  </p:clrMapOvr>
</p:sld>
</file>

<file path=ppt/theme/theme1.xml><?xml version="1.0" encoding="utf-8"?>
<a:theme xmlns:a="http://schemas.openxmlformats.org/drawingml/2006/main" name="Fra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39D77354-939E-4A26-AE51-B3F9618B14B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Frame</Template>
  <TotalTime>4514</TotalTime>
  <Words>1257</Words>
  <Application>Microsoft Office PowerPoint</Application>
  <PresentationFormat>Widescreen</PresentationFormat>
  <Paragraphs>209</Paragraphs>
  <Slides>33</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Berlin Sans FB Demi</vt:lpstr>
      <vt:lpstr>Calibri</vt:lpstr>
      <vt:lpstr>Corbel</vt:lpstr>
      <vt:lpstr>Helvetica</vt:lpstr>
      <vt:lpstr>Roboto</vt:lpstr>
      <vt:lpstr>Times New Roman</vt:lpstr>
      <vt:lpstr>Verdana</vt:lpstr>
      <vt:lpstr>Wingdings 2</vt:lpstr>
      <vt:lpstr>Frame</vt:lpstr>
      <vt:lpstr>Teaching University Students:  First Steps </vt:lpstr>
      <vt:lpstr>PowerPoint Presentation</vt:lpstr>
      <vt:lpstr>PowerPoint Presentation</vt:lpstr>
      <vt:lpstr>Intended Learning Outcomes</vt:lpstr>
      <vt:lpstr>Where are you from?</vt:lpstr>
      <vt:lpstr>Question:  In your opinion, what are your expectations of tutors?      </vt:lpstr>
      <vt:lpstr>Professors’ expectations on tutors at CityUHK</vt:lpstr>
      <vt:lpstr>Question</vt:lpstr>
      <vt:lpstr>Our Observations on GTAs</vt:lpstr>
      <vt:lpstr>Teaching duty (Guidebook for Research Degree Studies)</vt:lpstr>
      <vt:lpstr>Teaching is Good for YOU!</vt:lpstr>
      <vt:lpstr>PowerPoint Presentation</vt:lpstr>
      <vt:lpstr>PowerPoint Presentation</vt:lpstr>
      <vt:lpstr>Teaching vs Research</vt:lpstr>
      <vt:lpstr>PowerPoint Presentation</vt:lpstr>
      <vt:lpstr>Open Question  Do you think CityUHK students come from affluent families? </vt:lpstr>
      <vt:lpstr>Background of CityU students:  2021-22 Cohort</vt:lpstr>
      <vt:lpstr>Family Education</vt:lpstr>
      <vt:lpstr>Family Income (local)</vt:lpstr>
      <vt:lpstr>Type of Housing</vt:lpstr>
      <vt:lpstr>Quick question </vt:lpstr>
      <vt:lpstr>Study Environment at Home</vt:lpstr>
      <vt:lpstr>Private Space?</vt:lpstr>
      <vt:lpstr>Financial Support (local)</vt:lpstr>
      <vt:lpstr>Part-time jobs</vt:lpstr>
      <vt:lpstr>PowerPoint Presentation</vt:lpstr>
      <vt:lpstr>Challenges</vt:lpstr>
      <vt:lpstr>Challenges</vt:lpstr>
      <vt:lpstr>Opportunities</vt:lpstr>
      <vt:lpstr>Teaching Confidence: Teaching  Assistants’ Reality Shock</vt:lpstr>
      <vt:lpstr>Assessment!</vt:lpstr>
      <vt:lpstr>Course Readings</vt:lpstr>
      <vt:lpstr>PowerPoint Presentation</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Dr. LAM Yee Man</cp:lastModifiedBy>
  <cp:revision>440</cp:revision>
  <cp:lastPrinted>2025-02-04T06:46:09Z</cp:lastPrinted>
  <dcterms:created xsi:type="dcterms:W3CDTF">2006-09-11T10:00:48Z</dcterms:created>
  <dcterms:modified xsi:type="dcterms:W3CDTF">2025-09-16T07:10:37Z</dcterms:modified>
</cp:coreProperties>
</file>