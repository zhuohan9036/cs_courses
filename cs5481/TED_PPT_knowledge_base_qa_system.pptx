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</p:sldMasterIdLst>
  <p:notesMasterIdLst>
    <p:notesMasterId r:id="rId10"/>
  </p:notesMasterIdLst>
  <p:sldIdLst>
    <p:sldId id="400" r:id="rId2"/>
    <p:sldId id="402" r:id="rId3"/>
    <p:sldId id="412" r:id="rId4"/>
    <p:sldId id="363" r:id="rId5"/>
    <p:sldId id="370" r:id="rId6"/>
    <p:sldId id="414" r:id="rId7"/>
    <p:sldId id="404" r:id="rId8"/>
    <p:sldId id="408" r:id="rId9"/>
  </p:sldIdLst>
  <p:sldSz cx="9144000" cy="6858000" type="screen4x3"/>
  <p:notesSz cx="7010400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0449D5-EFCC-174F-890E-C5278BFC5BFE}">
          <p14:sldIdLst>
            <p14:sldId id="400"/>
            <p14:sldId id="402"/>
            <p14:sldId id="412"/>
            <p14:sldId id="363"/>
            <p14:sldId id="370"/>
            <p14:sldId id="414"/>
            <p14:sldId id="404"/>
            <p14:sldId id="4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FFCC"/>
    <a:srgbClr val="CCFF99"/>
    <a:srgbClr val="CCFFCC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7"/>
    <p:restoredTop sz="67079" autoAdjust="0"/>
  </p:normalViewPr>
  <p:slideViewPr>
    <p:cSldViewPr snapToGrid="0">
      <p:cViewPr varScale="1">
        <p:scale>
          <a:sx n="80" d="100"/>
          <a:sy n="80" d="100"/>
        </p:scale>
        <p:origin x="192" y="1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31" y="0"/>
            <a:ext cx="3038170" cy="46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060" y="4387136"/>
            <a:ext cx="5142280" cy="415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271"/>
            <a:ext cx="3038171" cy="46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31" y="8774271"/>
            <a:ext cx="3038170" cy="46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CF98A5E-5F62-41CD-8D41-4B037491A65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1063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start, let’s introduce the definition of Class and Object to you.</a:t>
            </a:r>
            <a:endParaRPr lang="en-HK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>
                <a:effectLst/>
                <a:highlight>
                  <a:srgbClr val="00FFFF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Class can be thought of as a blueprint for creating objects</a:t>
            </a:r>
            <a:r>
              <a:rPr lang="en-US" sz="1800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It defines the attributes and behaviors of an object. Behaviors are functions which are talking about actions and attributes are characteristics of the class.</a:t>
            </a:r>
            <a:endParaRPr lang="en-HK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</a:t>
            </a:r>
            <a:r>
              <a:rPr lang="en-US" sz="1800">
                <a:effectLst/>
                <a:highlight>
                  <a:srgbClr val="00FFFF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</a:t>
            </a:r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if we want to build a class for cars, we can include attributes such as model, and color, with behaviors such as start, stop and accelerate.</a:t>
            </a:r>
            <a:r>
              <a:rPr lang="en-HK">
                <a:effectLst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6613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>
                <a:effectLst/>
              </a:rPr>
              <a:t>And </a:t>
            </a:r>
            <a:r>
              <a:rPr lang="en-US" sz="1800">
                <a:effectLst/>
                <a:highlight>
                  <a:srgbClr val="00FFFF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 Object is an instance of class.</a:t>
            </a:r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For </a:t>
            </a:r>
            <a:r>
              <a:rPr lang="en-US" sz="1800">
                <a:effectLst/>
                <a:highlight>
                  <a:srgbClr val="00FFFF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example,</a:t>
            </a:r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using the same class "Car" we can create different objects having variation in model, price, and color while having the same common behavior.</a:t>
            </a:r>
            <a:r>
              <a:rPr lang="en-HK">
                <a:effectLst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964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</a:t>
            </a:r>
            <a:r>
              <a:rPr lang="en-US" sz="180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programming, the attributes and behaviors are represented by member variables and member functions respectively.</a:t>
            </a:r>
            <a:r>
              <a:rPr lang="en-HK">
                <a:effectLst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7349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objects can be created by assign different value to member variables.</a:t>
            </a:r>
            <a:r>
              <a:rPr lang="en-HK">
                <a:effectLst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988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Now, let’s get into some actual C++ syntax. The basic structure of a class in C++ looks like the code show in left part, which is a collection of variables and functions related to a data.</a:t>
            </a:r>
            <a:endParaRPr lang="en-HK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5843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With class Car, the syntax for object creation is quite straightforward, firstly declare it as a variable of the class type and then use dot operator to call member variables and set the value.</a:t>
            </a:r>
            <a:r>
              <a:rPr lang="en-HK" sz="1800">
                <a:effectLst/>
              </a:rPr>
              <a:t> </a:t>
            </a:r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11997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Now that we’ve discussed classes and how to create objects, let’s focus on how to define member functions. Member functions are functions that belong to a class and can access its attributes.</a:t>
            </a:r>
            <a:endParaRPr lang="en-HK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example, we define a class Circle and create several objects from this class. Suppose now we want to get the area of each object, without class/object, it can be achieved by defining a </a:t>
            </a:r>
            <a:r>
              <a:rPr lang="en-US" sz="1800" kern="10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getArea</a:t>
            </a:r>
            <a:r>
              <a:rPr lang="en-US" sz="1800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() function to calculate the area for each input radius.</a:t>
            </a:r>
            <a:endParaRPr lang="en-HK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98A5E-5F62-41CD-8D41-4B037491A654}" type="slidenum">
              <a:rPr lang="zh-TW" altLang="en-US" smtClean="0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237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D6FA-5E89-4606-B01A-582F3A7D6BE2}" type="datetime1">
              <a:rPr lang="zh-TW" altLang="en-US" smtClean="0"/>
              <a:pPr/>
              <a:t>2025/10/20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1DD9-FBA9-45B1-A338-48B62220DCA2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109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78F54-14D4-4174-8095-78313D8724AE}" type="datetime1">
              <a:rPr lang="zh-TW" altLang="en-US" smtClean="0"/>
              <a:pPr/>
              <a:t>2025/10/20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723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B6A6-8190-45EC-A936-53BC4BAE5221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18A3F-6483-453B-81DE-444EA92C52D0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857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3248-FBC3-4E2A-BD6C-3A4F4BE515A2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390F-A280-4BBD-8F3F-9177F03D9C7F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565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7B4DA-70E4-479A-B359-906C67767E4B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0CE3-B325-46E7-99BE-0FC9F5F3702C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821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1F934-E24B-43E3-8465-D4C2AD4CB3DB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3A93-9814-4C58-BA77-C4CCFEB8AAF6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28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1CB3-FF13-494C-83F4-500012DDDF46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306FC-530B-4CD8-9A41-3FE82D34B383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158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E972-859D-45D8-B024-8966E515BD97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DC49-761C-4ABC-BE11-4AD83494D7BA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214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806D-3C41-44B6-B8E1-249676A026BB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ECD-2490-4FC6-8B54-F2AF30D33C28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990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976B-8B85-40A5-BA11-A244AA88BF72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61FE2-700C-4144-B3AD-A6DB18903C0C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6212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8A9C3-8133-4C7A-A731-7037E1915819}" type="datetime1">
              <a:rPr lang="zh-TW" altLang="en-US" smtClean="0"/>
              <a:pPr/>
              <a:t>2025/10/21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Chapter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DAA2-7CAF-4B3A-9872-8DD4D3AD8567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5938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789F3-2BA1-420B-9C9E-28272C45D9C7}" type="datetime1">
              <a:rPr lang="zh-TW" altLang="en-US" smtClean="0"/>
              <a:pPr/>
              <a:t>2025/10/20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Chapter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0E853-7063-4B3F-A4CF-6DE2E358EB03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916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8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f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82880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haroni" panose="02010803020104030203" pitchFamily="2" charset="-79"/>
              </a:rPr>
              <a:t>CS5481 Data Engineering</a:t>
            </a:r>
            <a:br>
              <a:rPr lang="en-US" dirty="0"/>
            </a:b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haroni" panose="02010803020104030203" pitchFamily="2" charset="-79"/>
              </a:rPr>
              <a:t>- Project Topic: Knowledge Base Q&amp;A System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08110" y="50292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34E8D-84EC-4F9B-AB0C-DC2FB485A05A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4243861"/>
            <a:ext cx="2543194" cy="211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7CE2-255E-B3FE-720A-08B258E3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B56B2-EAFB-0398-561A-6E10B1FE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C8E6F-B75B-F194-1FA2-6E9E0257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2</a:t>
            </a:fld>
            <a:endParaRPr lang="en-US" altLang="zh-TW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656821A-997C-437C-15C3-FF158EA0F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983060"/>
            <a:ext cx="8547112" cy="1385765"/>
          </a:xfrm>
        </p:spPr>
        <p:txBody>
          <a:bodyPr>
            <a:normAutofit/>
          </a:bodyPr>
          <a:lstStyle/>
          <a:p>
            <a:r>
              <a:rPr lang="en-US" altLang="zh-CN" dirty="0"/>
              <a:t>From raw data to a </a:t>
            </a:r>
            <a:r>
              <a:rPr lang="en-US" altLang="zh-CN" dirty="0">
                <a:solidFill>
                  <a:srgbClr val="FF0000"/>
                </a:solidFill>
              </a:rPr>
              <a:t>Knowledge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Base</a:t>
            </a:r>
            <a:r>
              <a:rPr lang="en-US" altLang="zh-CN" b="1" dirty="0"/>
              <a:t> </a:t>
            </a:r>
            <a:r>
              <a:rPr lang="en-US" altLang="zh-CN" dirty="0"/>
              <a:t>that enables powerful </a:t>
            </a:r>
            <a:r>
              <a:rPr lang="en-US" altLang="zh-CN" dirty="0">
                <a:solidFill>
                  <a:srgbClr val="FF0000"/>
                </a:solidFill>
              </a:rPr>
              <a:t>Question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Answering</a:t>
            </a:r>
            <a:r>
              <a:rPr lang="en-HK" altLang="zh-HK" dirty="0"/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D4DDAC-1826-D465-0064-83C35631D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940"/>
            <a:ext cx="2368969" cy="1827048"/>
          </a:xfrm>
          <a:prstGeom prst="rect">
            <a:avLst/>
          </a:prstGeom>
        </p:spPr>
      </p:pic>
      <p:pic>
        <p:nvPicPr>
          <p:cNvPr id="8" name="图形 7" descr="问号 纯色填充">
            <a:extLst>
              <a:ext uri="{FF2B5EF4-FFF2-40B4-BE49-F238E27FC236}">
                <a16:creationId xmlns:a16="http://schemas.microsoft.com/office/drawing/2014/main" id="{952CDE7B-46D8-2D1B-E737-0EA7DE452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6516" y="2158811"/>
            <a:ext cx="629653" cy="629653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D1296EA4-FA30-EBFA-B257-78FF0D4C193B}"/>
              </a:ext>
            </a:extLst>
          </p:cNvPr>
          <p:cNvGrpSpPr/>
          <p:nvPr/>
        </p:nvGrpSpPr>
        <p:grpSpPr>
          <a:xfrm>
            <a:off x="3816356" y="1483244"/>
            <a:ext cx="914400" cy="3131190"/>
            <a:chOff x="3816356" y="1483244"/>
            <a:chExt cx="914400" cy="3131190"/>
          </a:xfrm>
        </p:grpSpPr>
        <p:pic>
          <p:nvPicPr>
            <p:cNvPr id="11" name="图形 10" descr="文档 轮廓">
              <a:extLst>
                <a:ext uri="{FF2B5EF4-FFF2-40B4-BE49-F238E27FC236}">
                  <a16:creationId xmlns:a16="http://schemas.microsoft.com/office/drawing/2014/main" id="{4E21C937-A34D-ECB4-D58C-21595A797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16356" y="1483244"/>
              <a:ext cx="914400" cy="914400"/>
            </a:xfrm>
            <a:prstGeom prst="rect">
              <a:avLst/>
            </a:prstGeom>
          </p:spPr>
        </p:pic>
        <p:pic>
          <p:nvPicPr>
            <p:cNvPr id="19" name="图形 18" descr="文档 轮廓">
              <a:extLst>
                <a:ext uri="{FF2B5EF4-FFF2-40B4-BE49-F238E27FC236}">
                  <a16:creationId xmlns:a16="http://schemas.microsoft.com/office/drawing/2014/main" id="{C6D3FD14-E81F-881C-298B-A13FE4E45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16356" y="2351504"/>
              <a:ext cx="914400" cy="914400"/>
            </a:xfrm>
            <a:prstGeom prst="rect">
              <a:avLst/>
            </a:prstGeom>
          </p:spPr>
        </p:pic>
        <p:pic>
          <p:nvPicPr>
            <p:cNvPr id="20" name="图形 19" descr="文档 轮廓">
              <a:extLst>
                <a:ext uri="{FF2B5EF4-FFF2-40B4-BE49-F238E27FC236}">
                  <a16:creationId xmlns:a16="http://schemas.microsoft.com/office/drawing/2014/main" id="{97CE8F89-516A-FF14-5BEE-4C49F84BB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16356" y="3700034"/>
              <a:ext cx="914400" cy="914400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509FEE8-4E61-6922-EBD1-D456CD74F01C}"/>
                </a:ext>
              </a:extLst>
            </p:cNvPr>
            <p:cNvSpPr txBox="1"/>
            <p:nvPr/>
          </p:nvSpPr>
          <p:spPr>
            <a:xfrm rot="16200000">
              <a:off x="3631066" y="2828665"/>
              <a:ext cx="1284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3" name="剪去单角的矩形 22">
            <a:extLst>
              <a:ext uri="{FF2B5EF4-FFF2-40B4-BE49-F238E27FC236}">
                <a16:creationId xmlns:a16="http://schemas.microsoft.com/office/drawing/2014/main" id="{79846BCD-049A-5800-1A1D-6146AA75FFEA}"/>
              </a:ext>
            </a:extLst>
          </p:cNvPr>
          <p:cNvSpPr/>
          <p:nvPr/>
        </p:nvSpPr>
        <p:spPr>
          <a:xfrm>
            <a:off x="6208296" y="1684421"/>
            <a:ext cx="1620252" cy="2213811"/>
          </a:xfrm>
          <a:prstGeom prst="snip1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--------------------------</a:t>
            </a:r>
            <a:r>
              <a:rPr kumimoji="1"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-----</a:t>
            </a:r>
            <a:r>
              <a:rPr kumimoji="1" lang="en-US" altLang="zh-CN" dirty="0">
                <a:solidFill>
                  <a:schemeClr val="tx1"/>
                </a:solidFill>
              </a:rPr>
              <a:t>--------------------------------------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Arrow: Down 22">
            <a:extLst>
              <a:ext uri="{FF2B5EF4-FFF2-40B4-BE49-F238E27FC236}">
                <a16:creationId xmlns:a16="http://schemas.microsoft.com/office/drawing/2014/main" id="{26457462-06FC-30B6-5079-580DF0396F18}"/>
              </a:ext>
            </a:extLst>
          </p:cNvPr>
          <p:cNvSpPr/>
          <p:nvPr/>
        </p:nvSpPr>
        <p:spPr>
          <a:xfrm rot="16200000">
            <a:off x="3061782" y="2575588"/>
            <a:ext cx="257980" cy="46623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7" name="Arrow: Down 22">
            <a:extLst>
              <a:ext uri="{FF2B5EF4-FFF2-40B4-BE49-F238E27FC236}">
                <a16:creationId xmlns:a16="http://schemas.microsoft.com/office/drawing/2014/main" id="{98826A53-C5E6-178E-BCA9-84F852D8A05B}"/>
              </a:ext>
            </a:extLst>
          </p:cNvPr>
          <p:cNvSpPr/>
          <p:nvPr/>
        </p:nvSpPr>
        <p:spPr>
          <a:xfrm rot="16200000">
            <a:off x="5277020" y="2561535"/>
            <a:ext cx="257980" cy="46623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7323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7CE2-255E-B3FE-720A-08B258E3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C8E6F-B75B-F194-1FA2-6E9E0257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3</a:t>
            </a:fld>
            <a:endParaRPr lang="en-US" altLang="zh-TW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B1688B8-0869-6083-C254-390B1F124BDA}"/>
              </a:ext>
            </a:extLst>
          </p:cNvPr>
          <p:cNvSpPr txBox="1">
            <a:spLocks/>
          </p:cNvSpPr>
          <p:nvPr/>
        </p:nvSpPr>
        <p:spPr>
          <a:xfrm>
            <a:off x="1342493" y="3274753"/>
            <a:ext cx="2611344" cy="351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altLang="zh-HK" sz="1400" b="1" dirty="0"/>
              <a:t>Approach 1</a:t>
            </a:r>
            <a:r>
              <a:rPr lang="en-US" altLang="zh-HK" sz="1400" dirty="0"/>
              <a:t>: </a:t>
            </a:r>
            <a:r>
              <a:rPr lang="en-US" altLang="zh-HK" sz="1400" dirty="0">
                <a:solidFill>
                  <a:srgbClr val="FF0000"/>
                </a:solidFill>
              </a:rPr>
              <a:t>Retrieval-then-Read</a:t>
            </a:r>
            <a:endParaRPr lang="zh-HK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46635AF-2112-490D-988A-442BD55AF6C7}"/>
              </a:ext>
            </a:extLst>
          </p:cNvPr>
          <p:cNvSpPr txBox="1">
            <a:spLocks/>
          </p:cNvSpPr>
          <p:nvPr/>
        </p:nvSpPr>
        <p:spPr>
          <a:xfrm>
            <a:off x="5946198" y="3259218"/>
            <a:ext cx="267575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altLang="zh-HK" sz="1400" b="1" dirty="0"/>
              <a:t>Approach 2</a:t>
            </a:r>
            <a:r>
              <a:rPr lang="en-US" altLang="zh-HK" sz="1400" dirty="0"/>
              <a:t>: </a:t>
            </a:r>
            <a:r>
              <a:rPr lang="en-US" altLang="zh-HK" sz="1400" dirty="0">
                <a:solidFill>
                  <a:srgbClr val="FF0000"/>
                </a:solidFill>
              </a:rPr>
              <a:t>End-to-End LLM Q&amp;A</a:t>
            </a:r>
            <a:endParaRPr lang="zh-HK" altLang="en-US" sz="1400" dirty="0">
              <a:solidFill>
                <a:srgbClr val="FF0000"/>
              </a:solidFill>
            </a:endParaRPr>
          </a:p>
        </p:txBody>
      </p:sp>
      <p:pic>
        <p:nvPicPr>
          <p:cNvPr id="14" name="图形 13" descr="放大镜 轮廓">
            <a:extLst>
              <a:ext uri="{FF2B5EF4-FFF2-40B4-BE49-F238E27FC236}">
                <a16:creationId xmlns:a16="http://schemas.microsoft.com/office/drawing/2014/main" id="{096AEFE4-6248-8DDB-DC90-8068556B3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782" y="2539099"/>
            <a:ext cx="625423" cy="625423"/>
          </a:xfrm>
          <a:prstGeom prst="rect">
            <a:avLst/>
          </a:prstGeom>
        </p:spPr>
      </p:pic>
      <p:pic>
        <p:nvPicPr>
          <p:cNvPr id="17" name="图形 16" descr="意见 轮廓">
            <a:extLst>
              <a:ext uri="{FF2B5EF4-FFF2-40B4-BE49-F238E27FC236}">
                <a16:creationId xmlns:a16="http://schemas.microsoft.com/office/drawing/2014/main" id="{D971AE9C-4100-4F0C-C6C9-948CF114E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2493" y="1557865"/>
            <a:ext cx="914400" cy="914400"/>
          </a:xfrm>
          <a:prstGeom prst="rect">
            <a:avLst/>
          </a:prstGeom>
        </p:spPr>
      </p:pic>
      <p:sp>
        <p:nvSpPr>
          <p:cNvPr id="28" name="椭圆形标注 27">
            <a:extLst>
              <a:ext uri="{FF2B5EF4-FFF2-40B4-BE49-F238E27FC236}">
                <a16:creationId xmlns:a16="http://schemas.microsoft.com/office/drawing/2014/main" id="{F1EC1399-78A0-0BB3-6456-7ACFD7099DB3}"/>
              </a:ext>
            </a:extLst>
          </p:cNvPr>
          <p:cNvSpPr/>
          <p:nvPr/>
        </p:nvSpPr>
        <p:spPr>
          <a:xfrm>
            <a:off x="2484618" y="1113258"/>
            <a:ext cx="1608026" cy="1176589"/>
          </a:xfrm>
          <a:prstGeom prst="wedgeEllipseCallout">
            <a:avLst>
              <a:gd name="adj1" fmla="val -52757"/>
              <a:gd name="adj2" fmla="val 4204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Answer</a:t>
            </a:r>
            <a:endParaRPr kumimoji="1"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66DBB80-1D24-68C8-F7D2-BD6D4B2A76E6}"/>
              </a:ext>
            </a:extLst>
          </p:cNvPr>
          <p:cNvGrpSpPr/>
          <p:nvPr/>
        </p:nvGrpSpPr>
        <p:grpSpPr>
          <a:xfrm>
            <a:off x="428094" y="767791"/>
            <a:ext cx="914400" cy="3131190"/>
            <a:chOff x="3816356" y="1483244"/>
            <a:chExt cx="914400" cy="3131190"/>
          </a:xfrm>
        </p:grpSpPr>
        <p:pic>
          <p:nvPicPr>
            <p:cNvPr id="30" name="图形 29" descr="文档 轮廓">
              <a:extLst>
                <a:ext uri="{FF2B5EF4-FFF2-40B4-BE49-F238E27FC236}">
                  <a16:creationId xmlns:a16="http://schemas.microsoft.com/office/drawing/2014/main" id="{3C152058-3346-4E5B-9C85-B61BEDE08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16356" y="1483244"/>
              <a:ext cx="914400" cy="914400"/>
            </a:xfrm>
            <a:prstGeom prst="rect">
              <a:avLst/>
            </a:prstGeom>
          </p:spPr>
        </p:pic>
        <p:pic>
          <p:nvPicPr>
            <p:cNvPr id="31" name="图形 30" descr="文档 轮廓">
              <a:extLst>
                <a:ext uri="{FF2B5EF4-FFF2-40B4-BE49-F238E27FC236}">
                  <a16:creationId xmlns:a16="http://schemas.microsoft.com/office/drawing/2014/main" id="{DDEEBDA3-9DCD-B60B-9040-985ABCCF1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16356" y="2351504"/>
              <a:ext cx="914400" cy="914400"/>
            </a:xfrm>
            <a:prstGeom prst="rect">
              <a:avLst/>
            </a:prstGeom>
          </p:spPr>
        </p:pic>
        <p:pic>
          <p:nvPicPr>
            <p:cNvPr id="32" name="图形 31" descr="文档 轮廓">
              <a:extLst>
                <a:ext uri="{FF2B5EF4-FFF2-40B4-BE49-F238E27FC236}">
                  <a16:creationId xmlns:a16="http://schemas.microsoft.com/office/drawing/2014/main" id="{CFD02CA9-0E00-81E0-9A14-90878F7B8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16356" y="3700034"/>
              <a:ext cx="914400" cy="914400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3B2807F-DDD6-2CA1-D675-BCF1AA06C564}"/>
                </a:ext>
              </a:extLst>
            </p:cNvPr>
            <p:cNvSpPr txBox="1"/>
            <p:nvPr/>
          </p:nvSpPr>
          <p:spPr>
            <a:xfrm rot="16200000">
              <a:off x="3631066" y="2828665"/>
              <a:ext cx="1284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pic>
        <p:nvPicPr>
          <p:cNvPr id="35" name="图形 34" descr="插画家 轮廓">
            <a:extLst>
              <a:ext uri="{FF2B5EF4-FFF2-40B4-BE49-F238E27FC236}">
                <a16:creationId xmlns:a16="http://schemas.microsoft.com/office/drawing/2014/main" id="{628CDF14-B982-15F4-6FC9-D58C7D987F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8122" y="1557865"/>
            <a:ext cx="914400" cy="914400"/>
          </a:xfrm>
          <a:prstGeom prst="rect">
            <a:avLst/>
          </a:prstGeom>
        </p:spPr>
      </p:pic>
      <p:sp>
        <p:nvSpPr>
          <p:cNvPr id="42" name="椭圆形标注 41">
            <a:extLst>
              <a:ext uri="{FF2B5EF4-FFF2-40B4-BE49-F238E27FC236}">
                <a16:creationId xmlns:a16="http://schemas.microsoft.com/office/drawing/2014/main" id="{56661E5E-05D2-60FC-0543-409246C6FDED}"/>
              </a:ext>
            </a:extLst>
          </p:cNvPr>
          <p:cNvSpPr/>
          <p:nvPr/>
        </p:nvSpPr>
        <p:spPr>
          <a:xfrm>
            <a:off x="6480064" y="1118113"/>
            <a:ext cx="1608026" cy="1176589"/>
          </a:xfrm>
          <a:prstGeom prst="wedgeEllipseCallout">
            <a:avLst>
              <a:gd name="adj1" fmla="val -69717"/>
              <a:gd name="adj2" fmla="val 2841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Answer</a:t>
            </a:r>
            <a:endParaRPr kumimoji="1" lang="zh-CN" altLang="en-US" dirty="0"/>
          </a:p>
        </p:txBody>
      </p:sp>
      <p:sp>
        <p:nvSpPr>
          <p:cNvPr id="43" name="多文档 42">
            <a:extLst>
              <a:ext uri="{FF2B5EF4-FFF2-40B4-BE49-F238E27FC236}">
                <a16:creationId xmlns:a16="http://schemas.microsoft.com/office/drawing/2014/main" id="{6EAC8C8B-29BA-7183-28D7-F7B7F8C655C6}"/>
              </a:ext>
            </a:extLst>
          </p:cNvPr>
          <p:cNvSpPr/>
          <p:nvPr/>
        </p:nvSpPr>
        <p:spPr>
          <a:xfrm>
            <a:off x="4470580" y="2436438"/>
            <a:ext cx="1439165" cy="1190164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/>
              <a:t>Knowledge Base</a:t>
            </a:r>
            <a:endParaRPr kumimoji="1" lang="zh-CN" altLang="en-US" sz="1800" dirty="0"/>
          </a:p>
        </p:txBody>
      </p:sp>
      <p:grpSp>
        <p:nvGrpSpPr>
          <p:cNvPr id="44" name="Group 24">
            <a:extLst>
              <a:ext uri="{FF2B5EF4-FFF2-40B4-BE49-F238E27FC236}">
                <a16:creationId xmlns:a16="http://schemas.microsoft.com/office/drawing/2014/main" id="{52EBAEE0-2D91-0977-2B87-EEB71F15B8BB}"/>
              </a:ext>
            </a:extLst>
          </p:cNvPr>
          <p:cNvGrpSpPr/>
          <p:nvPr/>
        </p:nvGrpSpPr>
        <p:grpSpPr>
          <a:xfrm>
            <a:off x="1174856" y="4021430"/>
            <a:ext cx="1473309" cy="2126738"/>
            <a:chOff x="5841939" y="1196656"/>
            <a:chExt cx="2059530" cy="3000789"/>
          </a:xfrm>
        </p:grpSpPr>
        <p:sp>
          <p:nvSpPr>
            <p:cNvPr id="45" name="Rectangle: Rounded Corners 19">
              <a:extLst>
                <a:ext uri="{FF2B5EF4-FFF2-40B4-BE49-F238E27FC236}">
                  <a16:creationId xmlns:a16="http://schemas.microsoft.com/office/drawing/2014/main" id="{AB7B33A5-8D1F-C424-54BF-C9A504E97D38}"/>
                </a:ext>
              </a:extLst>
            </p:cNvPr>
            <p:cNvSpPr/>
            <p:nvPr/>
          </p:nvSpPr>
          <p:spPr>
            <a:xfrm>
              <a:off x="5841940" y="1196656"/>
              <a:ext cx="2059529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dirty="0"/>
                <a:t>Question</a:t>
              </a:r>
            </a:p>
          </p:txBody>
        </p:sp>
        <p:sp>
          <p:nvSpPr>
            <p:cNvPr id="46" name="Rectangle: Rounded Corners 20">
              <a:extLst>
                <a:ext uri="{FF2B5EF4-FFF2-40B4-BE49-F238E27FC236}">
                  <a16:creationId xmlns:a16="http://schemas.microsoft.com/office/drawing/2014/main" id="{1FAE0183-9D49-DCCF-A80F-AEE1894E4DF2}"/>
                </a:ext>
              </a:extLst>
            </p:cNvPr>
            <p:cNvSpPr/>
            <p:nvPr/>
          </p:nvSpPr>
          <p:spPr>
            <a:xfrm>
              <a:off x="5841939" y="2348688"/>
              <a:ext cx="2059529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200" dirty="0"/>
                <a:t>Retrieve Relevant Passages</a:t>
              </a:r>
            </a:p>
          </p:txBody>
        </p:sp>
        <p:sp>
          <p:nvSpPr>
            <p:cNvPr id="47" name="Rectangle: Rounded Corners 21">
              <a:extLst>
                <a:ext uri="{FF2B5EF4-FFF2-40B4-BE49-F238E27FC236}">
                  <a16:creationId xmlns:a16="http://schemas.microsoft.com/office/drawing/2014/main" id="{807A45D5-8966-8C45-0E58-410DF1CA5FCA}"/>
                </a:ext>
              </a:extLst>
            </p:cNvPr>
            <p:cNvSpPr/>
            <p:nvPr/>
          </p:nvSpPr>
          <p:spPr>
            <a:xfrm>
              <a:off x="5841939" y="3511645"/>
              <a:ext cx="2059529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dirty="0"/>
                <a:t>Generate Answer</a:t>
              </a:r>
            </a:p>
          </p:txBody>
        </p:sp>
        <p:sp>
          <p:nvSpPr>
            <p:cNvPr id="48" name="Arrow: Down 22">
              <a:extLst>
                <a:ext uri="{FF2B5EF4-FFF2-40B4-BE49-F238E27FC236}">
                  <a16:creationId xmlns:a16="http://schemas.microsoft.com/office/drawing/2014/main" id="{9659E96A-6384-12C5-180E-CBF0FD11D79A}"/>
                </a:ext>
              </a:extLst>
            </p:cNvPr>
            <p:cNvSpPr/>
            <p:nvPr/>
          </p:nvSpPr>
          <p:spPr>
            <a:xfrm>
              <a:off x="6742713" y="1882456"/>
              <a:ext cx="257980" cy="46623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1800"/>
            </a:p>
          </p:txBody>
        </p:sp>
        <p:sp>
          <p:nvSpPr>
            <p:cNvPr id="49" name="Arrow: Down 23">
              <a:extLst>
                <a:ext uri="{FF2B5EF4-FFF2-40B4-BE49-F238E27FC236}">
                  <a16:creationId xmlns:a16="http://schemas.microsoft.com/office/drawing/2014/main" id="{0FCCDF3C-42A7-DDDF-0264-AA72C532B53B}"/>
                </a:ext>
              </a:extLst>
            </p:cNvPr>
            <p:cNvSpPr/>
            <p:nvPr/>
          </p:nvSpPr>
          <p:spPr>
            <a:xfrm>
              <a:off x="6742713" y="3039004"/>
              <a:ext cx="257980" cy="46623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1800"/>
            </a:p>
          </p:txBody>
        </p:sp>
      </p:grpSp>
      <p:grpSp>
        <p:nvGrpSpPr>
          <p:cNvPr id="50" name="Group 24">
            <a:extLst>
              <a:ext uri="{FF2B5EF4-FFF2-40B4-BE49-F238E27FC236}">
                <a16:creationId xmlns:a16="http://schemas.microsoft.com/office/drawing/2014/main" id="{E6B68261-EA95-A191-9083-837BB966ACD0}"/>
              </a:ext>
            </a:extLst>
          </p:cNvPr>
          <p:cNvGrpSpPr/>
          <p:nvPr/>
        </p:nvGrpSpPr>
        <p:grpSpPr>
          <a:xfrm>
            <a:off x="5851456" y="4017558"/>
            <a:ext cx="1473309" cy="2126738"/>
            <a:chOff x="5841939" y="1196656"/>
            <a:chExt cx="2059530" cy="3000789"/>
          </a:xfrm>
        </p:grpSpPr>
        <p:sp>
          <p:nvSpPr>
            <p:cNvPr id="51" name="Rectangle: Rounded Corners 19">
              <a:extLst>
                <a:ext uri="{FF2B5EF4-FFF2-40B4-BE49-F238E27FC236}">
                  <a16:creationId xmlns:a16="http://schemas.microsoft.com/office/drawing/2014/main" id="{E7686E5C-1D5C-6E5F-E751-0386159D6222}"/>
                </a:ext>
              </a:extLst>
            </p:cNvPr>
            <p:cNvSpPr/>
            <p:nvPr/>
          </p:nvSpPr>
          <p:spPr>
            <a:xfrm>
              <a:off x="5841940" y="1196656"/>
              <a:ext cx="2059529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400" dirty="0"/>
                <a:t>Question+</a:t>
              </a:r>
            </a:p>
            <a:p>
              <a:pPr algn="ctr"/>
              <a:r>
                <a:rPr lang="en-HK" sz="1400" dirty="0"/>
                <a:t>Knowledge Base</a:t>
              </a:r>
            </a:p>
          </p:txBody>
        </p:sp>
        <p:sp>
          <p:nvSpPr>
            <p:cNvPr id="52" name="Rectangle: Rounded Corners 20">
              <a:extLst>
                <a:ext uri="{FF2B5EF4-FFF2-40B4-BE49-F238E27FC236}">
                  <a16:creationId xmlns:a16="http://schemas.microsoft.com/office/drawing/2014/main" id="{78568D29-A4C5-0FB1-A04E-97261BFD7F9F}"/>
                </a:ext>
              </a:extLst>
            </p:cNvPr>
            <p:cNvSpPr/>
            <p:nvPr/>
          </p:nvSpPr>
          <p:spPr>
            <a:xfrm>
              <a:off x="5841939" y="2348688"/>
              <a:ext cx="2059529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dirty="0"/>
                <a:t>LLM</a:t>
              </a:r>
            </a:p>
          </p:txBody>
        </p:sp>
        <p:sp>
          <p:nvSpPr>
            <p:cNvPr id="53" name="Rectangle: Rounded Corners 21">
              <a:extLst>
                <a:ext uri="{FF2B5EF4-FFF2-40B4-BE49-F238E27FC236}">
                  <a16:creationId xmlns:a16="http://schemas.microsoft.com/office/drawing/2014/main" id="{7359509C-B68B-B5D2-58BD-42C12EDE7BC9}"/>
                </a:ext>
              </a:extLst>
            </p:cNvPr>
            <p:cNvSpPr/>
            <p:nvPr/>
          </p:nvSpPr>
          <p:spPr>
            <a:xfrm>
              <a:off x="5841939" y="3511645"/>
              <a:ext cx="2059529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HK" sz="1600" dirty="0"/>
                <a:t>Answer</a:t>
              </a:r>
            </a:p>
          </p:txBody>
        </p:sp>
        <p:sp>
          <p:nvSpPr>
            <p:cNvPr id="54" name="Arrow: Down 22">
              <a:extLst>
                <a:ext uri="{FF2B5EF4-FFF2-40B4-BE49-F238E27FC236}">
                  <a16:creationId xmlns:a16="http://schemas.microsoft.com/office/drawing/2014/main" id="{EB85FC83-0098-349A-D1A4-600DACB1551B}"/>
                </a:ext>
              </a:extLst>
            </p:cNvPr>
            <p:cNvSpPr/>
            <p:nvPr/>
          </p:nvSpPr>
          <p:spPr>
            <a:xfrm>
              <a:off x="6742713" y="1882456"/>
              <a:ext cx="257980" cy="46623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1800"/>
            </a:p>
          </p:txBody>
        </p:sp>
        <p:sp>
          <p:nvSpPr>
            <p:cNvPr id="55" name="Arrow: Down 23">
              <a:extLst>
                <a:ext uri="{FF2B5EF4-FFF2-40B4-BE49-F238E27FC236}">
                  <a16:creationId xmlns:a16="http://schemas.microsoft.com/office/drawing/2014/main" id="{6EEB2530-E0F8-E2AD-9FD7-60A788C3AC91}"/>
                </a:ext>
              </a:extLst>
            </p:cNvPr>
            <p:cNvSpPr/>
            <p:nvPr/>
          </p:nvSpPr>
          <p:spPr>
            <a:xfrm>
              <a:off x="6742713" y="3039004"/>
              <a:ext cx="257980" cy="46623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sz="1800"/>
            </a:p>
          </p:txBody>
        </p:sp>
      </p:grpSp>
    </p:spTree>
    <p:extLst>
      <p:ext uri="{BB962C8B-B14F-4D97-AF65-F5344CB8AC3E}">
        <p14:creationId xmlns:p14="http://schemas.microsoft.com/office/powerpoint/2010/main" val="157424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Data Requirements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4</a:t>
            </a:fld>
            <a:endParaRPr lang="en-US" altLang="zh-TW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DE1A81C-DBCE-32D6-56BD-1C9CA0328AB8}"/>
              </a:ext>
            </a:extLst>
          </p:cNvPr>
          <p:cNvSpPr/>
          <p:nvPr/>
        </p:nvSpPr>
        <p:spPr>
          <a:xfrm>
            <a:off x="786063" y="1187624"/>
            <a:ext cx="7900737" cy="30474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bg1"/>
                </a:solidFill>
              </a:rPr>
              <a:t>Question</a:t>
            </a:r>
            <a:r>
              <a:rPr kumimoji="1" lang="en-US" altLang="zh-CN" b="1" dirty="0"/>
              <a:t>: </a:t>
            </a:r>
            <a:r>
              <a:rPr kumimoji="1" lang="en-US" altLang="zh-CN" dirty="0"/>
              <a:t>What is </a:t>
            </a:r>
            <a:r>
              <a:rPr kumimoji="1" lang="en-US" altLang="zh-CN" dirty="0" err="1"/>
              <a:t>LangChain</a:t>
            </a:r>
            <a:r>
              <a:rPr kumimoji="1" lang="en-US" altLang="zh-CN" dirty="0"/>
              <a:t> used for?</a:t>
            </a:r>
            <a:endParaRPr kumimoji="1"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bg1"/>
                </a:solidFill>
              </a:rPr>
              <a:t>Answer</a:t>
            </a:r>
            <a:r>
              <a:rPr kumimoji="1" lang="en-US" altLang="zh-CN" b="1" dirty="0"/>
              <a:t>: </a:t>
            </a:r>
            <a:r>
              <a:rPr kumimoji="1" lang="en-US" altLang="zh-CN" dirty="0" err="1"/>
              <a:t>LangChain</a:t>
            </a:r>
            <a:r>
              <a:rPr kumimoji="1" lang="en-US" altLang="zh-CN" dirty="0"/>
              <a:t> helps developers connect large language models with external data sources.</a:t>
            </a:r>
            <a:endParaRPr kumimoji="1"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bg1"/>
                </a:solidFill>
              </a:rPr>
              <a:t>Knowledge Source</a:t>
            </a:r>
            <a:r>
              <a:rPr kumimoji="1" lang="en-US" altLang="zh-CN" b="1" dirty="0"/>
              <a:t>: </a:t>
            </a:r>
            <a:r>
              <a:rPr lang="en-US" altLang="zh-CN" i="1" dirty="0" err="1"/>
              <a:t>LangChain</a:t>
            </a:r>
            <a:r>
              <a:rPr lang="en-US" altLang="zh-CN" i="1" dirty="0"/>
              <a:t> Documentation – “</a:t>
            </a:r>
            <a:r>
              <a:rPr lang="en-US" altLang="zh-CN" i="1" dirty="0" err="1"/>
              <a:t>LangChain</a:t>
            </a:r>
            <a:r>
              <a:rPr lang="en-US" altLang="zh-CN" i="1" dirty="0"/>
              <a:t> enables developers to build applications that integrate large language models with external data sources.”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41956F-C85D-D842-21C6-3E5874EFB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7" y="4464592"/>
            <a:ext cx="2368969" cy="1827048"/>
          </a:xfrm>
          <a:prstGeom prst="rect">
            <a:avLst/>
          </a:prstGeom>
        </p:spPr>
      </p:pic>
      <p:sp>
        <p:nvSpPr>
          <p:cNvPr id="8" name="多文档 7">
            <a:extLst>
              <a:ext uri="{FF2B5EF4-FFF2-40B4-BE49-F238E27FC236}">
                <a16:creationId xmlns:a16="http://schemas.microsoft.com/office/drawing/2014/main" id="{A573C465-9E06-9729-090A-B9D008338D44}"/>
              </a:ext>
            </a:extLst>
          </p:cNvPr>
          <p:cNvSpPr/>
          <p:nvPr/>
        </p:nvSpPr>
        <p:spPr>
          <a:xfrm>
            <a:off x="4016848" y="4700651"/>
            <a:ext cx="1608026" cy="1190164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/>
              <a:t>Documents/</a:t>
            </a:r>
          </a:p>
          <a:p>
            <a:pPr algn="ctr"/>
            <a:r>
              <a:rPr kumimoji="1" lang="en-US" altLang="zh-CN" sz="1800" dirty="0"/>
              <a:t>Database</a:t>
            </a:r>
            <a:endParaRPr kumimoji="1" lang="zh-CN" altLang="en-US" sz="1800" dirty="0"/>
          </a:p>
        </p:txBody>
      </p:sp>
      <p:sp>
        <p:nvSpPr>
          <p:cNvPr id="9" name="椭圆形标注 8">
            <a:extLst>
              <a:ext uri="{FF2B5EF4-FFF2-40B4-BE49-F238E27FC236}">
                <a16:creationId xmlns:a16="http://schemas.microsoft.com/office/drawing/2014/main" id="{2236FD7C-7F1F-0602-D792-FC92447D1964}"/>
              </a:ext>
            </a:extLst>
          </p:cNvPr>
          <p:cNvSpPr/>
          <p:nvPr/>
        </p:nvSpPr>
        <p:spPr>
          <a:xfrm>
            <a:off x="6773727" y="4700651"/>
            <a:ext cx="1608026" cy="1176589"/>
          </a:xfrm>
          <a:prstGeom prst="wedgeEllipseCallout">
            <a:avLst>
              <a:gd name="adj1" fmla="val 77932"/>
              <a:gd name="adj2" fmla="val 5568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Answer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3FEE77-3968-4014-FADC-AB1D16E9F274}"/>
              </a:ext>
            </a:extLst>
          </p:cNvPr>
          <p:cNvSpPr txBox="1"/>
          <p:nvPr/>
        </p:nvSpPr>
        <p:spPr>
          <a:xfrm>
            <a:off x="1298957" y="6327485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Question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5CA93B-7F2F-63C8-38FF-87CC7CB8F08E}"/>
              </a:ext>
            </a:extLst>
          </p:cNvPr>
          <p:cNvSpPr txBox="1"/>
          <p:nvPr/>
        </p:nvSpPr>
        <p:spPr>
          <a:xfrm>
            <a:off x="7048369" y="6291640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Answer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C8E331-C1C0-C947-1868-9E636D2E57CF}"/>
              </a:ext>
            </a:extLst>
          </p:cNvPr>
          <p:cNvSpPr txBox="1"/>
          <p:nvPr/>
        </p:nvSpPr>
        <p:spPr>
          <a:xfrm>
            <a:off x="3553691" y="6278987"/>
            <a:ext cx="2534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Knowledge Source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59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Solve 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5</a:t>
            </a:fld>
            <a:endParaRPr lang="en-US" altLang="zh-TW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239E459-8144-41E7-8654-AC37E26FC622}"/>
              </a:ext>
            </a:extLst>
          </p:cNvPr>
          <p:cNvSpPr/>
          <p:nvPr/>
        </p:nvSpPr>
        <p:spPr>
          <a:xfrm>
            <a:off x="1524510" y="2292361"/>
            <a:ext cx="60461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B917CC-9A37-4E9C-9892-27F7D5E0A376}"/>
              </a:ext>
            </a:extLst>
          </p:cNvPr>
          <p:cNvSpPr txBox="1"/>
          <p:nvPr/>
        </p:nvSpPr>
        <p:spPr>
          <a:xfrm>
            <a:off x="258704" y="3420544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Documents</a:t>
            </a:r>
            <a:endParaRPr lang="en-HK" sz="14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D5953B-9E1C-482E-8495-30292558FD9B}"/>
              </a:ext>
            </a:extLst>
          </p:cNvPr>
          <p:cNvSpPr txBox="1"/>
          <p:nvPr/>
        </p:nvSpPr>
        <p:spPr>
          <a:xfrm>
            <a:off x="2170958" y="3402655"/>
            <a:ext cx="1526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Embedding</a:t>
            </a:r>
            <a:r>
              <a:rPr lang="en-US" sz="1400" dirty="0"/>
              <a:t> Model</a:t>
            </a:r>
            <a:endParaRPr lang="en-HK" sz="1400" dirty="0">
              <a:solidFill>
                <a:srgbClr val="FF0000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A7AF3E6-BDEF-4C1C-8592-B7AC8ACD1C47}"/>
              </a:ext>
            </a:extLst>
          </p:cNvPr>
          <p:cNvSpPr/>
          <p:nvPr/>
        </p:nvSpPr>
        <p:spPr>
          <a:xfrm>
            <a:off x="2455138" y="4603415"/>
            <a:ext cx="2303806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0359701-2F26-42F5-9E8E-5A623670ED66}"/>
              </a:ext>
            </a:extLst>
          </p:cNvPr>
          <p:cNvSpPr/>
          <p:nvPr/>
        </p:nvSpPr>
        <p:spPr>
          <a:xfrm>
            <a:off x="3780536" y="5332013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C8B735-1145-4DE7-AE2B-FBAD26E3AD05}"/>
              </a:ext>
            </a:extLst>
          </p:cNvPr>
          <p:cNvSpPr txBox="1"/>
          <p:nvPr/>
        </p:nvSpPr>
        <p:spPr>
          <a:xfrm>
            <a:off x="487974" y="6073839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Question Bubble</a:t>
            </a:r>
            <a:endParaRPr lang="en-HK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8EBDAD-EB41-4535-98F5-CDD4596D81B1}"/>
              </a:ext>
            </a:extLst>
          </p:cNvPr>
          <p:cNvSpPr txBox="1"/>
          <p:nvPr/>
        </p:nvSpPr>
        <p:spPr>
          <a:xfrm>
            <a:off x="3663721" y="6073839"/>
            <a:ext cx="1409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Knowledge Base</a:t>
            </a:r>
            <a:endParaRPr lang="en-HK" sz="14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DD9F6F-143B-443D-8757-5ABDD9747FDB}"/>
              </a:ext>
            </a:extLst>
          </p:cNvPr>
          <p:cNvSpPr txBox="1"/>
          <p:nvPr/>
        </p:nvSpPr>
        <p:spPr>
          <a:xfrm>
            <a:off x="5294221" y="5802942"/>
            <a:ext cx="562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LLM</a:t>
            </a:r>
            <a:endParaRPr lang="en-HK" sz="14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C1C1BB-19E9-48B4-AA03-2ACA920EDABD}"/>
              </a:ext>
            </a:extLst>
          </p:cNvPr>
          <p:cNvSpPr txBox="1"/>
          <p:nvPr/>
        </p:nvSpPr>
        <p:spPr>
          <a:xfrm>
            <a:off x="457199" y="1170851"/>
            <a:ext cx="1315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Approach I</a:t>
            </a:r>
            <a:endParaRPr lang="en-HK" sz="1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AC58A0-FB83-4AFC-BE92-6FCE6C05E84D}"/>
              </a:ext>
            </a:extLst>
          </p:cNvPr>
          <p:cNvSpPr txBox="1"/>
          <p:nvPr/>
        </p:nvSpPr>
        <p:spPr>
          <a:xfrm>
            <a:off x="457199" y="3840189"/>
            <a:ext cx="140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Approach II</a:t>
            </a:r>
            <a:endParaRPr lang="en-HK" sz="1800" b="1" dirty="0"/>
          </a:p>
        </p:txBody>
      </p:sp>
      <p:sp>
        <p:nvSpPr>
          <p:cNvPr id="3" name="云形标注 2">
            <a:extLst>
              <a:ext uri="{FF2B5EF4-FFF2-40B4-BE49-F238E27FC236}">
                <a16:creationId xmlns:a16="http://schemas.microsoft.com/office/drawing/2014/main" id="{7BF8EBD5-36AF-5035-66AA-F7F9A837C9ED}"/>
              </a:ext>
            </a:extLst>
          </p:cNvPr>
          <p:cNvSpPr/>
          <p:nvPr/>
        </p:nvSpPr>
        <p:spPr>
          <a:xfrm>
            <a:off x="493582" y="4600205"/>
            <a:ext cx="1423303" cy="1207878"/>
          </a:xfrm>
          <a:prstGeom prst="cloud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Question</a:t>
            </a:r>
            <a:endParaRPr kumimoji="1" lang="zh-CN" altLang="en-US" sz="1400" dirty="0"/>
          </a:p>
        </p:txBody>
      </p:sp>
      <p:sp>
        <p:nvSpPr>
          <p:cNvPr id="5" name="多文档 4">
            <a:extLst>
              <a:ext uri="{FF2B5EF4-FFF2-40B4-BE49-F238E27FC236}">
                <a16:creationId xmlns:a16="http://schemas.microsoft.com/office/drawing/2014/main" id="{E70970F3-08CC-BABA-91AF-2AD3B827A347}"/>
              </a:ext>
            </a:extLst>
          </p:cNvPr>
          <p:cNvSpPr/>
          <p:nvPr/>
        </p:nvSpPr>
        <p:spPr>
          <a:xfrm>
            <a:off x="2129128" y="5487215"/>
            <a:ext cx="1439165" cy="1190164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/>
              <a:t>Knowledge Base</a:t>
            </a:r>
            <a:endParaRPr kumimoji="1" lang="zh-CN" altLang="en-US" sz="1800" dirty="0"/>
          </a:p>
        </p:txBody>
      </p:sp>
      <p:pic>
        <p:nvPicPr>
          <p:cNvPr id="6" name="图形 5" descr="插画家 轮廓">
            <a:extLst>
              <a:ext uri="{FF2B5EF4-FFF2-40B4-BE49-F238E27FC236}">
                <a16:creationId xmlns:a16="http://schemas.microsoft.com/office/drawing/2014/main" id="{097104C8-88F9-E56A-6FEC-74FC4B21B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9796" y="4845731"/>
            <a:ext cx="914400" cy="914400"/>
          </a:xfrm>
          <a:prstGeom prst="rect">
            <a:avLst/>
          </a:prstGeom>
        </p:spPr>
      </p:pic>
      <p:sp>
        <p:nvSpPr>
          <p:cNvPr id="7" name="椭圆形标注 6">
            <a:extLst>
              <a:ext uri="{FF2B5EF4-FFF2-40B4-BE49-F238E27FC236}">
                <a16:creationId xmlns:a16="http://schemas.microsoft.com/office/drawing/2014/main" id="{8C08F7DE-2874-52A2-C089-783A4F959741}"/>
              </a:ext>
            </a:extLst>
          </p:cNvPr>
          <p:cNvSpPr/>
          <p:nvPr/>
        </p:nvSpPr>
        <p:spPr>
          <a:xfrm>
            <a:off x="6843097" y="4626353"/>
            <a:ext cx="1608026" cy="1176589"/>
          </a:xfrm>
          <a:prstGeom prst="wedgeEllipseCallout">
            <a:avLst>
              <a:gd name="adj1" fmla="val -86676"/>
              <a:gd name="adj2" fmla="val 523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Answer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41667DE-6BF0-1177-EC8F-B7C7DF52FC6C}"/>
              </a:ext>
            </a:extLst>
          </p:cNvPr>
          <p:cNvGrpSpPr/>
          <p:nvPr/>
        </p:nvGrpSpPr>
        <p:grpSpPr>
          <a:xfrm>
            <a:off x="611649" y="1608753"/>
            <a:ext cx="607569" cy="1714200"/>
            <a:chOff x="3811893" y="1483244"/>
            <a:chExt cx="918863" cy="3131190"/>
          </a:xfrm>
        </p:grpSpPr>
        <p:pic>
          <p:nvPicPr>
            <p:cNvPr id="9" name="图形 8" descr="文档 轮廓">
              <a:extLst>
                <a:ext uri="{FF2B5EF4-FFF2-40B4-BE49-F238E27FC236}">
                  <a16:creationId xmlns:a16="http://schemas.microsoft.com/office/drawing/2014/main" id="{14B7972E-4969-EDDE-FF4F-1F7F78069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6356" y="1483244"/>
              <a:ext cx="914400" cy="914400"/>
            </a:xfrm>
            <a:prstGeom prst="rect">
              <a:avLst/>
            </a:prstGeom>
          </p:spPr>
        </p:pic>
        <p:pic>
          <p:nvPicPr>
            <p:cNvPr id="11" name="图形 10" descr="文档 轮廓">
              <a:extLst>
                <a:ext uri="{FF2B5EF4-FFF2-40B4-BE49-F238E27FC236}">
                  <a16:creationId xmlns:a16="http://schemas.microsoft.com/office/drawing/2014/main" id="{D2080A18-D4A0-4AFA-6339-FBB235A42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6356" y="2351504"/>
              <a:ext cx="914400" cy="914400"/>
            </a:xfrm>
            <a:prstGeom prst="rect">
              <a:avLst/>
            </a:prstGeom>
          </p:spPr>
        </p:pic>
        <p:pic>
          <p:nvPicPr>
            <p:cNvPr id="13" name="图形 12" descr="文档 轮廓">
              <a:extLst>
                <a:ext uri="{FF2B5EF4-FFF2-40B4-BE49-F238E27FC236}">
                  <a16:creationId xmlns:a16="http://schemas.microsoft.com/office/drawing/2014/main" id="{2725D732-3896-B5EB-B263-DC7084856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16356" y="3700034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AAC12F-296C-36E7-813B-816E7BDDF93E}"/>
                </a:ext>
              </a:extLst>
            </p:cNvPr>
            <p:cNvSpPr txBox="1"/>
            <p:nvPr/>
          </p:nvSpPr>
          <p:spPr>
            <a:xfrm rot="16200000">
              <a:off x="3400233" y="3069571"/>
              <a:ext cx="1284983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pic>
        <p:nvPicPr>
          <p:cNvPr id="16" name="图形 15" descr="大脑 轮廓">
            <a:extLst>
              <a:ext uri="{FF2B5EF4-FFF2-40B4-BE49-F238E27FC236}">
                <a16:creationId xmlns:a16="http://schemas.microsoft.com/office/drawing/2014/main" id="{C14C16EB-D1CD-19D2-4DE1-1B8D0D5349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91510" y="2076421"/>
            <a:ext cx="914400" cy="914400"/>
          </a:xfrm>
          <a:prstGeom prst="rect">
            <a:avLst/>
          </a:prstGeom>
        </p:spPr>
      </p:pic>
      <p:pic>
        <p:nvPicPr>
          <p:cNvPr id="18" name="图形 17" descr="数据库 轮廓">
            <a:extLst>
              <a:ext uri="{FF2B5EF4-FFF2-40B4-BE49-F238E27FC236}">
                <a16:creationId xmlns:a16="http://schemas.microsoft.com/office/drawing/2014/main" id="{F2F8C023-CDBD-4906-7944-4A7E17C1C1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89529" y="2102277"/>
            <a:ext cx="914400" cy="914400"/>
          </a:xfrm>
          <a:prstGeom prst="rect">
            <a:avLst/>
          </a:prstGeom>
        </p:spPr>
      </p:pic>
      <p:sp>
        <p:nvSpPr>
          <p:cNvPr id="19" name="Arrow: Right 21">
            <a:extLst>
              <a:ext uri="{FF2B5EF4-FFF2-40B4-BE49-F238E27FC236}">
                <a16:creationId xmlns:a16="http://schemas.microsoft.com/office/drawing/2014/main" id="{D3055A4C-83C8-F9DE-73B7-782295816671}"/>
              </a:ext>
            </a:extLst>
          </p:cNvPr>
          <p:cNvSpPr/>
          <p:nvPr/>
        </p:nvSpPr>
        <p:spPr>
          <a:xfrm>
            <a:off x="3437520" y="2354042"/>
            <a:ext cx="60461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3425B8D1-BE33-1ABB-DFF8-506580D467AE}"/>
              </a:ext>
            </a:extLst>
          </p:cNvPr>
          <p:cNvSpPr txBox="1"/>
          <p:nvPr/>
        </p:nvSpPr>
        <p:spPr>
          <a:xfrm>
            <a:off x="4042138" y="3420426"/>
            <a:ext cx="1359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Vector Database</a:t>
            </a:r>
            <a:endParaRPr lang="en-HK" sz="1400" dirty="0">
              <a:solidFill>
                <a:srgbClr val="FF0000"/>
              </a:solidFill>
            </a:endParaRPr>
          </a:p>
        </p:txBody>
      </p:sp>
      <p:pic>
        <p:nvPicPr>
          <p:cNvPr id="28" name="图形 27" descr="有想法的人 轮廓">
            <a:extLst>
              <a:ext uri="{FF2B5EF4-FFF2-40B4-BE49-F238E27FC236}">
                <a16:creationId xmlns:a16="http://schemas.microsoft.com/office/drawing/2014/main" id="{7BF099A6-6F3C-47BB-DAA1-11EC8D45D3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0526" y="1854108"/>
            <a:ext cx="1359026" cy="1359026"/>
          </a:xfrm>
          <a:prstGeom prst="rect">
            <a:avLst/>
          </a:prstGeom>
        </p:spPr>
      </p:pic>
      <p:sp>
        <p:nvSpPr>
          <p:cNvPr id="37" name="Arrow: Right 21">
            <a:extLst>
              <a:ext uri="{FF2B5EF4-FFF2-40B4-BE49-F238E27FC236}">
                <a16:creationId xmlns:a16="http://schemas.microsoft.com/office/drawing/2014/main" id="{E3E5BD89-A263-17EC-C91B-E1590AD97FA0}"/>
              </a:ext>
            </a:extLst>
          </p:cNvPr>
          <p:cNvSpPr/>
          <p:nvPr/>
        </p:nvSpPr>
        <p:spPr>
          <a:xfrm>
            <a:off x="5234687" y="2361258"/>
            <a:ext cx="60461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7F00DC04-5B4A-7B32-09DA-F43ADF21DA31}"/>
              </a:ext>
            </a:extLst>
          </p:cNvPr>
          <p:cNvSpPr txBox="1"/>
          <p:nvPr/>
        </p:nvSpPr>
        <p:spPr>
          <a:xfrm>
            <a:off x="5854132" y="3379341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Reader</a:t>
            </a:r>
            <a:r>
              <a:rPr lang="zh-CN" altLang="en-US" sz="1400" dirty="0"/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Retrieval</a:t>
            </a:r>
            <a:endParaRPr lang="en-HK" sz="1400" dirty="0">
              <a:solidFill>
                <a:srgbClr val="FF0000"/>
              </a:solidFill>
            </a:endParaRPr>
          </a:p>
        </p:txBody>
      </p:sp>
      <p:sp>
        <p:nvSpPr>
          <p:cNvPr id="42" name="椭圆形标注 41">
            <a:extLst>
              <a:ext uri="{FF2B5EF4-FFF2-40B4-BE49-F238E27FC236}">
                <a16:creationId xmlns:a16="http://schemas.microsoft.com/office/drawing/2014/main" id="{D0D4CEC3-DD35-57E9-0509-34658D663094}"/>
              </a:ext>
            </a:extLst>
          </p:cNvPr>
          <p:cNvSpPr/>
          <p:nvPr/>
        </p:nvSpPr>
        <p:spPr>
          <a:xfrm>
            <a:off x="7648508" y="1730931"/>
            <a:ext cx="1276420" cy="1045058"/>
          </a:xfrm>
          <a:prstGeom prst="wedgeEllipseCallout">
            <a:avLst>
              <a:gd name="adj1" fmla="val -100501"/>
              <a:gd name="adj2" fmla="val 5128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/>
              <a:t>Answer</a:t>
            </a: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9026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19" grpId="0" animBg="1"/>
      <p:bldP spid="20" grpId="0"/>
      <p:bldP spid="37" grpId="0" animBg="1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5CFB0-A3FF-1EE6-EEEB-2347D451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6</a:t>
            </a:fld>
            <a:endParaRPr lang="en-US" altLang="zh-TW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3AAACBF-F29B-707E-43D4-1ED04CF3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HK" dirty="0"/>
              <a:t>Example Q&amp;A Card</a:t>
            </a:r>
            <a:endParaRPr lang="zh-HK" altLang="en-US" dirty="0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C3522DB5-3DDD-CFC9-0E74-72440FC98AE3}"/>
              </a:ext>
            </a:extLst>
          </p:cNvPr>
          <p:cNvSpPr/>
          <p:nvPr/>
        </p:nvSpPr>
        <p:spPr>
          <a:xfrm>
            <a:off x="786063" y="2438400"/>
            <a:ext cx="7900737" cy="251434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bg1"/>
                </a:solidFill>
              </a:rPr>
              <a:t>Question</a:t>
            </a:r>
            <a:r>
              <a:rPr kumimoji="1" lang="en-US" altLang="zh-CN" b="1" dirty="0"/>
              <a:t>: </a:t>
            </a:r>
            <a:r>
              <a:rPr kumimoji="1" lang="en-US" altLang="zh-CN" dirty="0"/>
              <a:t>Who invented the Transformer model?</a:t>
            </a:r>
          </a:p>
          <a:p>
            <a:endParaRPr kumimoji="1"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bg1"/>
                </a:solidFill>
              </a:rPr>
              <a:t>Answer</a:t>
            </a:r>
            <a:r>
              <a:rPr kumimoji="1" lang="en-US" altLang="zh-CN" b="1" dirty="0"/>
              <a:t>: </a:t>
            </a:r>
            <a:r>
              <a:rPr kumimoji="1" lang="en-US" altLang="zh-CN" dirty="0"/>
              <a:t>The Transformer model was proposed by Vaswani et al. in 2017.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3076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06FE562-D0AF-3655-9A2B-64E3F797D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699" y="1955800"/>
            <a:ext cx="4546600" cy="14732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5CFB0-A3FF-1EE6-EEEB-2347D451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DBDD3-9467-46E2-A010-37D10607279B}" type="slidenum">
              <a:rPr lang="zh-TW" altLang="en-US" smtClean="0"/>
              <a:pPr/>
              <a:t>7</a:t>
            </a:fld>
            <a:endParaRPr lang="en-US" altLang="zh-TW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3AAACBF-F29B-707E-43D4-1ED04CF3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HK" dirty="0"/>
              <a:t>Tools and Techniques</a:t>
            </a:r>
            <a:endParaRPr lang="zh-HK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75E4E-CC74-4427-B27D-04A9C70D4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087" y="1187624"/>
            <a:ext cx="3933825" cy="11620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C1C296-14E9-98C2-97E6-263BB557C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237" y="3276427"/>
            <a:ext cx="3022600" cy="1231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F09108-7876-F3F4-0C32-9E8DA12BE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837" y="3219843"/>
            <a:ext cx="3733800" cy="1416269"/>
          </a:xfrm>
          <a:prstGeom prst="rect">
            <a:avLst/>
          </a:prstGeom>
        </p:spPr>
      </p:pic>
      <p:sp>
        <p:nvSpPr>
          <p:cNvPr id="7" name="AutoShape 2" descr="Brand • Streamlit">
            <a:extLst>
              <a:ext uri="{FF2B5EF4-FFF2-40B4-BE49-F238E27FC236}">
                <a16:creationId xmlns:a16="http://schemas.microsoft.com/office/drawing/2014/main" id="{DF71CAF3-6684-5CD0-FFCA-500C13B2B6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" name="图片 14" descr="徽标&#10;&#10;AI 生成的内容可能不正确。">
            <a:extLst>
              <a:ext uri="{FF2B5EF4-FFF2-40B4-BE49-F238E27FC236}">
                <a16:creationId xmlns:a16="http://schemas.microsoft.com/office/drawing/2014/main" id="{1C614AF3-CA33-67BB-40F5-59ACD864CD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516" y="4381893"/>
            <a:ext cx="3320716" cy="19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63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/>
              <a:t>Final Thoughts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F55C2-4754-42F9-9DD4-DB3BEB8795BD}"/>
              </a:ext>
            </a:extLst>
          </p:cNvPr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+mn-lt"/>
              </a:rPr>
              <a:t>Turning data into understanding.</a:t>
            </a:r>
          </a:p>
          <a:p>
            <a:pPr marL="34290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latin typeface="+mn-lt"/>
              </a:rPr>
              <a:t>Bridging human curiosity and machine learning...</a:t>
            </a:r>
          </a:p>
        </p:txBody>
      </p:sp>
      <p:pic>
        <p:nvPicPr>
          <p:cNvPr id="7" name="Picture 6" descr="大脑形状电路图角度视图">
            <a:extLst>
              <a:ext uri="{FF2B5EF4-FFF2-40B4-BE49-F238E27FC236}">
                <a16:creationId xmlns:a16="http://schemas.microsoft.com/office/drawing/2014/main" id="{AFC62E2A-9F2F-B7DA-70A5-DF001640D5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97" r="26652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74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1809</TotalTime>
  <Words>527</Words>
  <Application>Microsoft Macintosh PowerPoint</Application>
  <PresentationFormat>全屏显示(4:3)</PresentationFormat>
  <Paragraphs>77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Aharoni</vt:lpstr>
      <vt:lpstr>Aptos</vt:lpstr>
      <vt:lpstr>Arial</vt:lpstr>
      <vt:lpstr>Calibri</vt:lpstr>
      <vt:lpstr>Times New Roman</vt:lpstr>
      <vt:lpstr>Office Theme</vt:lpstr>
      <vt:lpstr>CS5481 Data Engineering </vt:lpstr>
      <vt:lpstr>Introduction</vt:lpstr>
      <vt:lpstr>Project Objective</vt:lpstr>
      <vt:lpstr>Data Requirements</vt:lpstr>
      <vt:lpstr>Approaches to Solve the Problem</vt:lpstr>
      <vt:lpstr>Example Q&amp;A Card</vt:lpstr>
      <vt:lpstr>Tools and Techniques</vt:lpstr>
      <vt:lpstr>Final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WANG Shiqi</dc:creator>
  <cp:lastModifiedBy>HAN Zhuo</cp:lastModifiedBy>
  <cp:revision>22</cp:revision>
  <cp:lastPrinted>2012-10-03T03:41:37Z</cp:lastPrinted>
  <dcterms:created xsi:type="dcterms:W3CDTF">1998-11-23T02:55:14Z</dcterms:created>
  <dcterms:modified xsi:type="dcterms:W3CDTF">2025-10-21T12:21:20Z</dcterms:modified>
</cp:coreProperties>
</file>