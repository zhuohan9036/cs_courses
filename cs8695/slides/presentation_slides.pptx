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1" r:id="rId1"/>
    <p:sldMasterId id="2147483652" r:id="rId2"/>
    <p:sldMasterId id="2147483653" r:id="rId3"/>
  </p:sldMasterIdLst>
  <p:notesMasterIdLst>
    <p:notesMasterId r:id="rId25"/>
  </p:notesMasterIdLst>
  <p:sldIdLst>
    <p:sldId id="256" r:id="rId4"/>
    <p:sldId id="257" r:id="rId5"/>
    <p:sldId id="258" r:id="rId6"/>
    <p:sldId id="259" r:id="rId7"/>
    <p:sldId id="260" r:id="rId8"/>
    <p:sldId id="275" r:id="rId9"/>
    <p:sldId id="261" r:id="rId10"/>
    <p:sldId id="262" r:id="rId11"/>
    <p:sldId id="263" r:id="rId12"/>
    <p:sldId id="276" r:id="rId13"/>
    <p:sldId id="277" r:id="rId14"/>
    <p:sldId id="278" r:id="rId15"/>
    <p:sldId id="279" r:id="rId16"/>
    <p:sldId id="264" r:id="rId17"/>
    <p:sldId id="265" r:id="rId18"/>
    <p:sldId id="266" r:id="rId19"/>
    <p:sldId id="269" r:id="rId20"/>
    <p:sldId id="270" r:id="rId21"/>
    <p:sldId id="271" r:id="rId22"/>
    <p:sldId id="273" r:id="rId23"/>
    <p:sldId id="280" r:id="rId24"/>
  </p:sldIdLst>
  <p:sldSz cx="12192000" cy="6858000"/>
  <p:notesSz cx="9928225" cy="67976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818A2EC-C18B-43F5-B536-CF52F2081B44}">
  <a:tblStyle styleId="{5818A2EC-C18B-43F5-B536-CF52F2081B4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99"/>
    <p:restoredTop sz="69448"/>
  </p:normalViewPr>
  <p:slideViewPr>
    <p:cSldViewPr snapToGrid="0">
      <p:cViewPr varScale="1">
        <p:scale>
          <a:sx n="66" d="100"/>
          <a:sy n="66" d="100"/>
        </p:scale>
        <p:origin x="224" y="552"/>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55025" y="509825"/>
            <a:ext cx="6619125" cy="2549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92800" y="3228875"/>
            <a:ext cx="7942575" cy="30589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p:cNvGrpSpPr/>
        <p:nvPr/>
      </p:nvGrpSpPr>
      <p:grpSpPr>
        <a:xfrm>
          <a:off x="0" y="0"/>
          <a:ext cx="0" cy="0"/>
          <a:chOff x="0" y="0"/>
          <a:chExt cx="0" cy="0"/>
        </a:xfrm>
      </p:grpSpPr>
      <p:sp>
        <p:nvSpPr>
          <p:cNvPr id="17" name="Google Shape;17;g124bc1a7f00_2_3:notes"/>
          <p:cNvSpPr txBox="1">
            <a:spLocks noGrp="1"/>
          </p:cNvSpPr>
          <p:nvPr>
            <p:ph type="body" idx="1"/>
          </p:nvPr>
        </p:nvSpPr>
        <p:spPr>
          <a:xfrm>
            <a:off x="992800" y="3228875"/>
            <a:ext cx="7942575" cy="305895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400"/>
              </a:spcBef>
              <a:spcAft>
                <a:spcPts val="0"/>
              </a:spcAft>
              <a:buClr>
                <a:schemeClr val="dk1"/>
              </a:buClr>
              <a:buSzPts val="1100"/>
              <a:buFont typeface="Arial"/>
              <a:buNone/>
            </a:pPr>
            <a:r>
              <a:rPr lang="zh-CN" sz="1200" dirty="0">
                <a:solidFill>
                  <a:schemeClr val="dk1"/>
                </a:solidFill>
              </a:rPr>
              <a:t>Hello, everyone</a:t>
            </a:r>
            <a:r>
              <a:rPr lang="en-US" altLang="zh-CN" sz="1200" dirty="0">
                <a:solidFill>
                  <a:schemeClr val="dk1"/>
                </a:solidFill>
              </a:rPr>
              <a:t>.</a:t>
            </a:r>
            <a:r>
              <a:rPr lang="zh-CN" sz="1200" dirty="0">
                <a:solidFill>
                  <a:schemeClr val="dk1"/>
                </a:solidFill>
              </a:rPr>
              <a:t> </a:t>
            </a:r>
            <a:r>
              <a:rPr lang="en-US" altLang="zh-CN" sz="1200" dirty="0">
                <a:solidFill>
                  <a:schemeClr val="dk1"/>
                </a:solidFill>
              </a:rPr>
              <a:t>My name is Zhuo</a:t>
            </a:r>
            <a:r>
              <a:rPr lang="zh-CN" sz="1200" dirty="0">
                <a:solidFill>
                  <a:schemeClr val="dk1"/>
                </a:solidFill>
              </a:rPr>
              <a:t>.</a:t>
            </a:r>
            <a:endParaRPr lang="en-US" altLang="zh-CN" sz="1200" dirty="0">
              <a:solidFill>
                <a:schemeClr val="dk1"/>
              </a:solidFill>
            </a:endParaRPr>
          </a:p>
          <a:p>
            <a:pPr marL="0" lvl="0" indent="0" algn="l" rtl="0">
              <a:lnSpc>
                <a:spcPct val="115000"/>
              </a:lnSpc>
              <a:spcBef>
                <a:spcPts val="400"/>
              </a:spcBef>
              <a:spcAft>
                <a:spcPts val="0"/>
              </a:spcAft>
              <a:buClr>
                <a:schemeClr val="dk1"/>
              </a:buClr>
              <a:buSzPts val="1100"/>
              <a:buFont typeface="Arial"/>
              <a:buNone/>
            </a:pPr>
            <a:r>
              <a:rPr lang="zh-CN" sz="1200" dirty="0">
                <a:solidFill>
                  <a:schemeClr val="dk1"/>
                </a:solidFill>
              </a:rPr>
              <a:t>Today, I will </a:t>
            </a:r>
            <a:r>
              <a:rPr lang="en-US" altLang="zh-CN" sz="1200" dirty="0">
                <a:solidFill>
                  <a:schemeClr val="dk1"/>
                </a:solidFill>
              </a:rPr>
              <a:t>report a work entitled CMDL: A Large-Scale Chinese Multi-Defendant Legal Judgment Prediction Dataset</a:t>
            </a:r>
            <a:r>
              <a:rPr lang="zh-CN" sz="1200" dirty="0">
                <a:solidFill>
                  <a:schemeClr val="dk1"/>
                </a:solidFill>
              </a:rPr>
              <a:t>.  </a:t>
            </a:r>
            <a:endParaRPr lang="en-US" altLang="zh-CN" sz="1200" dirty="0">
              <a:solidFill>
                <a:schemeClr val="dk1"/>
              </a:solidFill>
            </a:endParaRPr>
          </a:p>
          <a:p>
            <a:pPr marL="0" lvl="0" indent="0" algn="l" rtl="0">
              <a:lnSpc>
                <a:spcPct val="115000"/>
              </a:lnSpc>
              <a:spcBef>
                <a:spcPts val="400"/>
              </a:spcBef>
              <a:spcAft>
                <a:spcPts val="0"/>
              </a:spcAft>
              <a:buClr>
                <a:schemeClr val="dk1"/>
              </a:buClr>
              <a:buSzPts val="1100"/>
              <a:buFont typeface="Arial"/>
              <a:buNone/>
            </a:pPr>
            <a:r>
              <a:rPr lang="en-US" sz="1200" dirty="0">
                <a:solidFill>
                  <a:schemeClr val="dk1"/>
                </a:solidFill>
              </a:rPr>
              <a:t>I will first summarize what the paper builds, then discuss why it can be useful, and finally point out some limitations and possible follow-ups.</a:t>
            </a:r>
            <a:endParaRPr sz="1200" dirty="0">
              <a:solidFill>
                <a:schemeClr val="dk1"/>
              </a:solidFill>
            </a:endParaRPr>
          </a:p>
          <a:p>
            <a:pPr marL="0" lvl="0" indent="0" algn="l" rtl="0">
              <a:lnSpc>
                <a:spcPct val="100000"/>
              </a:lnSpc>
              <a:spcBef>
                <a:spcPts val="0"/>
              </a:spcBef>
              <a:spcAft>
                <a:spcPts val="0"/>
              </a:spcAft>
              <a:buSzPts val="1100"/>
              <a:buNone/>
            </a:pPr>
            <a:endParaRPr dirty="0"/>
          </a:p>
        </p:txBody>
      </p:sp>
      <p:sp>
        <p:nvSpPr>
          <p:cNvPr id="18" name="Google Shape;18;g124bc1a7f00_2_3: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g124bc1a7f00_2_16:notes"/>
          <p:cNvSpPr txBox="1">
            <a:spLocks noGrp="1"/>
          </p:cNvSpPr>
          <p:nvPr>
            <p:ph type="body" idx="1"/>
          </p:nvPr>
        </p:nvSpPr>
        <p:spPr>
          <a:xfrm>
            <a:off x="992800" y="3228875"/>
            <a:ext cx="7942575" cy="3058950"/>
          </a:xfrm>
          <a:prstGeom prst="rect">
            <a:avLst/>
          </a:prstGeom>
          <a:noFill/>
          <a:ln>
            <a:noFill/>
          </a:ln>
        </p:spPr>
        <p:txBody>
          <a:bodyPr spcFirstLastPara="1" wrap="square" lIns="91425" tIns="91425" rIns="91425" bIns="91425" anchor="t" anchorCtr="0">
            <a:noAutofit/>
          </a:bodyPr>
          <a:lstStyle/>
          <a:p>
            <a:r>
              <a:rPr lang="en-CA" altLang="zh-CN" dirty="0"/>
              <a:t>Legal judgment prediction, abbreviated as LJP, refers to the task of automatically predicting judicial results given case descriptions.</a:t>
            </a:r>
          </a:p>
          <a:p>
            <a:endParaRPr lang="en-CA" altLang="zh-CN" dirty="0"/>
          </a:p>
          <a:p>
            <a:endParaRPr lang="en-CA" altLang="zh-CN" dirty="0"/>
          </a:p>
          <a:p>
            <a:r>
              <a:rPr lang="en-CA" altLang="zh-CN" dirty="0"/>
              <a:t>Since different regions of the world use different legal jurisdictions, LJP has been investigated in the context of different languages.</a:t>
            </a:r>
          </a:p>
        </p:txBody>
      </p:sp>
      <p:sp>
        <p:nvSpPr>
          <p:cNvPr id="27" name="Google Shape;27;g124bc1a7f00_2_16: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12522fd8224_0_79:notes"/>
          <p:cNvSpPr txBox="1">
            <a:spLocks noGrp="1"/>
          </p:cNvSpPr>
          <p:nvPr>
            <p:ph type="body" idx="1"/>
          </p:nvPr>
        </p:nvSpPr>
        <p:spPr>
          <a:xfrm>
            <a:off x="992800" y="3228875"/>
            <a:ext cx="7942500" cy="3059100"/>
          </a:xfrm>
          <a:prstGeom prst="rect">
            <a:avLst/>
          </a:prstGeom>
          <a:noFill/>
          <a:ln>
            <a:noFill/>
          </a:ln>
        </p:spPr>
        <p:txBody>
          <a:bodyPr spcFirstLastPara="1" wrap="square" lIns="91425" tIns="91425" rIns="91425" bIns="91425" anchor="t" anchorCtr="0">
            <a:noAutofit/>
          </a:bodyPr>
          <a:lstStyle/>
          <a:p>
            <a:r>
              <a:rPr lang="en-CA" altLang="zh-CN" dirty="0"/>
              <a:t>This paper examines LJP in the context of Mandarin Chinese in the context of criminal law system of mainland China, which involves three subtasks: predicting (1) law articles, (2) charges, and (3) terms of penalty.</a:t>
            </a:r>
          </a:p>
        </p:txBody>
      </p:sp>
      <p:sp>
        <p:nvSpPr>
          <p:cNvPr id="33" name="Google Shape;33;g12522fd8224_0_79: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g12522fd8224_0_86:notes"/>
          <p:cNvSpPr txBox="1">
            <a:spLocks noGrp="1"/>
          </p:cNvSpPr>
          <p:nvPr>
            <p:ph type="body" idx="1"/>
          </p:nvPr>
        </p:nvSpPr>
        <p:spPr>
          <a:xfrm>
            <a:off x="992800" y="3228875"/>
            <a:ext cx="7942500" cy="30591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One weakness of existing LJP models is that they are mostly designed for single-defendant scenarios.</a:t>
            </a:r>
          </a:p>
          <a:p>
            <a:endParaRPr lang="en-US" altLang="zh-CN" sz="1100" b="0" i="0" u="none" strike="noStrike" cap="none" dirty="0">
              <a:solidFill>
                <a:srgbClr val="000000"/>
              </a:solidFill>
              <a:effectLst/>
              <a:latin typeface="Arial"/>
              <a:ea typeface="Arial"/>
              <a:cs typeface="Arial"/>
              <a:sym typeface="Arial"/>
            </a:endParaRPr>
          </a:p>
          <a:p>
            <a:r>
              <a:rPr lang="en-US" altLang="zh-CN" sz="1100" b="0" i="0" u="none" strike="noStrike" cap="none" dirty="0">
                <a:solidFill>
                  <a:srgbClr val="000000"/>
                </a:solidFill>
                <a:effectLst/>
                <a:latin typeface="Arial"/>
                <a:ea typeface="Arial"/>
                <a:cs typeface="Arial"/>
                <a:sym typeface="Arial"/>
              </a:rPr>
              <a:t>multi-defendant cases are messy, so earlier datasets often dropped them. But that also means we don’t really know how well our models work in real court scenarios. </a:t>
            </a:r>
          </a:p>
        </p:txBody>
      </p:sp>
      <p:sp>
        <p:nvSpPr>
          <p:cNvPr id="41" name="Google Shape;41;g12522fd8224_0_86: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g124bc1a7f00_2_23:notes"/>
          <p:cNvSpPr txBox="1">
            <a:spLocks noGrp="1"/>
          </p:cNvSpPr>
          <p:nvPr>
            <p:ph type="body" idx="1"/>
          </p:nvPr>
        </p:nvSpPr>
        <p:spPr>
          <a:xfrm>
            <a:off x="992800" y="3228875"/>
            <a:ext cx="7942575" cy="305895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100"/>
              </a:spcBef>
              <a:spcAft>
                <a:spcPts val="1100"/>
              </a:spcAft>
              <a:buSzPts val="1100"/>
              <a:buNone/>
            </a:pPr>
            <a:r>
              <a:rPr lang="en-US" dirty="0"/>
              <a:t>Compared to single-defendant LJP scenario, multi-defendant LJP indeed possesses higher complexity. For each case, the model have to make predictions for every defendant involved in the case. </a:t>
            </a:r>
          </a:p>
          <a:p>
            <a:pPr marL="0" lvl="0" indent="0" algn="l" rtl="0">
              <a:lnSpc>
                <a:spcPct val="115000"/>
              </a:lnSpc>
              <a:spcBef>
                <a:spcPts val="1100"/>
              </a:spcBef>
              <a:spcAft>
                <a:spcPts val="1100"/>
              </a:spcAft>
              <a:buSzPts val="1100"/>
              <a:buNone/>
            </a:pPr>
            <a:endParaRPr lang="en-US" altLang="zh-CN" dirty="0"/>
          </a:p>
          <a:p>
            <a:pPr marL="0" lvl="0" indent="0" algn="l" rtl="0">
              <a:lnSpc>
                <a:spcPct val="115000"/>
              </a:lnSpc>
              <a:spcBef>
                <a:spcPts val="1100"/>
              </a:spcBef>
              <a:spcAft>
                <a:spcPts val="1100"/>
              </a:spcAft>
              <a:buSzPts val="1100"/>
              <a:buNone/>
            </a:pPr>
            <a:r>
              <a:rPr lang="en-US" dirty="0"/>
              <a:t>An example is show in Figure 1, three defendants involved in the case receive different judgments as they face different sentencing factors based on judicial theory.</a:t>
            </a:r>
          </a:p>
          <a:p>
            <a:pPr marL="0" lvl="0" indent="0" algn="l" rtl="0">
              <a:lnSpc>
                <a:spcPct val="115000"/>
              </a:lnSpc>
              <a:spcBef>
                <a:spcPts val="1100"/>
              </a:spcBef>
              <a:spcAft>
                <a:spcPts val="1100"/>
              </a:spcAft>
              <a:buSzPts val="1100"/>
              <a:buNone/>
            </a:pPr>
            <a:endParaRPr lang="en-US" altLang="zh-CN" dirty="0"/>
          </a:p>
          <a:p>
            <a:pPr marL="0" lvl="0" indent="0" algn="l" rtl="0">
              <a:lnSpc>
                <a:spcPct val="115000"/>
              </a:lnSpc>
              <a:spcBef>
                <a:spcPts val="1100"/>
              </a:spcBef>
              <a:spcAft>
                <a:spcPts val="1100"/>
              </a:spcAft>
              <a:buSzPts val="1100"/>
              <a:buNone/>
            </a:pPr>
            <a:r>
              <a:rPr lang="en-US" dirty="0"/>
              <a:t>For instance, Defendant Wang involves in the case as the role of accomplice that does not directly participate in the theft activity. Whereas Defendant Liu and Xu are principal criminals for stealing. </a:t>
            </a:r>
          </a:p>
          <a:p>
            <a:pPr marL="0" lvl="0" indent="0" algn="l" rtl="0">
              <a:lnSpc>
                <a:spcPct val="115000"/>
              </a:lnSpc>
              <a:spcBef>
                <a:spcPts val="1100"/>
              </a:spcBef>
              <a:spcAft>
                <a:spcPts val="1100"/>
              </a:spcAft>
              <a:buSzPts val="1100"/>
              <a:buNone/>
            </a:pPr>
            <a:endParaRPr lang="en-US" altLang="zh-CN" dirty="0"/>
          </a:p>
          <a:p>
            <a:pPr marL="0" lvl="0" indent="0" algn="l" rtl="0">
              <a:lnSpc>
                <a:spcPct val="115000"/>
              </a:lnSpc>
              <a:spcBef>
                <a:spcPts val="1100"/>
              </a:spcBef>
              <a:spcAft>
                <a:spcPts val="1100"/>
              </a:spcAft>
              <a:buSzPts val="1100"/>
              <a:buNone/>
            </a:pPr>
            <a:r>
              <a:rPr lang="en-US" dirty="0"/>
              <a:t>Thus, Defendant Wang gets a lighter punishment compared to the others.</a:t>
            </a:r>
            <a:endParaRPr dirty="0"/>
          </a:p>
        </p:txBody>
      </p:sp>
      <p:sp>
        <p:nvSpPr>
          <p:cNvPr id="48" name="Google Shape;48;g124bc1a7f00_2_23: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g124bc1a7f00_2_23:notes"/>
          <p:cNvSpPr txBox="1">
            <a:spLocks noGrp="1"/>
          </p:cNvSpPr>
          <p:nvPr>
            <p:ph type="body" idx="1"/>
          </p:nvPr>
        </p:nvSpPr>
        <p:spPr>
          <a:xfrm>
            <a:off x="992800" y="3228875"/>
            <a:ext cx="7942575" cy="305895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100"/>
              </a:spcBef>
              <a:spcAft>
                <a:spcPts val="1100"/>
              </a:spcAft>
              <a:buSzPts val="1100"/>
              <a:buNone/>
            </a:pPr>
            <a:r>
              <a:rPr lang="en-US" dirty="0"/>
              <a:t>There are two main challenges for models to distinguish sentencing factors among defendants.</a:t>
            </a:r>
          </a:p>
          <a:p>
            <a:pPr marL="0" lvl="0" indent="0" algn="l" rtl="0">
              <a:lnSpc>
                <a:spcPct val="115000"/>
              </a:lnSpc>
              <a:spcBef>
                <a:spcPts val="1100"/>
              </a:spcBef>
              <a:spcAft>
                <a:spcPts val="1100"/>
              </a:spcAft>
              <a:buSzPts val="1100"/>
              <a:buNone/>
            </a:pPr>
            <a:endParaRPr lang="en-US" altLang="zh-CN" dirty="0"/>
          </a:p>
          <a:p>
            <a:pPr marL="0" marR="0" lvl="0" indent="0" algn="l" defTabSz="914400" rtl="0" eaLnBrk="1" fontAlgn="auto" latinLnBrk="0" hangingPunct="1">
              <a:lnSpc>
                <a:spcPct val="115000"/>
              </a:lnSpc>
              <a:spcBef>
                <a:spcPts val="1100"/>
              </a:spcBef>
              <a:spcAft>
                <a:spcPts val="1100"/>
              </a:spcAft>
              <a:buClr>
                <a:srgbClr val="000000"/>
              </a:buClr>
              <a:buSzPts val="1100"/>
              <a:buFont typeface="Arial"/>
              <a:buNone/>
              <a:tabLst/>
              <a:defRPr/>
            </a:pPr>
            <a:r>
              <a:rPr lang="en-US" dirty="0"/>
              <a:t>First, </a:t>
            </a:r>
            <a:r>
              <a:rPr lang="en-US" altLang="zh-CN" sz="1100" dirty="0">
                <a:latin typeface="Times New Roman" panose="02020603050405020304" pitchFamily="18" charset="0"/>
                <a:cs typeface="Times New Roman" panose="02020603050405020304" pitchFamily="18" charset="0"/>
              </a:rPr>
              <a:t>facts are typically presented in chronological order; details of each defendant are scattered across the fact descriptions and </a:t>
            </a:r>
            <a:r>
              <a:rPr lang="en-US" altLang="zh-CN" sz="1100" b="0" i="0" u="none" strike="noStrike" cap="none" dirty="0">
                <a:solidFill>
                  <a:srgbClr val="000000"/>
                </a:solidFill>
                <a:effectLst/>
                <a:latin typeface="Arial"/>
                <a:ea typeface="Arial"/>
                <a:cs typeface="Arial"/>
                <a:sym typeface="Arial"/>
              </a:rPr>
              <a:t>the model has to find all the pieces about one defendant across the document.</a:t>
            </a:r>
            <a:endParaRPr lang="en-US" altLang="zh-CN" sz="1100" dirty="0">
              <a:latin typeface="Times New Roman" panose="02020603050405020304" pitchFamily="18" charset="0"/>
              <a:cs typeface="Times New Roman" panose="02020603050405020304" pitchFamily="18" charset="0"/>
            </a:endParaRPr>
          </a:p>
          <a:p>
            <a:pPr marL="0" lvl="0" indent="0" algn="l" rtl="0">
              <a:lnSpc>
                <a:spcPct val="115000"/>
              </a:lnSpc>
              <a:spcBef>
                <a:spcPts val="1100"/>
              </a:spcBef>
              <a:spcAft>
                <a:spcPts val="1100"/>
              </a:spcAft>
              <a:buSzPts val="1100"/>
              <a:buNone/>
            </a:pPr>
            <a:endParaRPr lang="en-US" altLang="zh-CN" dirty="0"/>
          </a:p>
          <a:p>
            <a:pPr marL="0" lvl="0" indent="0" algn="l" rtl="0">
              <a:lnSpc>
                <a:spcPct val="115000"/>
              </a:lnSpc>
              <a:spcBef>
                <a:spcPts val="1100"/>
              </a:spcBef>
              <a:spcAft>
                <a:spcPts val="1100"/>
              </a:spcAft>
              <a:buSzPts val="1100"/>
              <a:buNone/>
            </a:pPr>
            <a:r>
              <a:rPr lang="en-US" dirty="0"/>
              <a:t>Second, </a:t>
            </a:r>
            <a:r>
              <a:rPr lang="en-US" altLang="zh-CN" sz="1100" dirty="0">
                <a:latin typeface="Times New Roman" panose="02020603050405020304" pitchFamily="18" charset="0"/>
                <a:cs typeface="Times New Roman" panose="02020603050405020304" pitchFamily="18" charset="0"/>
              </a:rPr>
              <a:t>different defendants are potentially involved</a:t>
            </a:r>
            <a:r>
              <a:rPr lang="zh-CN" altLang="en-US" sz="1100" dirty="0">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in</a:t>
            </a:r>
            <a:r>
              <a:rPr lang="zh-CN" altLang="en-US" sz="1100" dirty="0">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different circumstances; models should be able to apply relevant legal knowledge to each individual accordingly.</a:t>
            </a:r>
            <a:endParaRPr dirty="0"/>
          </a:p>
        </p:txBody>
      </p:sp>
      <p:sp>
        <p:nvSpPr>
          <p:cNvPr id="48" name="Google Shape;48;g124bc1a7f00_2_23: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287188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12522fd8224_0_136:notes"/>
          <p:cNvSpPr txBox="1">
            <a:spLocks noGrp="1"/>
          </p:cNvSpPr>
          <p:nvPr>
            <p:ph type="body" idx="1"/>
          </p:nvPr>
        </p:nvSpPr>
        <p:spPr>
          <a:xfrm>
            <a:off x="992800" y="3228875"/>
            <a:ext cx="7942500" cy="3059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ltLang="zh-CN" dirty="0"/>
              <a:t>This paper aims </a:t>
            </a:r>
            <a:r>
              <a:rPr lang="zh-CN" dirty="0"/>
              <a:t>to </a:t>
            </a:r>
            <a:r>
              <a:rPr lang="en-US" altLang="zh-CN" dirty="0"/>
              <a:t>propose a large-scale Chinese multi-defendant LJP dataset to facilitate LJP research.</a:t>
            </a:r>
          </a:p>
          <a:p>
            <a:pPr marL="0" lvl="0" indent="0" algn="l" rtl="0">
              <a:lnSpc>
                <a:spcPct val="100000"/>
              </a:lnSpc>
              <a:spcBef>
                <a:spcPts val="0"/>
              </a:spcBef>
              <a:spcAft>
                <a:spcPts val="0"/>
              </a:spcAft>
              <a:buSzPts val="1100"/>
              <a:buNone/>
            </a:pPr>
            <a:endParaRPr lang="en-US" altLang="zh-CN" dirty="0"/>
          </a:p>
          <a:p>
            <a:pPr marL="0" lvl="0" indent="0" algn="l" rtl="0">
              <a:lnSpc>
                <a:spcPct val="100000"/>
              </a:lnSpc>
              <a:spcBef>
                <a:spcPts val="0"/>
              </a:spcBef>
              <a:spcAft>
                <a:spcPts val="0"/>
              </a:spcAft>
              <a:buSzPts val="1100"/>
              <a:buNone/>
            </a:pPr>
            <a:r>
              <a:rPr lang="en-US" dirty="0"/>
              <a:t>The dataset provides detailed annotations, </a:t>
            </a:r>
            <a:r>
              <a:rPr lang="en-US" altLang="zh-CN" sz="1100" dirty="0">
                <a:latin typeface="Times"/>
                <a:ea typeface="Times"/>
                <a:cs typeface="Times"/>
                <a:sym typeface="Times"/>
              </a:rPr>
              <a:t>covering more fine-grained labels such as different types of fines, different types of penalties, and paragraph-level law articles, etc. It can be easily expanded and annotated with an automatic annotation process.</a:t>
            </a:r>
          </a:p>
          <a:p>
            <a:pPr marL="0" lvl="0" indent="0" algn="l" rtl="0">
              <a:lnSpc>
                <a:spcPct val="100000"/>
              </a:lnSpc>
              <a:spcBef>
                <a:spcPts val="0"/>
              </a:spcBef>
              <a:spcAft>
                <a:spcPts val="0"/>
              </a:spcAft>
              <a:buSzPts val="1100"/>
              <a:buNone/>
            </a:pPr>
            <a:endParaRPr lang="en-US" altLang="zh-CN" sz="1100" dirty="0">
              <a:latin typeface="Times"/>
              <a:ea typeface="Times"/>
              <a:cs typeface="Times"/>
              <a:sym typeface="Times"/>
            </a:endParaRPr>
          </a:p>
          <a:p>
            <a:pPr marL="0" lvl="0" indent="0" algn="l" rtl="0">
              <a:lnSpc>
                <a:spcPct val="100000"/>
              </a:lnSpc>
              <a:spcBef>
                <a:spcPts val="0"/>
              </a:spcBef>
              <a:spcAft>
                <a:spcPts val="0"/>
              </a:spcAft>
              <a:buSzPts val="1100"/>
              <a:buNone/>
            </a:pPr>
            <a:r>
              <a:rPr lang="en-US" altLang="zh-CN" sz="1100" dirty="0">
                <a:latin typeface="Times"/>
                <a:ea typeface="Times"/>
                <a:cs typeface="Times"/>
                <a:sym typeface="Times"/>
              </a:rPr>
              <a:t>This paper also provides a more comprehensive approach to evaluate model performance on multi-defendant cases. Given the varying number of defendants in multi-defendant cases, it’s important to assess model performance not only at the individual defendant level, but also from a holistic perspective of the whole case.</a:t>
            </a:r>
          </a:p>
        </p:txBody>
      </p:sp>
      <p:sp>
        <p:nvSpPr>
          <p:cNvPr id="55" name="Google Shape;55;g12522fd8224_0_136: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12522fd8224_0_92:notes"/>
          <p:cNvSpPr txBox="1">
            <a:spLocks noGrp="1"/>
          </p:cNvSpPr>
          <p:nvPr>
            <p:ph type="body" idx="1"/>
          </p:nvPr>
        </p:nvSpPr>
        <p:spPr>
          <a:xfrm>
            <a:off x="992800" y="3228875"/>
            <a:ext cx="7942500" cy="3059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solidFill>
                  <a:schemeClr val="dk1"/>
                </a:solidFill>
              </a:rPr>
              <a:t>For the construction of the CMDL dataset, first, raw corpus are collected from China Judgments Online the website.</a:t>
            </a:r>
          </a:p>
          <a:p>
            <a:pPr marL="0" lvl="0" indent="0" algn="l" rtl="0">
              <a:lnSpc>
                <a:spcPct val="100000"/>
              </a:lnSpc>
              <a:spcBef>
                <a:spcPts val="0"/>
              </a:spcBef>
              <a:spcAft>
                <a:spcPts val="0"/>
              </a:spcAft>
              <a:buSzPts val="1100"/>
              <a:buNone/>
            </a:pPr>
            <a:endParaRPr lang="en-US" altLang="zh-CN" dirty="0">
              <a:solidFill>
                <a:schemeClr val="dk1"/>
              </a:solidFill>
            </a:endParaRPr>
          </a:p>
          <a:p>
            <a:pPr marL="0" lvl="0" indent="0" algn="l" rtl="0">
              <a:lnSpc>
                <a:spcPct val="100000"/>
              </a:lnSpc>
              <a:spcBef>
                <a:spcPts val="0"/>
              </a:spcBef>
              <a:spcAft>
                <a:spcPts val="0"/>
              </a:spcAft>
              <a:buSzPts val="1100"/>
              <a:buNone/>
            </a:pPr>
            <a:r>
              <a:rPr lang="en-US" dirty="0">
                <a:solidFill>
                  <a:schemeClr val="dk1"/>
                </a:solidFill>
              </a:rPr>
              <a:t>Given the common structure of most legal documents, as illustrated in Figure 2, they first use regular expressions to divide the documents into four parts: fact description, court view, relevant laws and judgments.</a:t>
            </a:r>
            <a:r>
              <a:rPr lang="zh-CN" dirty="0">
                <a:solidFill>
                  <a:schemeClr val="dk1"/>
                </a:solidFill>
              </a:rPr>
              <a:t>			</a:t>
            </a:r>
            <a:endParaRPr dirty="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zh-CN" dirty="0">
                <a:solidFill>
                  <a:schemeClr val="dk1"/>
                </a:solidFill>
              </a:rPr>
              <a:t>		</a:t>
            </a:r>
            <a:endParaRPr dirty="0">
              <a:solidFill>
                <a:schemeClr val="dk1"/>
              </a:solidFill>
            </a:endParaRPr>
          </a:p>
          <a:p>
            <a:pPr marL="0" lvl="0" indent="0" algn="l" rtl="0">
              <a:lnSpc>
                <a:spcPct val="100000"/>
              </a:lnSpc>
              <a:spcBef>
                <a:spcPts val="0"/>
              </a:spcBef>
              <a:spcAft>
                <a:spcPts val="0"/>
              </a:spcAft>
              <a:buSzPts val="1100"/>
              <a:buNone/>
            </a:pPr>
            <a:endParaRPr dirty="0"/>
          </a:p>
        </p:txBody>
      </p:sp>
      <p:sp>
        <p:nvSpPr>
          <p:cNvPr id="61" name="Google Shape;61;g12522fd8224_0_92: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124bc1a7f00_2_37:notes"/>
          <p:cNvSpPr txBox="1">
            <a:spLocks noGrp="1"/>
          </p:cNvSpPr>
          <p:nvPr>
            <p:ph type="body" idx="1"/>
          </p:nvPr>
        </p:nvSpPr>
        <p:spPr>
          <a:xfrm>
            <a:off x="992800" y="3228875"/>
            <a:ext cx="7942575" cy="305895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100"/>
              </a:spcBef>
              <a:spcAft>
                <a:spcPts val="0"/>
              </a:spcAft>
              <a:buSzPts val="1100"/>
              <a:buNone/>
            </a:pPr>
            <a:r>
              <a:rPr lang="en-US" dirty="0"/>
              <a:t>Since the criminal law of China has undergone multiple revisions, there are some criminal charges that have been deleted or renamed.</a:t>
            </a:r>
          </a:p>
          <a:p>
            <a:pPr marL="0" lvl="0" indent="0" algn="l" rtl="0">
              <a:lnSpc>
                <a:spcPct val="115000"/>
              </a:lnSpc>
              <a:spcBef>
                <a:spcPts val="1100"/>
              </a:spcBef>
              <a:spcAft>
                <a:spcPts val="0"/>
              </a:spcAft>
              <a:buSzPts val="1100"/>
              <a:buNone/>
            </a:pPr>
            <a:endParaRPr lang="en-US" altLang="zh-CN" dirty="0"/>
          </a:p>
          <a:p>
            <a:pPr marL="0" lvl="0" indent="0" algn="l" rtl="0">
              <a:lnSpc>
                <a:spcPct val="115000"/>
              </a:lnSpc>
              <a:spcBef>
                <a:spcPts val="1100"/>
              </a:spcBef>
              <a:spcAft>
                <a:spcPts val="0"/>
              </a:spcAft>
              <a:buSzPts val="1100"/>
              <a:buNone/>
            </a:pPr>
            <a:r>
              <a:rPr lang="en-US" dirty="0"/>
              <a:t>This paper uses the 2023 version of the criminal law as references, which is good for up-to-date studies, cases with deleted charges are filtered out and then establish a mapping set for renamed charges.</a:t>
            </a:r>
          </a:p>
          <a:p>
            <a:pPr marL="0" lvl="0" indent="0" algn="l" rtl="0">
              <a:lnSpc>
                <a:spcPct val="115000"/>
              </a:lnSpc>
              <a:spcBef>
                <a:spcPts val="1100"/>
              </a:spcBef>
              <a:spcAft>
                <a:spcPts val="0"/>
              </a:spcAft>
              <a:buSzPts val="1100"/>
              <a:buNone/>
            </a:pPr>
            <a:endParaRPr lang="en-US" altLang="zh-CN" dirty="0"/>
          </a:p>
          <a:p>
            <a:pPr marL="0" lvl="0" indent="0" algn="l" rtl="0">
              <a:lnSpc>
                <a:spcPct val="115000"/>
              </a:lnSpc>
              <a:spcBef>
                <a:spcPts val="1100"/>
              </a:spcBef>
              <a:spcAft>
                <a:spcPts val="0"/>
              </a:spcAft>
              <a:buSzPts val="1100"/>
              <a:buNone/>
            </a:pPr>
            <a:r>
              <a:rPr lang="en-US" dirty="0"/>
              <a:t>Besides, charges</a:t>
            </a:r>
            <a:r>
              <a:rPr lang="zh-CN" altLang="en-US" dirty="0"/>
              <a:t> </a:t>
            </a:r>
            <a:r>
              <a:rPr lang="en-US" altLang="zh-CN" dirty="0"/>
              <a:t>extracted through regex may not align precisely with the full standard charge names. Those charges are singled out and their mappings are added to the mapping set through manual checks.</a:t>
            </a:r>
            <a:endParaRPr dirty="0"/>
          </a:p>
        </p:txBody>
      </p:sp>
      <p:sp>
        <p:nvSpPr>
          <p:cNvPr id="70" name="Google Shape;70;g124bc1a7f00_2_37: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124bc1a7f00_2_37:notes"/>
          <p:cNvSpPr txBox="1">
            <a:spLocks noGrp="1"/>
          </p:cNvSpPr>
          <p:nvPr>
            <p:ph type="body" idx="1"/>
          </p:nvPr>
        </p:nvSpPr>
        <p:spPr>
          <a:xfrm>
            <a:off x="992800" y="3228875"/>
            <a:ext cx="7942575" cy="305895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100"/>
              </a:spcBef>
              <a:spcAft>
                <a:spcPts val="0"/>
              </a:spcAft>
              <a:buSzPts val="1100"/>
              <a:buNone/>
            </a:pPr>
            <a:r>
              <a:rPr lang="en-US" dirty="0"/>
              <a:t>The relevant laws section extracted previously corresponds to the citations for the entire case, which are difficult to separate and attribute to each defendant. </a:t>
            </a:r>
          </a:p>
          <a:p>
            <a:pPr marL="0" lvl="0" indent="0" algn="l" rtl="0">
              <a:lnSpc>
                <a:spcPct val="115000"/>
              </a:lnSpc>
              <a:spcBef>
                <a:spcPts val="1100"/>
              </a:spcBef>
              <a:spcAft>
                <a:spcPts val="0"/>
              </a:spcAft>
              <a:buSzPts val="1100"/>
              <a:buNone/>
            </a:pPr>
            <a:endParaRPr lang="en-US" altLang="zh-CN" dirty="0"/>
          </a:p>
          <a:p>
            <a:pPr marL="0" lvl="0" indent="0" algn="l" rtl="0">
              <a:lnSpc>
                <a:spcPct val="115000"/>
              </a:lnSpc>
              <a:spcBef>
                <a:spcPts val="1100"/>
              </a:spcBef>
              <a:spcAft>
                <a:spcPts val="0"/>
              </a:spcAft>
              <a:buSzPts val="1100"/>
              <a:buNone/>
            </a:pPr>
            <a:r>
              <a:rPr lang="en-US" dirty="0"/>
              <a:t>Also, the relationship between charges and law articles is not one—to-one. Therefore</a:t>
            </a:r>
            <a:r>
              <a:rPr lang="en-US" altLang="zh-CN" sz="1100" b="0" i="0" u="none" strike="noStrike" cap="none" dirty="0">
                <a:solidFill>
                  <a:srgbClr val="000000"/>
                </a:solidFill>
                <a:latin typeface="Times"/>
                <a:ea typeface="Times"/>
                <a:cs typeface="Times"/>
                <a:sym typeface="Times"/>
              </a:rPr>
              <a:t>, a mapping set from the standard charges to their relative legal provisions are constructed by the definition in the Criminal Law.</a:t>
            </a:r>
            <a:r>
              <a:rPr lang="en-US" altLang="zh-CN" sz="1100" dirty="0">
                <a:latin typeface="Times"/>
                <a:ea typeface="Times"/>
                <a:cs typeface="Times"/>
                <a:sym typeface="Times"/>
              </a:rPr>
              <a:t> </a:t>
            </a:r>
            <a:endParaRPr lang="en-US" dirty="0"/>
          </a:p>
          <a:p>
            <a:pPr marL="0" lvl="0" indent="0" algn="l" rtl="0">
              <a:lnSpc>
                <a:spcPct val="115000"/>
              </a:lnSpc>
              <a:spcBef>
                <a:spcPts val="1100"/>
              </a:spcBef>
              <a:spcAft>
                <a:spcPts val="0"/>
              </a:spcAft>
              <a:buSzPts val="1100"/>
              <a:buNone/>
            </a:pPr>
            <a:endParaRPr lang="en-US" altLang="zh-CN" i="0" dirty="0"/>
          </a:p>
          <a:p>
            <a:pPr marL="0" lvl="0" indent="0" algn="l" rtl="0">
              <a:lnSpc>
                <a:spcPct val="115000"/>
              </a:lnSpc>
              <a:spcBef>
                <a:spcPts val="1100"/>
              </a:spcBef>
              <a:spcAft>
                <a:spcPts val="0"/>
              </a:spcAft>
              <a:buSzPts val="1100"/>
              <a:buNone/>
            </a:pPr>
            <a:r>
              <a:rPr lang="en-US" i="0" dirty="0"/>
              <a:t>Moreover, in legal documents, law articles are often cited down to the specific </a:t>
            </a:r>
            <a:r>
              <a:rPr lang="en-US" i="1" dirty="0"/>
              <a:t>paragraph</a:t>
            </a:r>
            <a:r>
              <a:rPr lang="en-US" i="0" dirty="0"/>
              <a:t>. Therefor this paper provides paragraph-level law article annotations to be more accurate and meet a wider range of real-world needs. </a:t>
            </a:r>
            <a:endParaRPr dirty="0"/>
          </a:p>
        </p:txBody>
      </p:sp>
      <p:sp>
        <p:nvSpPr>
          <p:cNvPr id="70" name="Google Shape;70;g124bc1a7f00_2_37: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92737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124bc1a7f00_2_37:notes"/>
          <p:cNvSpPr txBox="1">
            <a:spLocks noGrp="1"/>
          </p:cNvSpPr>
          <p:nvPr>
            <p:ph type="body" idx="1"/>
          </p:nvPr>
        </p:nvSpPr>
        <p:spPr>
          <a:xfrm>
            <a:off x="992800" y="3228875"/>
            <a:ext cx="7942575" cy="305895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100"/>
              </a:spcBef>
              <a:spcAft>
                <a:spcPts val="0"/>
              </a:spcAft>
              <a:buSzPts val="1100"/>
              <a:buNone/>
            </a:pPr>
            <a:r>
              <a:rPr lang="en-US" dirty="0"/>
              <a:t>As for the term of penalty, in practice, there are five main types of penalties: death penalty, life imprisonment, fixed-term imprisonment, criminal detention, and public surveillance.</a:t>
            </a:r>
          </a:p>
          <a:p>
            <a:pPr marL="0" lvl="0" indent="0" algn="l" rtl="0">
              <a:lnSpc>
                <a:spcPct val="115000"/>
              </a:lnSpc>
              <a:spcBef>
                <a:spcPts val="1100"/>
              </a:spcBef>
              <a:spcAft>
                <a:spcPts val="0"/>
              </a:spcAft>
              <a:buSzPts val="1100"/>
              <a:buNone/>
            </a:pPr>
            <a:endParaRPr lang="en-US" altLang="zh-CN" dirty="0"/>
          </a:p>
          <a:p>
            <a:pPr marL="0" lvl="0" indent="0" algn="l" rtl="0">
              <a:lnSpc>
                <a:spcPct val="115000"/>
              </a:lnSpc>
              <a:spcBef>
                <a:spcPts val="1100"/>
              </a:spcBef>
              <a:spcAft>
                <a:spcPts val="0"/>
              </a:spcAft>
              <a:buSzPts val="1100"/>
              <a:buNone/>
            </a:pPr>
            <a:r>
              <a:rPr lang="en-US" dirty="0"/>
              <a:t>All five types of penalties are considered during the annotation. Such annotations could well cover all possible term of penalty sentences of criminal cases. For example, when both life imprisonment and death penalty are labeled as </a:t>
            </a:r>
            <a:r>
              <a:rPr lang="en-US" i="1" dirty="0"/>
              <a:t>False</a:t>
            </a:r>
            <a:r>
              <a:rPr lang="en-US" i="0" dirty="0"/>
              <a:t>, and the length of the other three penalty types are labeled as </a:t>
            </a:r>
            <a:r>
              <a:rPr lang="en-US" i="1" dirty="0"/>
              <a:t>0</a:t>
            </a:r>
            <a:r>
              <a:rPr lang="en-US" i="0" dirty="0"/>
              <a:t>, it indicates that the defendant is </a:t>
            </a:r>
            <a:r>
              <a:rPr lang="en-US" i="1" dirty="0"/>
              <a:t>exempted from criminal punishment</a:t>
            </a:r>
            <a:r>
              <a:rPr lang="en-US" altLang="zh-CN" i="1" dirty="0"/>
              <a:t>.</a:t>
            </a:r>
            <a:endParaRPr i="0" dirty="0"/>
          </a:p>
        </p:txBody>
      </p:sp>
      <p:sp>
        <p:nvSpPr>
          <p:cNvPr id="70" name="Google Shape;70;g124bc1a7f00_2_37: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364910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124bc1a7f00_2_37:notes"/>
          <p:cNvSpPr txBox="1">
            <a:spLocks noGrp="1"/>
          </p:cNvSpPr>
          <p:nvPr>
            <p:ph type="body" idx="1"/>
          </p:nvPr>
        </p:nvSpPr>
        <p:spPr>
          <a:xfrm>
            <a:off x="992800" y="3228875"/>
            <a:ext cx="7942575" cy="305895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100"/>
              </a:spcBef>
              <a:spcAft>
                <a:spcPts val="0"/>
              </a:spcAft>
              <a:buSzPts val="1100"/>
              <a:buNone/>
            </a:pPr>
            <a:r>
              <a:rPr lang="en-US" dirty="0"/>
              <a:t>Apart from the above three annotations, this paper also extracts the fines imposed on defendants using regular expressions and standardize them as integer values.</a:t>
            </a:r>
          </a:p>
          <a:p>
            <a:pPr marL="0" lvl="0" indent="0" algn="l" rtl="0">
              <a:lnSpc>
                <a:spcPct val="115000"/>
              </a:lnSpc>
              <a:spcBef>
                <a:spcPts val="1100"/>
              </a:spcBef>
              <a:spcAft>
                <a:spcPts val="0"/>
              </a:spcAft>
              <a:buSzPts val="1100"/>
              <a:buNone/>
            </a:pPr>
            <a:endParaRPr lang="en-US" altLang="zh-CN" i="0" dirty="0"/>
          </a:p>
          <a:p>
            <a:pPr marL="0" lvl="0" indent="0" algn="l" rtl="0">
              <a:lnSpc>
                <a:spcPct val="115000"/>
              </a:lnSpc>
              <a:spcBef>
                <a:spcPts val="1100"/>
              </a:spcBef>
              <a:spcAft>
                <a:spcPts val="0"/>
              </a:spcAft>
              <a:buSzPts val="1100"/>
              <a:buNone/>
            </a:pPr>
            <a:r>
              <a:rPr lang="en-US" i="0" dirty="0"/>
              <a:t>For those unable to be directly converted into integer, manual checks are conducted to annotate them.</a:t>
            </a:r>
          </a:p>
          <a:p>
            <a:pPr marL="0" lvl="0" indent="0" algn="l" rtl="0">
              <a:lnSpc>
                <a:spcPct val="115000"/>
              </a:lnSpc>
              <a:spcBef>
                <a:spcPts val="1100"/>
              </a:spcBef>
              <a:spcAft>
                <a:spcPts val="0"/>
              </a:spcAft>
              <a:buSzPts val="1100"/>
              <a:buNone/>
            </a:pPr>
            <a:endParaRPr lang="en-US" altLang="zh-CN" i="0" dirty="0"/>
          </a:p>
          <a:p>
            <a:pPr marL="0" lvl="0" indent="0" algn="l" rtl="0">
              <a:lnSpc>
                <a:spcPct val="115000"/>
              </a:lnSpc>
              <a:spcBef>
                <a:spcPts val="1100"/>
              </a:spcBef>
              <a:spcAft>
                <a:spcPts val="0"/>
              </a:spcAft>
              <a:buSzPts val="1100"/>
              <a:buNone/>
            </a:pPr>
            <a:r>
              <a:rPr lang="en-US" i="0" dirty="0"/>
              <a:t>Instances where fines are mentioned but without specifying exact amounts are also annotated.</a:t>
            </a:r>
            <a:endParaRPr i="0" dirty="0"/>
          </a:p>
        </p:txBody>
      </p:sp>
      <p:sp>
        <p:nvSpPr>
          <p:cNvPr id="70" name="Google Shape;70;g124bc1a7f00_2_37: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750442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124bc1a7f00_2_37:notes"/>
          <p:cNvSpPr txBox="1">
            <a:spLocks noGrp="1"/>
          </p:cNvSpPr>
          <p:nvPr>
            <p:ph type="body" idx="1"/>
          </p:nvPr>
        </p:nvSpPr>
        <p:spPr>
          <a:xfrm>
            <a:off x="992800" y="3228875"/>
            <a:ext cx="7942575" cy="305895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100"/>
              </a:spcBef>
              <a:spcAft>
                <a:spcPts val="0"/>
              </a:spcAft>
              <a:buSzPts val="1100"/>
              <a:buNone/>
            </a:pPr>
            <a:r>
              <a:rPr lang="en-US" dirty="0"/>
              <a:t>Finally, there’s the anonymization process where personal information is masked, such as names and locations, to protect privacy and avoid potential biases.</a:t>
            </a:r>
          </a:p>
          <a:p>
            <a:pPr marL="0" lvl="0" indent="0" algn="l" rtl="0">
              <a:lnSpc>
                <a:spcPct val="115000"/>
              </a:lnSpc>
              <a:spcBef>
                <a:spcPts val="1100"/>
              </a:spcBef>
              <a:spcAft>
                <a:spcPts val="0"/>
              </a:spcAft>
              <a:buSzPts val="1100"/>
              <a:buNone/>
            </a:pPr>
            <a:endParaRPr lang="en-US" altLang="zh-CN" i="0" dirty="0"/>
          </a:p>
          <a:p>
            <a:pPr marL="0" lvl="0" indent="0" algn="l" rtl="0">
              <a:lnSpc>
                <a:spcPct val="115000"/>
              </a:lnSpc>
              <a:spcBef>
                <a:spcPts val="1100"/>
              </a:spcBef>
              <a:spcAft>
                <a:spcPts val="0"/>
              </a:spcAft>
              <a:buSzPts val="1100"/>
              <a:buNone/>
            </a:pPr>
            <a:r>
              <a:rPr lang="en-US" altLang="zh-CN" i="0" dirty="0"/>
              <a:t>Noted that the above steps were all executed through code, saving significant human and time effort while making the dataset more extendable.</a:t>
            </a:r>
          </a:p>
          <a:p>
            <a:pPr marL="0" lvl="0" indent="0" algn="l" rtl="0">
              <a:lnSpc>
                <a:spcPct val="115000"/>
              </a:lnSpc>
              <a:spcBef>
                <a:spcPts val="1100"/>
              </a:spcBef>
              <a:spcAft>
                <a:spcPts val="0"/>
              </a:spcAft>
              <a:buSzPts val="1100"/>
              <a:buNone/>
            </a:pPr>
            <a:endParaRPr lang="en-US" altLang="zh-CN" i="0" dirty="0"/>
          </a:p>
          <a:p>
            <a:pPr marL="0" lvl="0" indent="0" algn="l" rtl="0">
              <a:lnSpc>
                <a:spcPct val="115000"/>
              </a:lnSpc>
              <a:spcBef>
                <a:spcPts val="1100"/>
              </a:spcBef>
              <a:spcAft>
                <a:spcPts val="0"/>
              </a:spcAft>
              <a:buSzPts val="1100"/>
              <a:buNone/>
            </a:pPr>
            <a:r>
              <a:rPr lang="en-US" altLang="zh-CN" i="0" dirty="0"/>
              <a:t>And an example of the resulted dataset is shown in Figure 4.</a:t>
            </a:r>
          </a:p>
        </p:txBody>
      </p:sp>
      <p:sp>
        <p:nvSpPr>
          <p:cNvPr id="70" name="Google Shape;70;g124bc1a7f00_2_37: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40403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124bc1a7f00_2_43:notes"/>
          <p:cNvSpPr txBox="1">
            <a:spLocks noGrp="1"/>
          </p:cNvSpPr>
          <p:nvPr>
            <p:ph type="body" idx="1"/>
          </p:nvPr>
        </p:nvSpPr>
        <p:spPr>
          <a:xfrm>
            <a:off x="992800" y="3228875"/>
            <a:ext cx="7942575"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After the data preprocessing, this paper presented a case categorization based on the judgment results.</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The hierarchical categorization and the percentage of cases in each category in demonstrated in Figure 4.</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Most cases are: same charge, different penalties, and only a small portion has multiple different charges, and these are the hardest cases.</a:t>
            </a:r>
          </a:p>
          <a:p>
            <a:pPr marL="0" lvl="0" indent="0" algn="l" rtl="0">
              <a:lnSpc>
                <a:spcPct val="100000"/>
              </a:lnSpc>
              <a:spcBef>
                <a:spcPts val="0"/>
              </a:spcBef>
              <a:spcAft>
                <a:spcPts val="0"/>
              </a:spcAft>
              <a:buSzPts val="1100"/>
              <a:buNone/>
            </a:pPr>
            <a:endParaRPr lang="en-US" altLang="zh-CN" dirty="0"/>
          </a:p>
        </p:txBody>
      </p:sp>
      <p:sp>
        <p:nvSpPr>
          <p:cNvPr id="77" name="Google Shape;77;g124bc1a7f00_2_43: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2522fd8224_0_106:notes"/>
          <p:cNvSpPr txBox="1">
            <a:spLocks noGrp="1"/>
          </p:cNvSpPr>
          <p:nvPr>
            <p:ph type="body" idx="1"/>
          </p:nvPr>
        </p:nvSpPr>
        <p:spPr>
          <a:xfrm>
            <a:off x="992800" y="3228875"/>
            <a:ext cx="7942500" cy="30591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15000"/>
              </a:lnSpc>
              <a:spcBef>
                <a:spcPts val="1100"/>
              </a:spcBef>
              <a:spcAft>
                <a:spcPts val="0"/>
              </a:spcAft>
              <a:buClr>
                <a:srgbClr val="000000"/>
              </a:buClr>
              <a:buSzPts val="1100"/>
              <a:buFont typeface="Arial"/>
              <a:buNone/>
              <a:tabLst/>
              <a:defRPr/>
            </a:pPr>
            <a:r>
              <a:rPr lang="en-US" altLang="zh-CN" sz="1100" dirty="0">
                <a:latin typeface="Times"/>
                <a:ea typeface="Times"/>
                <a:cs typeface="Times"/>
                <a:sym typeface="Times"/>
              </a:rPr>
              <a:t>The CMDL dataset consists of 393,945 criminal cases involving nearly 1.2 million defendants in total.</a:t>
            </a:r>
            <a:endParaRPr lang="en-US" altLang="zh-CN" dirty="0">
              <a:solidFill>
                <a:schemeClr val="dk1"/>
              </a:solidFill>
            </a:endParaRPr>
          </a:p>
          <a:p>
            <a:pPr marL="0" lvl="0" indent="0" algn="l" rtl="0">
              <a:lnSpc>
                <a:spcPct val="115000"/>
              </a:lnSpc>
              <a:spcBef>
                <a:spcPts val="1100"/>
              </a:spcBef>
              <a:spcAft>
                <a:spcPts val="0"/>
              </a:spcAft>
              <a:buSzPts val="1100"/>
              <a:buNone/>
            </a:pPr>
            <a:endParaRPr lang="en-US" altLang="zh-CN" dirty="0">
              <a:solidFill>
                <a:schemeClr val="dk1"/>
              </a:solidFill>
            </a:endParaRPr>
          </a:p>
          <a:p>
            <a:pPr marL="0" lvl="0" indent="0" algn="l" rtl="0">
              <a:lnSpc>
                <a:spcPct val="115000"/>
              </a:lnSpc>
              <a:spcBef>
                <a:spcPts val="1100"/>
              </a:spcBef>
              <a:spcAft>
                <a:spcPts val="0"/>
              </a:spcAft>
              <a:buSzPts val="1100"/>
              <a:buNone/>
            </a:pPr>
            <a:r>
              <a:rPr lang="en-US" altLang="zh-CN" dirty="0">
                <a:solidFill>
                  <a:schemeClr val="dk1"/>
                </a:solidFill>
              </a:rPr>
              <a:t>The statistics of our dataset are listed in Table 1. </a:t>
            </a:r>
          </a:p>
          <a:p>
            <a:pPr marL="0" lvl="0" indent="0" algn="l" rtl="0">
              <a:lnSpc>
                <a:spcPct val="115000"/>
              </a:lnSpc>
              <a:spcBef>
                <a:spcPts val="1100"/>
              </a:spcBef>
              <a:spcAft>
                <a:spcPts val="0"/>
              </a:spcAft>
              <a:buSzPts val="1100"/>
              <a:buNone/>
            </a:pPr>
            <a:endParaRPr lang="en-US" altLang="zh-CN" dirty="0">
              <a:solidFill>
                <a:schemeClr val="dk1"/>
              </a:solidFill>
            </a:endParaRPr>
          </a:p>
          <a:p>
            <a:pPr marL="0" lvl="0" indent="0" algn="l" rtl="0">
              <a:lnSpc>
                <a:spcPct val="115000"/>
              </a:lnSpc>
              <a:spcBef>
                <a:spcPts val="1100"/>
              </a:spcBef>
              <a:spcAft>
                <a:spcPts val="0"/>
              </a:spcAft>
              <a:buSzPts val="1100"/>
              <a:buNone/>
            </a:pPr>
            <a:r>
              <a:rPr lang="en-US" altLang="zh-CN" dirty="0">
                <a:solidFill>
                  <a:schemeClr val="dk1"/>
                </a:solidFill>
              </a:rPr>
              <a:t>It is worth noting that there is a significant imbalance in the distribution of different categories within the dataset. </a:t>
            </a:r>
          </a:p>
          <a:p>
            <a:pPr marL="0" lvl="0" indent="0" algn="l" rtl="0">
              <a:lnSpc>
                <a:spcPct val="115000"/>
              </a:lnSpc>
              <a:spcBef>
                <a:spcPts val="1100"/>
              </a:spcBef>
              <a:spcAft>
                <a:spcPts val="0"/>
              </a:spcAft>
              <a:buSzPts val="1100"/>
              <a:buNone/>
            </a:pPr>
            <a:endParaRPr lang="en-US" altLang="zh-CN" dirty="0">
              <a:solidFill>
                <a:schemeClr val="dk1"/>
              </a:solidFill>
            </a:endParaRPr>
          </a:p>
          <a:p>
            <a:pPr marL="0" lvl="0" indent="0" algn="l" rtl="0">
              <a:lnSpc>
                <a:spcPct val="115000"/>
              </a:lnSpc>
              <a:spcBef>
                <a:spcPts val="1100"/>
              </a:spcBef>
              <a:spcAft>
                <a:spcPts val="0"/>
              </a:spcAft>
              <a:buSzPts val="1100"/>
              <a:buNone/>
            </a:pPr>
            <a:r>
              <a:rPr lang="en-US" altLang="zh-CN" dirty="0">
                <a:solidFill>
                  <a:schemeClr val="dk1"/>
                </a:solidFill>
              </a:rPr>
              <a:t>The low-frequency charge and law article categories are preserved to expose and demonstrate the challenges of long-tail issues.</a:t>
            </a:r>
          </a:p>
          <a:p>
            <a:pPr marL="0" lvl="0" indent="0" algn="l" rtl="0">
              <a:lnSpc>
                <a:spcPct val="115000"/>
              </a:lnSpc>
              <a:spcBef>
                <a:spcPts val="1100"/>
              </a:spcBef>
              <a:spcAft>
                <a:spcPts val="0"/>
              </a:spcAft>
              <a:buSzPts val="1100"/>
              <a:buNone/>
            </a:pPr>
            <a:endParaRPr lang="en-US" altLang="zh-CN" dirty="0">
              <a:solidFill>
                <a:schemeClr val="dk1"/>
              </a:solidFill>
            </a:endParaRPr>
          </a:p>
          <a:p>
            <a:pPr marL="0" lvl="0" indent="0" algn="l" rtl="0">
              <a:lnSpc>
                <a:spcPct val="115000"/>
              </a:lnSpc>
              <a:spcBef>
                <a:spcPts val="1100"/>
              </a:spcBef>
              <a:spcAft>
                <a:spcPts val="0"/>
              </a:spcAft>
              <a:buSzPts val="1100"/>
              <a:buNone/>
            </a:pPr>
            <a:r>
              <a:rPr lang="en-US" altLang="zh-CN" dirty="0">
                <a:solidFill>
                  <a:schemeClr val="dk1"/>
                </a:solidFill>
              </a:rPr>
              <a:t>Also they break the who dataset in two parts, the big and the small, for more adaptable use of the dataset.</a:t>
            </a:r>
          </a:p>
        </p:txBody>
      </p:sp>
      <p:sp>
        <p:nvSpPr>
          <p:cNvPr id="84" name="Google Shape;84;g12522fd8224_0_106: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2522fd8224_0_100:notes"/>
          <p:cNvSpPr txBox="1">
            <a:spLocks noGrp="1"/>
          </p:cNvSpPr>
          <p:nvPr>
            <p:ph type="body" idx="1"/>
          </p:nvPr>
        </p:nvSpPr>
        <p:spPr>
          <a:xfrm>
            <a:off x="992800" y="3228875"/>
            <a:ext cx="7942500" cy="30591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15000"/>
              </a:lnSpc>
              <a:spcBef>
                <a:spcPts val="1100"/>
              </a:spcBef>
              <a:spcAft>
                <a:spcPts val="0"/>
              </a:spcAft>
              <a:buClr>
                <a:srgbClr val="000000"/>
              </a:buClr>
              <a:buSzPts val="1100"/>
              <a:buFont typeface="Arial"/>
              <a:buNone/>
              <a:tabLst/>
              <a:defRPr/>
            </a:pPr>
            <a:r>
              <a:rPr lang="en-US" altLang="zh-CN" sz="1100" dirty="0">
                <a:latin typeface="Times"/>
                <a:ea typeface="Times"/>
                <a:cs typeface="Times"/>
                <a:sym typeface="Times"/>
              </a:rPr>
              <a:t>This paper propose to evaluate LJP models’ ability for multi-defendant cases with two set of metrics: defendant-level metrics and case-level metrics.</a:t>
            </a:r>
          </a:p>
          <a:p>
            <a:pPr marL="0" marR="0" lvl="0" indent="0" algn="l" defTabSz="914400" rtl="0" eaLnBrk="1" fontAlgn="auto" latinLnBrk="0" hangingPunct="1">
              <a:lnSpc>
                <a:spcPct val="115000"/>
              </a:lnSpc>
              <a:spcBef>
                <a:spcPts val="1100"/>
              </a:spcBef>
              <a:spcAft>
                <a:spcPts val="0"/>
              </a:spcAft>
              <a:buClr>
                <a:srgbClr val="000000"/>
              </a:buClr>
              <a:buSzPts val="1100"/>
              <a:buFont typeface="Arial"/>
              <a:buNone/>
              <a:tabLst/>
              <a:defRPr/>
            </a:pPr>
            <a:endParaRPr lang="en-US" altLang="zh-CN" sz="1100" dirty="0">
              <a:latin typeface="Times"/>
              <a:ea typeface="Times"/>
              <a:cs typeface="Times"/>
              <a:sym typeface="Times"/>
            </a:endParaRPr>
          </a:p>
          <a:p>
            <a:pPr marL="0" marR="0" lvl="0" indent="0" algn="l" defTabSz="914400" rtl="0" eaLnBrk="1" fontAlgn="auto" latinLnBrk="0" hangingPunct="1">
              <a:lnSpc>
                <a:spcPct val="115000"/>
              </a:lnSpc>
              <a:spcBef>
                <a:spcPts val="1100"/>
              </a:spcBef>
              <a:spcAft>
                <a:spcPts val="0"/>
              </a:spcAft>
              <a:buClr>
                <a:srgbClr val="000000"/>
              </a:buClr>
              <a:buSzPts val="1100"/>
              <a:buFont typeface="Arial"/>
              <a:buNone/>
              <a:tabLst/>
              <a:defRPr/>
            </a:pPr>
            <a:r>
              <a:rPr lang="en-US" altLang="zh-CN" sz="1100" dirty="0">
                <a:latin typeface="Times"/>
                <a:ea typeface="Times"/>
                <a:cs typeface="Times"/>
                <a:sym typeface="Times"/>
              </a:rPr>
              <a:t>Then the selected SOTA baselines to conduct the experiments. These are all re-used single-defendant models, no special architecture for cross-defendant reasoning is added.</a:t>
            </a:r>
          </a:p>
        </p:txBody>
      </p:sp>
      <p:sp>
        <p:nvSpPr>
          <p:cNvPr id="90" name="Google Shape;90;g12522fd8224_0_100: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24bc1a7f00_0_19:notes"/>
          <p:cNvSpPr txBox="1">
            <a:spLocks noGrp="1"/>
          </p:cNvSpPr>
          <p:nvPr>
            <p:ph type="body" idx="1"/>
          </p:nvPr>
        </p:nvSpPr>
        <p:spPr>
          <a:xfrm>
            <a:off x="992800" y="3228875"/>
            <a:ext cx="7942500" cy="3059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Table 2 and 3 shows the defendant-level judgment prediction results on CMDL-small, reporting article-level law article results and paragraph-level law article results respectively.</a:t>
            </a:r>
            <a:endParaRPr dirty="0"/>
          </a:p>
        </p:txBody>
      </p:sp>
      <p:sp>
        <p:nvSpPr>
          <p:cNvPr id="111" name="Google Shape;111;g124bc1a7f00_0_19: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124bc1a7f00_0_33:notes"/>
          <p:cNvSpPr txBox="1">
            <a:spLocks noGrp="1"/>
          </p:cNvSpPr>
          <p:nvPr>
            <p:ph type="body" idx="1"/>
          </p:nvPr>
        </p:nvSpPr>
        <p:spPr>
          <a:xfrm>
            <a:off x="992800" y="3228875"/>
            <a:ext cx="7942500" cy="3059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000" dirty="0"/>
              <a:t>In this page, Table 4 shows the case-level results on CMDL-small with the article-level laws reported.</a:t>
            </a:r>
            <a:endParaRPr sz="1000" dirty="0"/>
          </a:p>
          <a:p>
            <a:pPr marL="0" lvl="0" indent="0" algn="l" rtl="0">
              <a:lnSpc>
                <a:spcPct val="100000"/>
              </a:lnSpc>
              <a:spcBef>
                <a:spcPts val="0"/>
              </a:spcBef>
              <a:spcAft>
                <a:spcPts val="0"/>
              </a:spcAft>
              <a:buSzPts val="1100"/>
              <a:buNone/>
            </a:pPr>
            <a:endParaRPr sz="1000" dirty="0"/>
          </a:p>
        </p:txBody>
      </p:sp>
      <p:sp>
        <p:nvSpPr>
          <p:cNvPr id="118" name="Google Shape;118;g124bc1a7f00_0_33: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2522fd8224_0_130:notes"/>
          <p:cNvSpPr txBox="1">
            <a:spLocks noGrp="1"/>
          </p:cNvSpPr>
          <p:nvPr>
            <p:ph type="body" idx="1"/>
          </p:nvPr>
        </p:nvSpPr>
        <p:spPr>
          <a:xfrm>
            <a:off x="992800" y="3228875"/>
            <a:ext cx="7942500" cy="3059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000" dirty="0"/>
              <a:t>We evaluate model performance on different types of cases. The results are shown in Figure 6.</a:t>
            </a:r>
            <a:endParaRPr sz="1000" dirty="0"/>
          </a:p>
        </p:txBody>
      </p:sp>
      <p:sp>
        <p:nvSpPr>
          <p:cNvPr id="126" name="Google Shape;126;g12522fd8224_0_130: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124bc1a7f00_0_55:notes"/>
          <p:cNvSpPr txBox="1">
            <a:spLocks noGrp="1"/>
          </p:cNvSpPr>
          <p:nvPr>
            <p:ph type="body" idx="1"/>
          </p:nvPr>
        </p:nvSpPr>
        <p:spPr>
          <a:xfrm>
            <a:off x="992800" y="3228875"/>
            <a:ext cx="7942500" cy="3059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From the above experiments, the conclusions are:</a:t>
            </a:r>
          </a:p>
          <a:p>
            <a:pPr marL="0" lvl="0" indent="0" algn="l" rtl="0">
              <a:lnSpc>
                <a:spcPct val="100000"/>
              </a:lnSpc>
              <a:spcBef>
                <a:spcPts val="0"/>
              </a:spcBef>
              <a:spcAft>
                <a:spcPts val="0"/>
              </a:spcAft>
              <a:buSzPts val="1100"/>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CN" dirty="0"/>
              <a:t>Pretrained / legal-domain models (e.g., </a:t>
            </a:r>
            <a:r>
              <a:rPr lang="en-US" altLang="zh-CN" dirty="0" err="1"/>
              <a:t>Lawformer</a:t>
            </a:r>
            <a:r>
              <a:rPr lang="en-US" altLang="zh-CN" dirty="0"/>
              <a:t>, Dependant-T5) clearly outperform classical LJP models.</a:t>
            </a:r>
          </a:p>
          <a:p>
            <a:pPr marL="0" lvl="0" indent="0" algn="l" rtl="0">
              <a:lnSpc>
                <a:spcPct val="100000"/>
              </a:lnSpc>
              <a:spcBef>
                <a:spcPts val="0"/>
              </a:spcBef>
              <a:spcAft>
                <a:spcPts val="0"/>
              </a:spcAft>
              <a:buSzPts val="1100"/>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CN" dirty="0"/>
              <a:t>Paragraph-level law prediction is significantly harder than article-level and </a:t>
            </a:r>
            <a:r>
              <a:rPr lang="en-US" altLang="zh-CN" sz="1100" dirty="0">
                <a:latin typeface="Times"/>
                <a:ea typeface="Times"/>
                <a:cs typeface="Times"/>
                <a:sym typeface="Times"/>
              </a:rPr>
              <a:t>Models struggle more with the prediction of finer-grained legal provision labels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latin typeface="Times"/>
              <a:sym typeface="Times"/>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CN" dirty="0"/>
              <a:t>Penalty prediction remains weak across all models.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dirty="0"/>
          </a:p>
        </p:txBody>
      </p:sp>
      <p:sp>
        <p:nvSpPr>
          <p:cNvPr id="142" name="Google Shape;142;g124bc1a7f00_0_55:notes"/>
          <p:cNvSpPr>
            <a:spLocks noGrp="1" noRot="1" noChangeAspect="1"/>
          </p:cNvSpPr>
          <p:nvPr>
            <p:ph type="sldImg" idx="2"/>
          </p:nvPr>
        </p:nvSpPr>
        <p:spPr>
          <a:xfrm>
            <a:off x="2698750" y="509588"/>
            <a:ext cx="4532313"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750" y="509588"/>
            <a:ext cx="4532313" cy="2549525"/>
          </a:xfrm>
        </p:spPr>
      </p:sp>
      <p:sp>
        <p:nvSpPr>
          <p:cNvPr id="3" name="备注占位符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1089207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自定义版式">
  <p:cSld name="自定义版式">
    <p:spTree>
      <p:nvGrpSpPr>
        <p:cNvPr id="1" name="Shape 6"/>
        <p:cNvGrpSpPr/>
        <p:nvPr/>
      </p:nvGrpSpPr>
      <p:grpSpPr>
        <a:xfrm>
          <a:off x="0" y="0"/>
          <a:ext cx="0" cy="0"/>
          <a:chOff x="0" y="0"/>
          <a:chExt cx="0" cy="0"/>
        </a:xfrm>
      </p:grpSpPr>
      <p:sp>
        <p:nvSpPr>
          <p:cNvPr id="7" name="Google Shape;7;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自定义版式">
  <p:cSld name="自定义版式">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自定义版式">
  <p:cSld name="自定义版式">
    <p:spTree>
      <p:nvGrpSpPr>
        <p:cNvPr id="1"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a:gsLst>
            <a:gs pos="0">
              <a:srgbClr val="FAFAFA"/>
            </a:gs>
            <a:gs pos="50000">
              <a:srgbClr val="FBFBFB"/>
            </a:gs>
            <a:gs pos="100000">
              <a:srgbClr val="FCFCFC"/>
            </a:gs>
          </a:gsLst>
          <a:lin ang="5400000" scaled="0"/>
        </a:gradFill>
        <a:effectLst/>
      </p:bgPr>
    </p:bg>
    <p:spTree>
      <p:nvGrpSpPr>
        <p:cNvPr id="1" name="Shape 11"/>
        <p:cNvGrpSpPr/>
        <p:nvPr/>
      </p:nvGrpSpPr>
      <p:grpSpPr>
        <a:xfrm>
          <a:off x="0" y="0"/>
          <a:ext cx="0" cy="0"/>
          <a:chOff x="0" y="0"/>
          <a:chExt cx="0" cy="0"/>
        </a:xfrm>
      </p:grpSpPr>
      <p:pic>
        <p:nvPicPr>
          <p:cNvPr id="12" name="Google Shape;12;p5"/>
          <p:cNvPicPr preferRelativeResize="0"/>
          <p:nvPr/>
        </p:nvPicPr>
        <p:blipFill rotWithShape="1">
          <a:blip r:embed="rId3">
            <a:alphaModFix/>
          </a:blip>
          <a:srcRect/>
          <a:stretch/>
        </p:blipFill>
        <p:spPr>
          <a:xfrm>
            <a:off x="220594" y="103136"/>
            <a:ext cx="596318" cy="725372"/>
          </a:xfrm>
          <a:prstGeom prst="rect">
            <a:avLst/>
          </a:prstGeom>
          <a:noFill/>
          <a:ln>
            <a:noFill/>
          </a:ln>
        </p:spPr>
      </p:pic>
      <p:pic>
        <p:nvPicPr>
          <p:cNvPr id="13" name="Google Shape;13;p5"/>
          <p:cNvPicPr preferRelativeResize="0"/>
          <p:nvPr/>
        </p:nvPicPr>
        <p:blipFill rotWithShape="1">
          <a:blip r:embed="rId4">
            <a:alphaModFix/>
          </a:blip>
          <a:srcRect/>
          <a:stretch/>
        </p:blipFill>
        <p:spPr>
          <a:xfrm>
            <a:off x="816912" y="183004"/>
            <a:ext cx="1308327" cy="555491"/>
          </a:xfrm>
          <a:prstGeom prst="rect">
            <a:avLst/>
          </a:prstGeom>
          <a:noFill/>
          <a:ln>
            <a:noFill/>
          </a:ln>
        </p:spPr>
      </p:pic>
      <p:pic>
        <p:nvPicPr>
          <p:cNvPr id="14" name="Google Shape;14;p5"/>
          <p:cNvPicPr preferRelativeResize="0"/>
          <p:nvPr/>
        </p:nvPicPr>
        <p:blipFill rotWithShape="1">
          <a:blip r:embed="rId5">
            <a:alphaModFix/>
          </a:blip>
          <a:srcRect/>
          <a:stretch/>
        </p:blipFill>
        <p:spPr>
          <a:xfrm>
            <a:off x="2427761" y="741195"/>
            <a:ext cx="5754688" cy="8731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9.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12.jpg"/><Relationship Id="rId4" Type="http://schemas.openxmlformats.org/officeDocument/2006/relationships/image" Target="../media/image11.jpg"/></Relationships>
</file>

<file path=ppt/slides/_rels/slide1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19"/>
        <p:cNvGrpSpPr/>
        <p:nvPr/>
      </p:nvGrpSpPr>
      <p:grpSpPr>
        <a:xfrm>
          <a:off x="0" y="0"/>
          <a:ext cx="0" cy="0"/>
          <a:chOff x="0" y="0"/>
          <a:chExt cx="0" cy="0"/>
        </a:xfrm>
      </p:grpSpPr>
      <p:sp>
        <p:nvSpPr>
          <p:cNvPr id="22" name="Google Shape;22;p7"/>
          <p:cNvSpPr txBox="1"/>
          <p:nvPr/>
        </p:nvSpPr>
        <p:spPr>
          <a:xfrm>
            <a:off x="115824" y="1675833"/>
            <a:ext cx="11960352" cy="141574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fr-FR" altLang="zh-CN" sz="4000" b="1" i="0" u="none" strike="noStrike" cap="none" dirty="0">
                <a:solidFill>
                  <a:schemeClr val="dk1"/>
                </a:solidFill>
                <a:latin typeface="Times"/>
                <a:ea typeface="Times"/>
                <a:cs typeface="Times"/>
                <a:sym typeface="Times"/>
              </a:rPr>
              <a:t>CMDL: A Large-</a:t>
            </a:r>
            <a:r>
              <a:rPr lang="fr-FR" altLang="zh-CN" sz="4000" b="1" i="0" u="none" strike="noStrike" cap="none" dirty="0" err="1">
                <a:solidFill>
                  <a:schemeClr val="dk1"/>
                </a:solidFill>
                <a:latin typeface="Times"/>
                <a:ea typeface="Times"/>
                <a:cs typeface="Times"/>
                <a:sym typeface="Times"/>
              </a:rPr>
              <a:t>Scale</a:t>
            </a:r>
            <a:r>
              <a:rPr lang="fr-FR" altLang="zh-CN" sz="4000" b="1" i="0" u="none" strike="noStrike" cap="none" dirty="0">
                <a:solidFill>
                  <a:schemeClr val="dk1"/>
                </a:solidFill>
                <a:latin typeface="Times"/>
                <a:ea typeface="Times"/>
                <a:cs typeface="Times"/>
                <a:sym typeface="Times"/>
              </a:rPr>
              <a:t> </a:t>
            </a:r>
            <a:r>
              <a:rPr lang="fr-FR" altLang="zh-CN" sz="4000" b="1" i="0" u="none" strike="noStrike" cap="none" dirty="0" err="1">
                <a:solidFill>
                  <a:schemeClr val="dk1"/>
                </a:solidFill>
                <a:latin typeface="Times"/>
                <a:ea typeface="Times"/>
                <a:cs typeface="Times"/>
                <a:sym typeface="Times"/>
              </a:rPr>
              <a:t>Chinese</a:t>
            </a:r>
            <a:r>
              <a:rPr lang="fr-FR" altLang="zh-CN" sz="4000" b="1" i="0" u="none" strike="noStrike" cap="none" dirty="0">
                <a:solidFill>
                  <a:schemeClr val="dk1"/>
                </a:solidFill>
                <a:latin typeface="Times"/>
                <a:ea typeface="Times"/>
                <a:cs typeface="Times"/>
                <a:sym typeface="Times"/>
              </a:rPr>
              <a:t> Multi-</a:t>
            </a:r>
            <a:r>
              <a:rPr lang="fr-FR" altLang="zh-CN" sz="4000" b="1" i="0" u="none" strike="noStrike" cap="none" dirty="0" err="1">
                <a:solidFill>
                  <a:schemeClr val="dk1"/>
                </a:solidFill>
                <a:latin typeface="Times"/>
                <a:ea typeface="Times"/>
                <a:cs typeface="Times"/>
                <a:sym typeface="Times"/>
              </a:rPr>
              <a:t>Defendant</a:t>
            </a:r>
            <a:r>
              <a:rPr lang="fr-FR" altLang="zh-CN" sz="4000" b="1" i="0" u="none" strike="noStrike" cap="none" dirty="0">
                <a:solidFill>
                  <a:schemeClr val="dk1"/>
                </a:solidFill>
                <a:latin typeface="Times"/>
                <a:ea typeface="Times"/>
                <a:cs typeface="Times"/>
                <a:sym typeface="Times"/>
              </a:rPr>
              <a:t> </a:t>
            </a:r>
            <a:r>
              <a:rPr lang="fr-FR" altLang="zh-CN" sz="4000" b="1" i="0" u="none" strike="noStrike" cap="none" dirty="0" err="1">
                <a:solidFill>
                  <a:schemeClr val="dk1"/>
                </a:solidFill>
                <a:latin typeface="Times"/>
                <a:ea typeface="Times"/>
                <a:cs typeface="Times"/>
                <a:sym typeface="Times"/>
              </a:rPr>
              <a:t>Legal</a:t>
            </a:r>
            <a:r>
              <a:rPr lang="fr-FR" altLang="zh-CN" sz="4000" b="1" i="0" u="none" strike="noStrike" cap="none" dirty="0">
                <a:solidFill>
                  <a:schemeClr val="dk1"/>
                </a:solidFill>
                <a:latin typeface="Times"/>
                <a:ea typeface="Times"/>
                <a:cs typeface="Times"/>
                <a:sym typeface="Times"/>
              </a:rPr>
              <a:t> </a:t>
            </a:r>
            <a:r>
              <a:rPr lang="fr-FR" altLang="zh-CN" sz="4000" b="1" i="0" u="none" strike="noStrike" cap="none" dirty="0" err="1">
                <a:solidFill>
                  <a:schemeClr val="dk1"/>
                </a:solidFill>
                <a:latin typeface="Times"/>
                <a:ea typeface="Times"/>
                <a:cs typeface="Times"/>
                <a:sym typeface="Times"/>
              </a:rPr>
              <a:t>Judgment</a:t>
            </a:r>
            <a:r>
              <a:rPr lang="fr-FR" altLang="zh-CN" sz="4000" b="1" i="0" u="none" strike="noStrike" cap="none" dirty="0">
                <a:solidFill>
                  <a:schemeClr val="dk1"/>
                </a:solidFill>
                <a:latin typeface="Times"/>
                <a:ea typeface="Times"/>
                <a:cs typeface="Times"/>
                <a:sym typeface="Times"/>
              </a:rPr>
              <a:t> </a:t>
            </a:r>
            <a:r>
              <a:rPr lang="fr-FR" altLang="zh-CN" sz="4000" b="1" i="0" u="none" strike="noStrike" cap="none" dirty="0" err="1">
                <a:solidFill>
                  <a:schemeClr val="dk1"/>
                </a:solidFill>
                <a:latin typeface="Times"/>
                <a:ea typeface="Times"/>
                <a:cs typeface="Times"/>
                <a:sym typeface="Times"/>
              </a:rPr>
              <a:t>Prediction</a:t>
            </a:r>
            <a:r>
              <a:rPr lang="fr-FR" altLang="zh-CN" sz="4000" b="1" i="0" u="none" strike="noStrike" cap="none" dirty="0">
                <a:solidFill>
                  <a:schemeClr val="dk1"/>
                </a:solidFill>
                <a:latin typeface="Times"/>
                <a:ea typeface="Times"/>
                <a:cs typeface="Times"/>
                <a:sym typeface="Times"/>
              </a:rPr>
              <a:t> </a:t>
            </a:r>
            <a:r>
              <a:rPr lang="fr-FR" altLang="zh-CN" sz="4000" b="1" i="0" u="none" strike="noStrike" cap="none" dirty="0" err="1">
                <a:solidFill>
                  <a:schemeClr val="dk1"/>
                </a:solidFill>
                <a:latin typeface="Times"/>
                <a:ea typeface="Times"/>
                <a:cs typeface="Times"/>
                <a:sym typeface="Times"/>
              </a:rPr>
              <a:t>Dataset</a:t>
            </a:r>
            <a:endParaRPr lang="fr-FR" sz="4000" b="1" i="0" u="none" strike="noStrike" cap="none" dirty="0">
              <a:solidFill>
                <a:srgbClr val="000000"/>
              </a:solidFill>
              <a:latin typeface="Times"/>
              <a:ea typeface="Times"/>
              <a:cs typeface="Times"/>
              <a:sym typeface="Times"/>
            </a:endParaRPr>
          </a:p>
        </p:txBody>
      </p:sp>
      <p:sp>
        <p:nvSpPr>
          <p:cNvPr id="23" name="Google Shape;23;p7"/>
          <p:cNvSpPr txBox="1"/>
          <p:nvPr/>
        </p:nvSpPr>
        <p:spPr>
          <a:xfrm>
            <a:off x="1277655" y="3908698"/>
            <a:ext cx="9636690"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300"/>
              <a:buFont typeface="Arial"/>
              <a:buNone/>
            </a:pPr>
            <a:r>
              <a:rPr lang="en-US" altLang="zh-CN" sz="2000" i="0" u="none" strike="noStrike" cap="none" dirty="0">
                <a:solidFill>
                  <a:schemeClr val="dk1"/>
                </a:solidFill>
                <a:latin typeface="Times"/>
                <a:ea typeface="Times"/>
                <a:cs typeface="Times"/>
                <a:sym typeface="Times"/>
              </a:rPr>
              <a:t>Presenter: Zhuo Han</a:t>
            </a:r>
            <a:endParaRPr sz="2000" i="0" u="none" strike="noStrike" cap="none" dirty="0">
              <a:solidFill>
                <a:schemeClr val="dk1"/>
              </a:solidFill>
              <a:latin typeface="Times"/>
              <a:ea typeface="Times"/>
              <a:cs typeface="Times"/>
              <a:sym typeface="Time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28"/>
        <p:cNvGrpSpPr/>
        <p:nvPr/>
      </p:nvGrpSpPr>
      <p:grpSpPr>
        <a:xfrm>
          <a:off x="0" y="0"/>
          <a:ext cx="0" cy="0"/>
          <a:chOff x="0" y="0"/>
          <a:chExt cx="0" cy="0"/>
        </a:xfrm>
      </p:grpSpPr>
      <p:sp>
        <p:nvSpPr>
          <p:cNvPr id="29" name="Google Shape;29;p8"/>
          <p:cNvSpPr txBox="1"/>
          <p:nvPr/>
        </p:nvSpPr>
        <p:spPr>
          <a:xfrm>
            <a:off x="2423693" y="188731"/>
            <a:ext cx="8544649"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zh-CN" sz="2800" b="1" dirty="0">
                <a:solidFill>
                  <a:schemeClr val="tx1"/>
                </a:solidFill>
                <a:latin typeface="Times"/>
                <a:ea typeface="Times"/>
                <a:cs typeface="Times"/>
                <a:sym typeface="Times"/>
              </a:rPr>
              <a:t>L</a:t>
            </a:r>
            <a:r>
              <a:rPr lang="zh-CN" sz="2800" b="1" i="0" u="none" strike="noStrike" cap="none" dirty="0">
                <a:solidFill>
                  <a:schemeClr val="tx1"/>
                </a:solidFill>
                <a:latin typeface="Times"/>
                <a:ea typeface="Times"/>
                <a:cs typeface="Times"/>
                <a:sym typeface="Times"/>
              </a:rPr>
              <a:t>egal </a:t>
            </a:r>
            <a:r>
              <a:rPr lang="zh-CN" sz="2800" b="1" dirty="0">
                <a:solidFill>
                  <a:schemeClr val="tx1"/>
                </a:solidFill>
                <a:latin typeface="Times"/>
                <a:ea typeface="Times"/>
                <a:cs typeface="Times"/>
                <a:sym typeface="Times"/>
              </a:rPr>
              <a:t>J</a:t>
            </a:r>
            <a:r>
              <a:rPr lang="zh-CN" sz="2800" b="1" i="0" u="none" strike="noStrike" cap="none" dirty="0">
                <a:solidFill>
                  <a:schemeClr val="tx1"/>
                </a:solidFill>
                <a:latin typeface="Times"/>
                <a:ea typeface="Times"/>
                <a:cs typeface="Times"/>
                <a:sym typeface="Times"/>
              </a:rPr>
              <a:t>udgment </a:t>
            </a:r>
            <a:r>
              <a:rPr lang="zh-CN" sz="2800" b="1" dirty="0">
                <a:solidFill>
                  <a:schemeClr val="tx1"/>
                </a:solidFill>
                <a:latin typeface="Times"/>
                <a:ea typeface="Times"/>
                <a:cs typeface="Times"/>
                <a:sym typeface="Times"/>
              </a:rPr>
              <a:t>P</a:t>
            </a:r>
            <a:r>
              <a:rPr lang="zh-CN" sz="2800" b="1" i="0" u="none" strike="noStrike" cap="none" dirty="0">
                <a:solidFill>
                  <a:schemeClr val="tx1"/>
                </a:solidFill>
                <a:latin typeface="Times"/>
                <a:ea typeface="Times"/>
                <a:cs typeface="Times"/>
                <a:sym typeface="Times"/>
              </a:rPr>
              <a:t>rediction </a:t>
            </a:r>
            <a:r>
              <a:rPr lang="zh-CN" sz="2800" b="1" dirty="0">
                <a:solidFill>
                  <a:schemeClr val="tx1"/>
                </a:solidFill>
                <a:latin typeface="Times"/>
                <a:ea typeface="Times"/>
                <a:cs typeface="Times"/>
                <a:sym typeface="Times"/>
              </a:rPr>
              <a:t>(LJP)</a:t>
            </a:r>
            <a:endParaRPr sz="2800" b="1" i="0" u="none" strike="noStrike" cap="none" dirty="0">
              <a:solidFill>
                <a:schemeClr val="tx1"/>
              </a:solidFill>
              <a:latin typeface="Microsoft Yahei"/>
              <a:ea typeface="Microsoft Yahei"/>
              <a:cs typeface="Microsoft Yahei"/>
              <a:sym typeface="Microsoft Yahei"/>
            </a:endParaRPr>
          </a:p>
        </p:txBody>
      </p:sp>
      <p:sp>
        <p:nvSpPr>
          <p:cNvPr id="30" name="Google Shape;30;p8"/>
          <p:cNvSpPr txBox="1"/>
          <p:nvPr/>
        </p:nvSpPr>
        <p:spPr>
          <a:xfrm>
            <a:off x="384599" y="1143025"/>
            <a:ext cx="11334600" cy="1308300"/>
          </a:xfrm>
          <a:prstGeom prst="rect">
            <a:avLst/>
          </a:prstGeom>
          <a:noFill/>
          <a:ln>
            <a:noFill/>
          </a:ln>
        </p:spPr>
        <p:txBody>
          <a:bodyPr spcFirstLastPara="1" wrap="square" lIns="91425" tIns="45700" rIns="91425" bIns="45700" anchor="t" anchorCtr="0">
            <a:spAutoFit/>
          </a:bodyPr>
          <a:lstStyle/>
          <a:p>
            <a:pPr marL="457200" marR="0" lvl="0" indent="-355600" algn="just" rtl="0">
              <a:lnSpc>
                <a:spcPct val="150000"/>
              </a:lnSpc>
              <a:spcBef>
                <a:spcPts val="600"/>
              </a:spcBef>
              <a:spcAft>
                <a:spcPts val="0"/>
              </a:spcAft>
              <a:buClr>
                <a:srgbClr val="000000"/>
              </a:buClr>
              <a:buSzPts val="2000"/>
              <a:buFont typeface="Times"/>
              <a:buChar char="●"/>
            </a:pPr>
            <a:r>
              <a:rPr lang="zh-CN" sz="2000" dirty="0">
                <a:latin typeface="Times"/>
                <a:ea typeface="Times"/>
                <a:cs typeface="Times"/>
                <a:sym typeface="Times"/>
              </a:rPr>
              <a:t>predicts</a:t>
            </a:r>
            <a:r>
              <a:rPr lang="zh-CN" sz="2000" b="0" i="0" u="none" strike="noStrike" cap="none" dirty="0">
                <a:solidFill>
                  <a:srgbClr val="000000"/>
                </a:solidFill>
                <a:latin typeface="Times"/>
                <a:ea typeface="Times"/>
                <a:cs typeface="Times"/>
                <a:sym typeface="Times"/>
              </a:rPr>
              <a:t> the court’s outcome given the facts of a legal case</a:t>
            </a:r>
            <a:endParaRPr sz="2000" b="0" i="0" u="none" strike="noStrike" cap="none" dirty="0">
              <a:solidFill>
                <a:srgbClr val="000000"/>
              </a:solidFill>
              <a:latin typeface="Times"/>
              <a:ea typeface="Times"/>
              <a:cs typeface="Times"/>
              <a:sym typeface="Times"/>
            </a:endParaRPr>
          </a:p>
          <a:p>
            <a:pPr marL="457200" lvl="0" indent="-355600" algn="just" rtl="0">
              <a:lnSpc>
                <a:spcPct val="150000"/>
              </a:lnSpc>
              <a:spcBef>
                <a:spcPts val="0"/>
              </a:spcBef>
              <a:spcAft>
                <a:spcPts val="0"/>
              </a:spcAft>
              <a:buClr>
                <a:schemeClr val="dk1"/>
              </a:buClr>
              <a:buSzPts val="2000"/>
              <a:buFont typeface="Times"/>
              <a:buChar char="●"/>
            </a:pPr>
            <a:r>
              <a:rPr lang="zh-CN" sz="2000" dirty="0">
                <a:solidFill>
                  <a:schemeClr val="dk1"/>
                </a:solidFill>
                <a:latin typeface="Times"/>
                <a:ea typeface="Times"/>
                <a:cs typeface="Times"/>
                <a:sym typeface="Times"/>
              </a:rPr>
              <a:t>has been investigated in the context of different languages</a:t>
            </a:r>
            <a:endParaRPr sz="2000" dirty="0">
              <a:latin typeface="Times"/>
              <a:ea typeface="Times"/>
              <a:cs typeface="Times"/>
              <a:sym typeface="Times"/>
            </a:endParaRPr>
          </a:p>
          <a:p>
            <a:pPr marL="457200" marR="0" lvl="0" indent="0" algn="just" rtl="0">
              <a:lnSpc>
                <a:spcPct val="100000"/>
              </a:lnSpc>
              <a:spcBef>
                <a:spcPts val="600"/>
              </a:spcBef>
              <a:spcAft>
                <a:spcPts val="0"/>
              </a:spcAft>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34"/>
        <p:cNvGrpSpPr/>
        <p:nvPr/>
      </p:nvGrpSpPr>
      <p:grpSpPr>
        <a:xfrm>
          <a:off x="0" y="0"/>
          <a:ext cx="0" cy="0"/>
          <a:chOff x="0" y="0"/>
          <a:chExt cx="0" cy="0"/>
        </a:xfrm>
      </p:grpSpPr>
      <p:sp>
        <p:nvSpPr>
          <p:cNvPr id="35" name="Google Shape;35;p9"/>
          <p:cNvSpPr txBox="1"/>
          <p:nvPr/>
        </p:nvSpPr>
        <p:spPr>
          <a:xfrm>
            <a:off x="2423693" y="188731"/>
            <a:ext cx="8544600" cy="523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2800"/>
              <a:buFont typeface="Arial"/>
              <a:buNone/>
            </a:pPr>
            <a:r>
              <a:rPr lang="zh-CN" sz="2800" b="1" dirty="0">
                <a:solidFill>
                  <a:schemeClr val="tx1"/>
                </a:solidFill>
                <a:latin typeface="Times"/>
                <a:ea typeface="Times"/>
                <a:cs typeface="Times"/>
                <a:sym typeface="Times"/>
              </a:rPr>
              <a:t>Chinese Legal Judgment Prediction</a:t>
            </a:r>
            <a:endParaRPr sz="2800" b="1" i="0" u="none" strike="noStrike" cap="none" dirty="0">
              <a:solidFill>
                <a:schemeClr val="tx1"/>
              </a:solidFill>
              <a:latin typeface="Microsoft Yahei"/>
              <a:ea typeface="Microsoft Yahei"/>
              <a:cs typeface="Microsoft Yahei"/>
              <a:sym typeface="Microsoft Yahei"/>
            </a:endParaRPr>
          </a:p>
        </p:txBody>
      </p:sp>
      <p:sp>
        <p:nvSpPr>
          <p:cNvPr id="36" name="Google Shape;36;p9"/>
          <p:cNvSpPr txBox="1"/>
          <p:nvPr/>
        </p:nvSpPr>
        <p:spPr>
          <a:xfrm>
            <a:off x="384599" y="1143025"/>
            <a:ext cx="11334600" cy="1246455"/>
          </a:xfrm>
          <a:prstGeom prst="rect">
            <a:avLst/>
          </a:prstGeom>
          <a:noFill/>
          <a:ln>
            <a:noFill/>
          </a:ln>
        </p:spPr>
        <p:txBody>
          <a:bodyPr spcFirstLastPara="1" wrap="square" lIns="91425" tIns="45700" rIns="91425" bIns="45700" anchor="t" anchorCtr="0">
            <a:spAutoFit/>
          </a:bodyPr>
          <a:lstStyle/>
          <a:p>
            <a:pPr marL="457200" marR="0" lvl="0" indent="-355600" algn="just" rtl="0">
              <a:lnSpc>
                <a:spcPct val="100000"/>
              </a:lnSpc>
              <a:spcBef>
                <a:spcPts val="600"/>
              </a:spcBef>
              <a:spcAft>
                <a:spcPts val="0"/>
              </a:spcAft>
              <a:buClr>
                <a:srgbClr val="000000"/>
              </a:buClr>
              <a:buSzPts val="2000"/>
              <a:buFont typeface="Times"/>
              <a:buChar char="●"/>
            </a:pPr>
            <a:r>
              <a:rPr lang="zh-CN" sz="2000" dirty="0">
                <a:latin typeface="Times"/>
                <a:ea typeface="Times"/>
                <a:cs typeface="Times"/>
                <a:sym typeface="Times"/>
              </a:rPr>
              <a:t>T</a:t>
            </a:r>
            <a:r>
              <a:rPr lang="zh-CN" sz="2000" b="0" i="0" u="none" strike="noStrike" cap="none" dirty="0">
                <a:solidFill>
                  <a:srgbClr val="000000"/>
                </a:solidFill>
                <a:latin typeface="Times"/>
                <a:ea typeface="Times"/>
                <a:cs typeface="Times"/>
                <a:sym typeface="Times"/>
              </a:rPr>
              <a:t>hree subtasks: (1) </a:t>
            </a:r>
            <a:r>
              <a:rPr lang="zh-CN" sz="2000" b="1" i="0" u="none" strike="noStrike" cap="none" dirty="0">
                <a:solidFill>
                  <a:srgbClr val="000000"/>
                </a:solidFill>
                <a:latin typeface="Times"/>
                <a:ea typeface="Times"/>
                <a:cs typeface="Times"/>
                <a:sym typeface="Times"/>
              </a:rPr>
              <a:t>law article</a:t>
            </a:r>
            <a:r>
              <a:rPr lang="zh-CN" sz="2000" b="1" dirty="0">
                <a:latin typeface="Times"/>
                <a:ea typeface="Times"/>
                <a:cs typeface="Times"/>
                <a:sym typeface="Times"/>
              </a:rPr>
              <a:t> prediction</a:t>
            </a:r>
            <a:r>
              <a:rPr lang="zh-CN" sz="2000" b="0" i="0" u="none" strike="noStrike" cap="none" dirty="0">
                <a:solidFill>
                  <a:srgbClr val="000000"/>
                </a:solidFill>
                <a:latin typeface="Times"/>
                <a:ea typeface="Times"/>
                <a:cs typeface="Times"/>
                <a:sym typeface="Times"/>
              </a:rPr>
              <a:t>, (2) </a:t>
            </a:r>
            <a:r>
              <a:rPr lang="zh-CN" sz="2000" b="1" i="0" u="none" strike="noStrike" cap="none" dirty="0">
                <a:solidFill>
                  <a:srgbClr val="000000"/>
                </a:solidFill>
                <a:latin typeface="Times"/>
                <a:ea typeface="Times"/>
                <a:cs typeface="Times"/>
                <a:sym typeface="Times"/>
              </a:rPr>
              <a:t>charge</a:t>
            </a:r>
            <a:r>
              <a:rPr lang="zh-CN" sz="2000" b="1" dirty="0">
                <a:latin typeface="Times"/>
                <a:ea typeface="Times"/>
                <a:cs typeface="Times"/>
                <a:sym typeface="Times"/>
              </a:rPr>
              <a:t> prediction</a:t>
            </a:r>
            <a:r>
              <a:rPr lang="zh-CN" sz="2000" b="0" i="0" u="none" strike="noStrike" cap="none" dirty="0">
                <a:solidFill>
                  <a:srgbClr val="000000"/>
                </a:solidFill>
                <a:latin typeface="Times"/>
                <a:ea typeface="Times"/>
                <a:cs typeface="Times"/>
                <a:sym typeface="Times"/>
              </a:rPr>
              <a:t> and (3) </a:t>
            </a:r>
            <a:r>
              <a:rPr lang="zh-CN" sz="2000" b="1" i="0" u="none" strike="noStrike" cap="none" dirty="0">
                <a:solidFill>
                  <a:srgbClr val="000000"/>
                </a:solidFill>
                <a:latin typeface="Times"/>
                <a:ea typeface="Times"/>
                <a:cs typeface="Times"/>
                <a:sym typeface="Times"/>
              </a:rPr>
              <a:t>terms of penalty prediction</a:t>
            </a:r>
            <a:endParaRPr lang="en-US" altLang="zh-CN" sz="2000" b="1" i="0" u="none" strike="noStrike" cap="none" dirty="0">
              <a:solidFill>
                <a:srgbClr val="000000"/>
              </a:solidFill>
              <a:latin typeface="Times"/>
              <a:ea typeface="Times"/>
              <a:cs typeface="Times"/>
              <a:sym typeface="Times"/>
            </a:endParaRPr>
          </a:p>
          <a:p>
            <a:pPr marL="457200" lvl="0" indent="-355600" algn="just">
              <a:spcBef>
                <a:spcPts val="600"/>
              </a:spcBef>
              <a:buSzPts val="2000"/>
              <a:buFont typeface="Times"/>
              <a:buChar char="●"/>
            </a:pPr>
            <a:r>
              <a:rPr lang="fr-FR" sz="2000" dirty="0">
                <a:latin typeface="Times New Roman" panose="02020603050405020304" pitchFamily="18" charset="0"/>
                <a:cs typeface="Times New Roman" panose="02020603050405020304" pitchFamily="18" charset="0"/>
              </a:rPr>
              <a:t>Input: a </a:t>
            </a:r>
            <a:r>
              <a:rPr lang="fr-FR" sz="2000" dirty="0" err="1">
                <a:latin typeface="Times New Roman" panose="02020603050405020304" pitchFamily="18" charset="0"/>
                <a:cs typeface="Times New Roman" panose="02020603050405020304" pitchFamily="18" charset="0"/>
              </a:rPr>
              <a:t>fact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statement</a:t>
            </a:r>
            <a:endParaRPr lang="fr-FR" sz="2000" dirty="0">
              <a:latin typeface="Times New Roman" panose="02020603050405020304" pitchFamily="18" charset="0"/>
              <a:cs typeface="Times New Roman" panose="02020603050405020304" pitchFamily="18" charset="0"/>
            </a:endParaRPr>
          </a:p>
          <a:p>
            <a:pPr marL="457200" lvl="0" indent="-355600" algn="just">
              <a:spcBef>
                <a:spcPts val="600"/>
              </a:spcBef>
              <a:buSzPts val="2000"/>
              <a:buFont typeface="Times"/>
              <a:buChar char="●"/>
            </a:pPr>
            <a:r>
              <a:rPr lang="fr-FR" sz="2000" dirty="0">
                <a:latin typeface="Times New Roman" panose="02020603050405020304" pitchFamily="18" charset="0"/>
                <a:cs typeface="Times New Roman" panose="02020603050405020304" pitchFamily="18" charset="0"/>
              </a:rPr>
              <a:t>Outputs: </a:t>
            </a:r>
            <a:r>
              <a:rPr lang="fr-FR" sz="2000" dirty="0" err="1">
                <a:latin typeface="Times New Roman" panose="02020603050405020304" pitchFamily="18" charset="0"/>
                <a:cs typeface="Times New Roman" panose="02020603050405020304" pitchFamily="18" charset="0"/>
              </a:rPr>
              <a:t>law</a:t>
            </a:r>
            <a:r>
              <a:rPr lang="fr-FR" sz="2000" dirty="0">
                <a:latin typeface="Times New Roman" panose="02020603050405020304" pitchFamily="18" charset="0"/>
                <a:cs typeface="Times New Roman" panose="02020603050405020304" pitchFamily="18" charset="0"/>
              </a:rPr>
              <a:t> article -&gt; charge -&gt; </a:t>
            </a:r>
            <a:r>
              <a:rPr lang="fr-FR" sz="2000" dirty="0" err="1">
                <a:latin typeface="Times New Roman" panose="02020603050405020304" pitchFamily="18" charset="0"/>
                <a:cs typeface="Times New Roman" panose="02020603050405020304" pitchFamily="18" charset="0"/>
              </a:rPr>
              <a:t>term</a:t>
            </a:r>
            <a:r>
              <a:rPr lang="fr-FR" sz="2000" dirty="0">
                <a:latin typeface="Times New Roman" panose="02020603050405020304" pitchFamily="18" charset="0"/>
                <a:cs typeface="Times New Roman" panose="02020603050405020304" pitchFamily="18" charset="0"/>
              </a:rPr>
              <a:t> of penalty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42"/>
        <p:cNvGrpSpPr/>
        <p:nvPr/>
      </p:nvGrpSpPr>
      <p:grpSpPr>
        <a:xfrm>
          <a:off x="0" y="0"/>
          <a:ext cx="0" cy="0"/>
          <a:chOff x="0" y="0"/>
          <a:chExt cx="0" cy="0"/>
        </a:xfrm>
      </p:grpSpPr>
      <p:sp>
        <p:nvSpPr>
          <p:cNvPr id="43" name="Google Shape;43;p10"/>
          <p:cNvSpPr txBox="1"/>
          <p:nvPr/>
        </p:nvSpPr>
        <p:spPr>
          <a:xfrm>
            <a:off x="2423693" y="188731"/>
            <a:ext cx="85446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altLang="zh-CN" sz="2800" b="1" dirty="0">
                <a:solidFill>
                  <a:schemeClr val="tx1"/>
                </a:solidFill>
                <a:latin typeface="Times"/>
                <a:ea typeface="Times"/>
                <a:cs typeface="Times"/>
                <a:sym typeface="Times"/>
              </a:rPr>
              <a:t>Drawback </a:t>
            </a:r>
            <a:r>
              <a:rPr lang="zh-CN" sz="2800" b="1" dirty="0">
                <a:solidFill>
                  <a:schemeClr val="tx1"/>
                </a:solidFill>
                <a:latin typeface="Times"/>
                <a:ea typeface="Times"/>
                <a:cs typeface="Times"/>
                <a:sym typeface="Times"/>
              </a:rPr>
              <a:t>of Existing LJP Models</a:t>
            </a:r>
            <a:endParaRPr sz="2800" b="1" i="0" u="none" strike="noStrike" cap="none" dirty="0">
              <a:solidFill>
                <a:schemeClr val="tx1"/>
              </a:solidFill>
              <a:latin typeface="Microsoft Yahei"/>
              <a:ea typeface="Microsoft Yahei"/>
              <a:cs typeface="Microsoft Yahei"/>
              <a:sym typeface="Microsoft Yahei"/>
            </a:endParaRPr>
          </a:p>
        </p:txBody>
      </p:sp>
      <p:sp>
        <p:nvSpPr>
          <p:cNvPr id="44" name="Google Shape;44;p10"/>
          <p:cNvSpPr txBox="1"/>
          <p:nvPr/>
        </p:nvSpPr>
        <p:spPr>
          <a:xfrm>
            <a:off x="384599" y="1143025"/>
            <a:ext cx="11334600" cy="1169511"/>
          </a:xfrm>
          <a:prstGeom prst="rect">
            <a:avLst/>
          </a:prstGeom>
          <a:noFill/>
          <a:ln>
            <a:noFill/>
          </a:ln>
        </p:spPr>
        <p:txBody>
          <a:bodyPr spcFirstLastPara="1" wrap="square" lIns="91425" tIns="45700" rIns="91425" bIns="45700" anchor="t" anchorCtr="0">
            <a:spAutoFit/>
          </a:bodyPr>
          <a:lstStyle/>
          <a:p>
            <a:pPr marL="457200" indent="-355600" algn="just">
              <a:lnSpc>
                <a:spcPct val="150000"/>
              </a:lnSpc>
              <a:spcBef>
                <a:spcPts val="600"/>
              </a:spcBef>
              <a:buSzPts val="2000"/>
              <a:buFont typeface="Times"/>
              <a:buChar char="●"/>
            </a:pPr>
            <a:r>
              <a:rPr lang="en-CA" altLang="zh-CN" sz="2000" dirty="0">
                <a:latin typeface="Times New Roman" panose="02020603050405020304" pitchFamily="18" charset="0"/>
                <a:cs typeface="Times New Roman" panose="02020603050405020304" pitchFamily="18" charset="0"/>
              </a:rPr>
              <a:t>This paper argues that this leaves an important real-world scenario under-explored</a:t>
            </a:r>
            <a:r>
              <a:rPr lang="en-US" altLang="zh-CN" sz="2000" dirty="0">
                <a:latin typeface="Times"/>
                <a:sym typeface="Times"/>
              </a:rPr>
              <a:t>.</a:t>
            </a:r>
          </a:p>
          <a:p>
            <a:pPr marL="457200" lvl="0" indent="-355600" algn="just">
              <a:lnSpc>
                <a:spcPct val="150000"/>
              </a:lnSpc>
              <a:spcBef>
                <a:spcPts val="600"/>
              </a:spcBef>
              <a:buSzPts val="2000"/>
              <a:buFont typeface="Times"/>
              <a:buChar char="●"/>
            </a:pPr>
            <a:r>
              <a:rPr lang="en-CA" altLang="zh-CN" sz="2000" dirty="0">
                <a:latin typeface="Times New Roman" panose="02020603050405020304" pitchFamily="18" charset="0"/>
                <a:cs typeface="Times New Roman" panose="02020603050405020304" pitchFamily="18" charset="0"/>
              </a:rPr>
              <a:t>Multi-defendant cases are often removed because they are complex to annotate and evaluate</a:t>
            </a:r>
            <a:r>
              <a:rPr lang="en-US" sz="2000" dirty="0">
                <a:latin typeface="Times"/>
                <a:sym typeface="Times"/>
              </a:rPr>
              <a:t>.</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11"/>
          <p:cNvSpPr txBox="1"/>
          <p:nvPr/>
        </p:nvSpPr>
        <p:spPr>
          <a:xfrm>
            <a:off x="2423693" y="188731"/>
            <a:ext cx="8544649"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altLang="zh-CN" sz="2800" b="1" dirty="0">
                <a:solidFill>
                  <a:schemeClr val="tx1"/>
                </a:solidFill>
                <a:latin typeface="Times"/>
                <a:ea typeface="Times"/>
                <a:cs typeface="Times"/>
                <a:sym typeface="Times"/>
              </a:rPr>
              <a:t>Multi-Defendant LJP </a:t>
            </a:r>
            <a:endParaRPr sz="2800" b="1" i="0" u="none" strike="noStrike" cap="none" dirty="0">
              <a:solidFill>
                <a:schemeClr val="tx1"/>
              </a:solidFill>
              <a:latin typeface="Microsoft Yahei"/>
              <a:ea typeface="Microsoft Yahei"/>
              <a:cs typeface="Microsoft Yahei"/>
              <a:sym typeface="Microsoft Yahei"/>
            </a:endParaRPr>
          </a:p>
        </p:txBody>
      </p:sp>
      <p:sp>
        <p:nvSpPr>
          <p:cNvPr id="51" name="Google Shape;51;p11"/>
          <p:cNvSpPr txBox="1"/>
          <p:nvPr/>
        </p:nvSpPr>
        <p:spPr>
          <a:xfrm>
            <a:off x="384599" y="1143025"/>
            <a:ext cx="11334600" cy="707846"/>
          </a:xfrm>
          <a:prstGeom prst="rect">
            <a:avLst/>
          </a:prstGeom>
          <a:noFill/>
          <a:ln>
            <a:noFill/>
          </a:ln>
        </p:spPr>
        <p:txBody>
          <a:bodyPr spcFirstLastPara="1" wrap="square" lIns="91425" tIns="45700" rIns="91425" bIns="45700" anchor="t" anchorCtr="0">
            <a:spAutoFit/>
          </a:bodyPr>
          <a:lstStyle/>
          <a:p>
            <a:pPr marL="457200" marR="0" lvl="0" indent="-355600" algn="just" rtl="0">
              <a:lnSpc>
                <a:spcPct val="100000"/>
              </a:lnSpc>
              <a:spcBef>
                <a:spcPts val="0"/>
              </a:spcBef>
              <a:spcAft>
                <a:spcPts val="0"/>
              </a:spcAft>
              <a:buClr>
                <a:srgbClr val="000000"/>
              </a:buClr>
              <a:buSzPts val="2000"/>
              <a:buFont typeface="Times"/>
              <a:buChar char="●"/>
            </a:pPr>
            <a:r>
              <a:rPr lang="en-US" sz="2000" dirty="0">
                <a:latin typeface="Times New Roman" panose="02020603050405020304" pitchFamily="18" charset="0"/>
                <a:cs typeface="Times New Roman" panose="02020603050405020304" pitchFamily="18" charset="0"/>
              </a:rPr>
              <a:t>Given the fact description of a case, multi-defendant LJP aims to predict judgment outcomes for each defendant. An example is show in Figure 1.</a:t>
            </a:r>
            <a:endParaRPr sz="2000" dirty="0">
              <a:latin typeface="Times New Roman" panose="02020603050405020304" pitchFamily="18" charset="0"/>
              <a:cs typeface="Times New Roman" panose="02020603050405020304" pitchFamily="18" charset="0"/>
            </a:endParaRPr>
          </a:p>
        </p:txBody>
      </p:sp>
      <p:grpSp>
        <p:nvGrpSpPr>
          <p:cNvPr id="5" name="组合 4">
            <a:extLst>
              <a:ext uri="{FF2B5EF4-FFF2-40B4-BE49-F238E27FC236}">
                <a16:creationId xmlns:a16="http://schemas.microsoft.com/office/drawing/2014/main" id="{80EB9CE3-6D38-D74C-B187-286BCAA358D1}"/>
              </a:ext>
            </a:extLst>
          </p:cNvPr>
          <p:cNvGrpSpPr/>
          <p:nvPr/>
        </p:nvGrpSpPr>
        <p:grpSpPr>
          <a:xfrm>
            <a:off x="6027872" y="1850871"/>
            <a:ext cx="5691327" cy="4418794"/>
            <a:chOff x="6027872" y="1850871"/>
            <a:chExt cx="5691327" cy="4418794"/>
          </a:xfrm>
        </p:grpSpPr>
        <p:pic>
          <p:nvPicPr>
            <p:cNvPr id="3" name="图片 2">
              <a:extLst>
                <a:ext uri="{FF2B5EF4-FFF2-40B4-BE49-F238E27FC236}">
                  <a16:creationId xmlns:a16="http://schemas.microsoft.com/office/drawing/2014/main" id="{3D929E38-06E9-3744-8E4A-810CC56528AB}"/>
                </a:ext>
              </a:extLst>
            </p:cNvPr>
            <p:cNvPicPr>
              <a:picLocks noChangeAspect="1"/>
            </p:cNvPicPr>
            <p:nvPr/>
          </p:nvPicPr>
          <p:blipFill>
            <a:blip r:embed="rId3"/>
            <a:stretch>
              <a:fillRect/>
            </a:stretch>
          </p:blipFill>
          <p:spPr>
            <a:xfrm>
              <a:off x="6027872" y="1850871"/>
              <a:ext cx="5691327" cy="4111017"/>
            </a:xfrm>
            <a:prstGeom prst="rect">
              <a:avLst/>
            </a:prstGeom>
          </p:spPr>
        </p:pic>
        <p:sp>
          <p:nvSpPr>
            <p:cNvPr id="4" name="文本框 3">
              <a:extLst>
                <a:ext uri="{FF2B5EF4-FFF2-40B4-BE49-F238E27FC236}">
                  <a16:creationId xmlns:a16="http://schemas.microsoft.com/office/drawing/2014/main" id="{9BF2C1C2-36F4-9149-9F59-83F4E9A6E4CC}"/>
                </a:ext>
              </a:extLst>
            </p:cNvPr>
            <p:cNvSpPr txBox="1"/>
            <p:nvPr/>
          </p:nvSpPr>
          <p:spPr>
            <a:xfrm>
              <a:off x="6664271" y="5961888"/>
              <a:ext cx="4418528" cy="307777"/>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Figure 1: An illustration of multi-defendant LJP tasks.</a:t>
              </a:r>
            </a:p>
          </p:txBody>
        </p:sp>
      </p:grpSp>
      <p:sp>
        <p:nvSpPr>
          <p:cNvPr id="9" name="Google Shape;51;p11">
            <a:extLst>
              <a:ext uri="{FF2B5EF4-FFF2-40B4-BE49-F238E27FC236}">
                <a16:creationId xmlns:a16="http://schemas.microsoft.com/office/drawing/2014/main" id="{1F0095F4-F304-9B45-9CE0-2700FF4CD8B0}"/>
              </a:ext>
            </a:extLst>
          </p:cNvPr>
          <p:cNvSpPr txBox="1"/>
          <p:nvPr/>
        </p:nvSpPr>
        <p:spPr>
          <a:xfrm>
            <a:off x="384599" y="1977306"/>
            <a:ext cx="5491945" cy="400069"/>
          </a:xfrm>
          <a:prstGeom prst="rect">
            <a:avLst/>
          </a:prstGeom>
          <a:noFill/>
          <a:ln>
            <a:noFill/>
          </a:ln>
        </p:spPr>
        <p:txBody>
          <a:bodyPr spcFirstLastPara="1" wrap="square" lIns="91425" tIns="45700" rIns="91425" bIns="45700" anchor="t" anchorCtr="0">
            <a:spAutoFit/>
          </a:bodyPr>
          <a:lstStyle/>
          <a:p>
            <a:pPr marL="457200" marR="0" lvl="0" indent="-355600" algn="just" rtl="0">
              <a:lnSpc>
                <a:spcPct val="100000"/>
              </a:lnSpc>
              <a:spcBef>
                <a:spcPts val="0"/>
              </a:spcBef>
              <a:spcAft>
                <a:spcPts val="0"/>
              </a:spcAft>
              <a:buClr>
                <a:srgbClr val="000000"/>
              </a:buClr>
              <a:buSzPts val="2000"/>
              <a:buFont typeface="Times"/>
              <a:buChar char="●"/>
            </a:pPr>
            <a:r>
              <a:rPr lang="en-US" sz="2000" dirty="0">
                <a:latin typeface="Times New Roman" panose="02020603050405020304" pitchFamily="18" charset="0"/>
                <a:cs typeface="Times New Roman" panose="02020603050405020304" pitchFamily="18" charset="0"/>
              </a:rPr>
              <a:t>In this example:</a:t>
            </a:r>
          </a:p>
        </p:txBody>
      </p:sp>
      <p:sp>
        <p:nvSpPr>
          <p:cNvPr id="7" name="文本框 6">
            <a:extLst>
              <a:ext uri="{FF2B5EF4-FFF2-40B4-BE49-F238E27FC236}">
                <a16:creationId xmlns:a16="http://schemas.microsoft.com/office/drawing/2014/main" id="{3473A792-7F1B-E440-8751-7F7EC4D5197E}"/>
              </a:ext>
            </a:extLst>
          </p:cNvPr>
          <p:cNvSpPr txBox="1"/>
          <p:nvPr/>
        </p:nvSpPr>
        <p:spPr>
          <a:xfrm>
            <a:off x="975100" y="2377375"/>
            <a:ext cx="4462272" cy="923330"/>
          </a:xfrm>
          <a:prstGeom prst="rect">
            <a:avLst/>
          </a:prstGeom>
          <a:noFill/>
        </p:spPr>
        <p:txBody>
          <a:bodyPr wrap="square" rtlCol="0">
            <a:spAutoFit/>
          </a:bodyPr>
          <a:lstStyle/>
          <a:p>
            <a:pPr marL="342900" indent="-342900">
              <a:buFont typeface="+mj-lt"/>
              <a:buAutoNum type="arabicPeriod"/>
            </a:pPr>
            <a:r>
              <a:rPr lang="en-GB" sz="1800" dirty="0">
                <a:latin typeface="Times New Roman" panose="02020603050405020304" pitchFamily="18" charset="0"/>
                <a:cs typeface="Times New Roman" panose="02020603050405020304" pitchFamily="18" charset="0"/>
              </a:rPr>
              <a:t>Defendant Wang: accomplice.</a:t>
            </a:r>
          </a:p>
          <a:p>
            <a:pPr marL="342900" indent="-342900">
              <a:buFont typeface="+mj-lt"/>
              <a:buAutoNum type="arabicPeriod"/>
            </a:pPr>
            <a:r>
              <a:rPr lang="en-GB" sz="1800" dirty="0">
                <a:latin typeface="Times New Roman" panose="02020603050405020304" pitchFamily="18" charset="0"/>
                <a:cs typeface="Times New Roman" panose="02020603050405020304" pitchFamily="18" charset="0"/>
              </a:rPr>
              <a:t>Defendant Liu: principal criminal.</a:t>
            </a:r>
          </a:p>
          <a:p>
            <a:pPr marL="342900" indent="-342900">
              <a:buFont typeface="+mj-lt"/>
              <a:buAutoNum type="arabicPeriod"/>
            </a:pPr>
            <a:r>
              <a:rPr lang="en-GB" sz="1800" dirty="0">
                <a:latin typeface="Times New Roman" panose="02020603050405020304" pitchFamily="18" charset="0"/>
                <a:cs typeface="Times New Roman" panose="02020603050405020304" pitchFamily="18" charset="0"/>
              </a:rPr>
              <a:t>Defendant Xu: principal criminal.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11"/>
          <p:cNvSpPr txBox="1"/>
          <p:nvPr/>
        </p:nvSpPr>
        <p:spPr>
          <a:xfrm>
            <a:off x="2423693" y="188731"/>
            <a:ext cx="8544649"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altLang="zh-CN" sz="2800" b="1" dirty="0">
                <a:solidFill>
                  <a:schemeClr val="tx1"/>
                </a:solidFill>
                <a:latin typeface="Times"/>
                <a:ea typeface="Times"/>
                <a:cs typeface="Times"/>
                <a:sym typeface="Times"/>
              </a:rPr>
              <a:t>Challenges of Multi-Defendant LJP </a:t>
            </a:r>
            <a:endParaRPr sz="2800" b="1" i="0" u="none" strike="noStrike" cap="none" dirty="0">
              <a:solidFill>
                <a:schemeClr val="tx1"/>
              </a:solidFill>
              <a:latin typeface="Microsoft Yahei"/>
              <a:ea typeface="Microsoft Yahei"/>
              <a:cs typeface="Microsoft Yahei"/>
              <a:sym typeface="Microsoft Yahei"/>
            </a:endParaRPr>
          </a:p>
        </p:txBody>
      </p:sp>
      <p:sp>
        <p:nvSpPr>
          <p:cNvPr id="51" name="Google Shape;51;p11"/>
          <p:cNvSpPr txBox="1"/>
          <p:nvPr/>
        </p:nvSpPr>
        <p:spPr>
          <a:xfrm>
            <a:off x="384599" y="1143025"/>
            <a:ext cx="11334600" cy="707846"/>
          </a:xfrm>
          <a:prstGeom prst="rect">
            <a:avLst/>
          </a:prstGeom>
          <a:noFill/>
          <a:ln>
            <a:noFill/>
          </a:ln>
        </p:spPr>
        <p:txBody>
          <a:bodyPr spcFirstLastPara="1" wrap="square" lIns="91425" tIns="45700" rIns="91425" bIns="45700" anchor="t" anchorCtr="0">
            <a:spAutoFit/>
          </a:bodyPr>
          <a:lstStyle/>
          <a:p>
            <a:pPr marL="457200" marR="0" lvl="0" indent="-355600" algn="just" rtl="0">
              <a:lnSpc>
                <a:spcPct val="100000"/>
              </a:lnSpc>
              <a:spcBef>
                <a:spcPts val="0"/>
              </a:spcBef>
              <a:spcAft>
                <a:spcPts val="0"/>
              </a:spcAft>
              <a:buClr>
                <a:srgbClr val="000000"/>
              </a:buClr>
              <a:buSzPts val="2000"/>
              <a:buFont typeface="Times"/>
              <a:buChar char="●"/>
            </a:pPr>
            <a:r>
              <a:rPr lang="en-US" sz="2000" b="1" dirty="0">
                <a:latin typeface="Times New Roman" panose="02020603050405020304" pitchFamily="18" charset="0"/>
                <a:cs typeface="Times New Roman" panose="02020603050405020304" pitchFamily="18" charset="0"/>
              </a:rPr>
              <a:t>Challenge 1</a:t>
            </a:r>
            <a:r>
              <a:rPr lang="en-US" sz="2000" dirty="0">
                <a:latin typeface="Times New Roman" panose="02020603050405020304" pitchFamily="18" charset="0"/>
                <a:cs typeface="Times New Roman" panose="02020603050405020304" pitchFamily="18" charset="0"/>
              </a:rPr>
              <a:t>: facts are typically presented in chronological order; details of each defendant are scattered across the fact description.</a:t>
            </a:r>
            <a:endParaRPr sz="2000" dirty="0">
              <a:latin typeface="Times New Roman" panose="02020603050405020304" pitchFamily="18" charset="0"/>
              <a:cs typeface="Times New Roman" panose="02020603050405020304" pitchFamily="18" charset="0"/>
            </a:endParaRPr>
          </a:p>
        </p:txBody>
      </p:sp>
      <p:sp>
        <p:nvSpPr>
          <p:cNvPr id="10" name="Google Shape;51;p11">
            <a:extLst>
              <a:ext uri="{FF2B5EF4-FFF2-40B4-BE49-F238E27FC236}">
                <a16:creationId xmlns:a16="http://schemas.microsoft.com/office/drawing/2014/main" id="{DBD29FE4-1053-3548-9A7C-CA8F86D241CE}"/>
              </a:ext>
            </a:extLst>
          </p:cNvPr>
          <p:cNvSpPr txBox="1"/>
          <p:nvPr/>
        </p:nvSpPr>
        <p:spPr>
          <a:xfrm>
            <a:off x="384599" y="1850871"/>
            <a:ext cx="11334600" cy="707846"/>
          </a:xfrm>
          <a:prstGeom prst="rect">
            <a:avLst/>
          </a:prstGeom>
          <a:noFill/>
          <a:ln>
            <a:noFill/>
          </a:ln>
        </p:spPr>
        <p:txBody>
          <a:bodyPr spcFirstLastPara="1" wrap="square" lIns="91425" tIns="45700" rIns="91425" bIns="45700" anchor="t" anchorCtr="0">
            <a:spAutoFit/>
          </a:bodyPr>
          <a:lstStyle/>
          <a:p>
            <a:pPr marL="457200" marR="0" lvl="0" indent="-355600" algn="just" rtl="0">
              <a:lnSpc>
                <a:spcPct val="100000"/>
              </a:lnSpc>
              <a:spcBef>
                <a:spcPts val="0"/>
              </a:spcBef>
              <a:spcAft>
                <a:spcPts val="0"/>
              </a:spcAft>
              <a:buClr>
                <a:srgbClr val="000000"/>
              </a:buClr>
              <a:buSzPts val="2000"/>
              <a:buFont typeface="Times"/>
              <a:buChar char="●"/>
            </a:pPr>
            <a:r>
              <a:rPr lang="en-US" sz="2000" b="1" dirty="0">
                <a:latin typeface="Times New Roman" panose="02020603050405020304" pitchFamily="18" charset="0"/>
                <a:cs typeface="Times New Roman" panose="02020603050405020304" pitchFamily="18" charset="0"/>
              </a:rPr>
              <a:t>Challenge 2</a:t>
            </a:r>
            <a:r>
              <a:rPr lang="en-US" sz="2000" dirty="0">
                <a:latin typeface="Times New Roman" panose="02020603050405020304" pitchFamily="18" charset="0"/>
                <a:cs typeface="Times New Roman" panose="02020603050405020304" pitchFamily="18" charset="0"/>
              </a:rPr>
              <a:t>: different defendants are potentially involved</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in</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different circumstances; models should be able to apply relevant legal knowledge to each individual accordingly.</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4477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56"/>
        <p:cNvGrpSpPr/>
        <p:nvPr/>
      </p:nvGrpSpPr>
      <p:grpSpPr>
        <a:xfrm>
          <a:off x="0" y="0"/>
          <a:ext cx="0" cy="0"/>
          <a:chOff x="0" y="0"/>
          <a:chExt cx="0" cy="0"/>
        </a:xfrm>
      </p:grpSpPr>
      <p:sp>
        <p:nvSpPr>
          <p:cNvPr id="57" name="Google Shape;57;p12"/>
          <p:cNvSpPr txBox="1"/>
          <p:nvPr/>
        </p:nvSpPr>
        <p:spPr>
          <a:xfrm>
            <a:off x="2423693" y="188731"/>
            <a:ext cx="85446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zh-CN" sz="2800" b="1" dirty="0">
                <a:solidFill>
                  <a:schemeClr val="tx1"/>
                </a:solidFill>
                <a:latin typeface="Times"/>
                <a:ea typeface="Times"/>
                <a:cs typeface="Times"/>
                <a:sym typeface="Times"/>
              </a:rPr>
              <a:t>Goal</a:t>
            </a:r>
            <a:endParaRPr sz="2800" b="1" i="0" u="none" strike="noStrike" cap="none" dirty="0">
              <a:solidFill>
                <a:schemeClr val="tx1"/>
              </a:solidFill>
              <a:latin typeface="Microsoft Yahei"/>
              <a:ea typeface="Microsoft Yahei"/>
              <a:cs typeface="Microsoft Yahei"/>
              <a:sym typeface="Microsoft Yahei"/>
            </a:endParaRPr>
          </a:p>
        </p:txBody>
      </p:sp>
      <p:sp>
        <p:nvSpPr>
          <p:cNvPr id="58" name="Google Shape;58;p12"/>
          <p:cNvSpPr txBox="1"/>
          <p:nvPr/>
        </p:nvSpPr>
        <p:spPr>
          <a:xfrm>
            <a:off x="384599" y="1143025"/>
            <a:ext cx="11334600" cy="553957"/>
          </a:xfrm>
          <a:prstGeom prst="rect">
            <a:avLst/>
          </a:prstGeom>
          <a:noFill/>
          <a:ln>
            <a:noFill/>
          </a:ln>
        </p:spPr>
        <p:txBody>
          <a:bodyPr spcFirstLastPara="1" wrap="square" lIns="91425" tIns="45700" rIns="91425" bIns="45700" anchor="t" anchorCtr="0">
            <a:spAutoFit/>
          </a:bodyPr>
          <a:lstStyle/>
          <a:p>
            <a:pPr marL="457200" lvl="0" indent="-355600" algn="just" rtl="0">
              <a:lnSpc>
                <a:spcPct val="150000"/>
              </a:lnSpc>
              <a:spcBef>
                <a:spcPts val="0"/>
              </a:spcBef>
              <a:spcAft>
                <a:spcPts val="0"/>
              </a:spcAft>
              <a:buClr>
                <a:schemeClr val="dk1"/>
              </a:buClr>
              <a:buSzPts val="2000"/>
              <a:buFont typeface="Times"/>
              <a:buChar char="●"/>
            </a:pPr>
            <a:r>
              <a:rPr lang="en-US" altLang="zh-CN" sz="2000" dirty="0">
                <a:latin typeface="Times"/>
                <a:ea typeface="Times"/>
                <a:cs typeface="Times"/>
                <a:sym typeface="Times"/>
              </a:rPr>
              <a:t>A large-scale Chinese multi-defendant LJP dataset to facilitate multi-defendant LJP research.</a:t>
            </a:r>
          </a:p>
        </p:txBody>
      </p:sp>
      <p:sp>
        <p:nvSpPr>
          <p:cNvPr id="4" name="Google Shape;58;p12">
            <a:extLst>
              <a:ext uri="{FF2B5EF4-FFF2-40B4-BE49-F238E27FC236}">
                <a16:creationId xmlns:a16="http://schemas.microsoft.com/office/drawing/2014/main" id="{84072FBE-B6E4-5E4F-AD57-1604B94B940B}"/>
              </a:ext>
            </a:extLst>
          </p:cNvPr>
          <p:cNvSpPr txBox="1"/>
          <p:nvPr/>
        </p:nvSpPr>
        <p:spPr>
          <a:xfrm>
            <a:off x="857400" y="1574119"/>
            <a:ext cx="11334600" cy="1015622"/>
          </a:xfrm>
          <a:prstGeom prst="rect">
            <a:avLst/>
          </a:prstGeom>
          <a:noFill/>
          <a:ln>
            <a:noFill/>
          </a:ln>
        </p:spPr>
        <p:txBody>
          <a:bodyPr spcFirstLastPara="1" wrap="square" lIns="91425" tIns="45700" rIns="91425" bIns="45700" anchor="t" anchorCtr="0">
            <a:spAutoFit/>
          </a:bodyPr>
          <a:lstStyle/>
          <a:p>
            <a:pPr marL="444500" lvl="0" indent="-342900" algn="just" rtl="0">
              <a:lnSpc>
                <a:spcPct val="150000"/>
              </a:lnSpc>
              <a:spcBef>
                <a:spcPts val="0"/>
              </a:spcBef>
              <a:spcAft>
                <a:spcPts val="0"/>
              </a:spcAft>
              <a:buClr>
                <a:schemeClr val="tx1"/>
              </a:buClr>
              <a:buSzPts val="2000"/>
              <a:buFont typeface="Arial" panose="020B0604020202020204" pitchFamily="34" charset="0"/>
              <a:buChar char="•"/>
            </a:pPr>
            <a:r>
              <a:rPr lang="en-US" altLang="zh-CN" sz="2000" dirty="0">
                <a:latin typeface="Times"/>
                <a:ea typeface="Times"/>
                <a:cs typeface="Times"/>
                <a:sym typeface="Times"/>
              </a:rPr>
              <a:t>Automatically annotated and easily extendable.</a:t>
            </a:r>
          </a:p>
          <a:p>
            <a:pPr marL="444500" lvl="0" indent="-342900" algn="just" rtl="0">
              <a:lnSpc>
                <a:spcPct val="150000"/>
              </a:lnSpc>
              <a:spcBef>
                <a:spcPts val="0"/>
              </a:spcBef>
              <a:spcAft>
                <a:spcPts val="0"/>
              </a:spcAft>
              <a:buClr>
                <a:schemeClr val="tx1"/>
              </a:buClr>
              <a:buSzPts val="2000"/>
              <a:buFont typeface="Arial" panose="020B0604020202020204" pitchFamily="34" charset="0"/>
              <a:buChar char="•"/>
            </a:pPr>
            <a:r>
              <a:rPr lang="en-US" altLang="zh-CN" sz="2000" dirty="0">
                <a:latin typeface="Times"/>
                <a:ea typeface="Times"/>
                <a:cs typeface="Times"/>
                <a:sym typeface="Times"/>
              </a:rPr>
              <a:t>Detailed annotations. </a:t>
            </a:r>
          </a:p>
        </p:txBody>
      </p:sp>
      <p:sp>
        <p:nvSpPr>
          <p:cNvPr id="5" name="Google Shape;58;p12">
            <a:extLst>
              <a:ext uri="{FF2B5EF4-FFF2-40B4-BE49-F238E27FC236}">
                <a16:creationId xmlns:a16="http://schemas.microsoft.com/office/drawing/2014/main" id="{21435436-5611-6641-8639-D73E79D33FB4}"/>
              </a:ext>
            </a:extLst>
          </p:cNvPr>
          <p:cNvSpPr txBox="1"/>
          <p:nvPr/>
        </p:nvSpPr>
        <p:spPr>
          <a:xfrm>
            <a:off x="384599" y="3051406"/>
            <a:ext cx="11334600" cy="553957"/>
          </a:xfrm>
          <a:prstGeom prst="rect">
            <a:avLst/>
          </a:prstGeom>
          <a:noFill/>
          <a:ln>
            <a:noFill/>
          </a:ln>
        </p:spPr>
        <p:txBody>
          <a:bodyPr spcFirstLastPara="1" wrap="square" lIns="91425" tIns="45700" rIns="91425" bIns="45700" anchor="t" anchorCtr="0">
            <a:spAutoFit/>
          </a:bodyPr>
          <a:lstStyle/>
          <a:p>
            <a:pPr marL="457200" lvl="0" indent="-355600" algn="just" rtl="0">
              <a:lnSpc>
                <a:spcPct val="150000"/>
              </a:lnSpc>
              <a:spcBef>
                <a:spcPts val="0"/>
              </a:spcBef>
              <a:spcAft>
                <a:spcPts val="0"/>
              </a:spcAft>
              <a:buClr>
                <a:schemeClr val="dk1"/>
              </a:buClr>
              <a:buSzPts val="2000"/>
              <a:buFont typeface="Times"/>
              <a:buChar char="●"/>
            </a:pPr>
            <a:r>
              <a:rPr lang="en-US" altLang="zh-CN" sz="2000" dirty="0">
                <a:latin typeface="Times"/>
                <a:ea typeface="Times"/>
                <a:cs typeface="Times"/>
                <a:sym typeface="Times"/>
              </a:rPr>
              <a:t>A more comprehensive approach to evaluate model performance on multi-defendant cases.</a:t>
            </a:r>
          </a:p>
        </p:txBody>
      </p:sp>
      <p:sp>
        <p:nvSpPr>
          <p:cNvPr id="6" name="Google Shape;58;p12">
            <a:extLst>
              <a:ext uri="{FF2B5EF4-FFF2-40B4-BE49-F238E27FC236}">
                <a16:creationId xmlns:a16="http://schemas.microsoft.com/office/drawing/2014/main" id="{E74BC7FF-7207-FE4E-9842-C72E9455B9F2}"/>
              </a:ext>
            </a:extLst>
          </p:cNvPr>
          <p:cNvSpPr txBox="1"/>
          <p:nvPr/>
        </p:nvSpPr>
        <p:spPr>
          <a:xfrm>
            <a:off x="857400" y="3482500"/>
            <a:ext cx="11334600" cy="553957"/>
          </a:xfrm>
          <a:prstGeom prst="rect">
            <a:avLst/>
          </a:prstGeom>
          <a:noFill/>
          <a:ln>
            <a:noFill/>
          </a:ln>
        </p:spPr>
        <p:txBody>
          <a:bodyPr spcFirstLastPara="1" wrap="square" lIns="91425" tIns="45700" rIns="91425" bIns="45700" anchor="t" anchorCtr="0">
            <a:spAutoFit/>
          </a:bodyPr>
          <a:lstStyle/>
          <a:p>
            <a:pPr marL="444500" lvl="0" indent="-342900" algn="just" rtl="0">
              <a:lnSpc>
                <a:spcPct val="150000"/>
              </a:lnSpc>
              <a:spcBef>
                <a:spcPts val="0"/>
              </a:spcBef>
              <a:spcAft>
                <a:spcPts val="0"/>
              </a:spcAft>
              <a:buClr>
                <a:schemeClr val="tx1"/>
              </a:buClr>
              <a:buSzPts val="2000"/>
              <a:buFont typeface="Arial" panose="020B0604020202020204" pitchFamily="34" charset="0"/>
              <a:buChar char="•"/>
            </a:pPr>
            <a:r>
              <a:rPr lang="en-US" altLang="zh-CN" sz="2000" dirty="0">
                <a:latin typeface="Times"/>
                <a:ea typeface="Times"/>
                <a:cs typeface="Times"/>
                <a:sym typeface="Times"/>
              </a:rPr>
              <a:t>To evaluate model performance from a holistic perspective of the case.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62"/>
        <p:cNvGrpSpPr/>
        <p:nvPr/>
      </p:nvGrpSpPr>
      <p:grpSpPr>
        <a:xfrm>
          <a:off x="0" y="0"/>
          <a:ext cx="0" cy="0"/>
          <a:chOff x="0" y="0"/>
          <a:chExt cx="0" cy="0"/>
        </a:xfrm>
      </p:grpSpPr>
      <p:sp>
        <p:nvSpPr>
          <p:cNvPr id="63" name="Google Shape;63;p13"/>
          <p:cNvSpPr txBox="1"/>
          <p:nvPr/>
        </p:nvSpPr>
        <p:spPr>
          <a:xfrm>
            <a:off x="2423700" y="188725"/>
            <a:ext cx="90027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altLang="zh-CN" sz="2800" b="1" dirty="0">
                <a:solidFill>
                  <a:schemeClr val="tx1"/>
                </a:solidFill>
                <a:latin typeface="Times"/>
                <a:ea typeface="Times"/>
                <a:cs typeface="Times"/>
                <a:sym typeface="Times"/>
              </a:rPr>
              <a:t>Corpus and Pre-Processing</a:t>
            </a:r>
            <a:endParaRPr sz="2800" b="1" i="0" u="none" strike="noStrike" cap="none" dirty="0">
              <a:solidFill>
                <a:schemeClr val="tx1"/>
              </a:solidFill>
              <a:latin typeface="Microsoft Yahei"/>
              <a:ea typeface="Microsoft Yahei"/>
              <a:cs typeface="Microsoft Yahei"/>
              <a:sym typeface="Microsoft Yahei"/>
            </a:endParaRPr>
          </a:p>
        </p:txBody>
      </p:sp>
      <p:sp>
        <p:nvSpPr>
          <p:cNvPr id="64" name="Google Shape;64;p13"/>
          <p:cNvSpPr txBox="1"/>
          <p:nvPr/>
        </p:nvSpPr>
        <p:spPr>
          <a:xfrm>
            <a:off x="271079" y="846924"/>
            <a:ext cx="11334600" cy="1092566"/>
          </a:xfrm>
          <a:prstGeom prst="rect">
            <a:avLst/>
          </a:prstGeom>
          <a:noFill/>
          <a:ln>
            <a:noFill/>
          </a:ln>
        </p:spPr>
        <p:txBody>
          <a:bodyPr spcFirstLastPara="1" wrap="square" lIns="91425" tIns="45700" rIns="91425" bIns="45700" anchor="t" anchorCtr="0">
            <a:spAutoFit/>
          </a:bodyPr>
          <a:lstStyle/>
          <a:p>
            <a:pPr marL="457200" marR="0" lvl="0" indent="-355600" algn="just" rtl="0">
              <a:lnSpc>
                <a:spcPct val="100000"/>
              </a:lnSpc>
              <a:spcBef>
                <a:spcPts val="600"/>
              </a:spcBef>
              <a:spcAft>
                <a:spcPts val="0"/>
              </a:spcAft>
              <a:buClr>
                <a:srgbClr val="000000"/>
              </a:buClr>
              <a:buSzPts val="2000"/>
              <a:buFont typeface="Times"/>
              <a:buChar char="●"/>
            </a:pPr>
            <a:r>
              <a:rPr lang="en-US" sz="2000" b="1" i="0" u="none" strike="noStrike" cap="none" dirty="0">
                <a:solidFill>
                  <a:srgbClr val="000000"/>
                </a:solidFill>
                <a:latin typeface="Times"/>
                <a:ea typeface="Times"/>
                <a:cs typeface="Times"/>
                <a:sym typeface="Times"/>
              </a:rPr>
              <a:t>Corpus</a:t>
            </a:r>
            <a:r>
              <a:rPr lang="en-US" sz="2000" b="0" i="0" u="none" strike="noStrike" cap="none" dirty="0">
                <a:solidFill>
                  <a:srgbClr val="000000"/>
                </a:solidFill>
                <a:latin typeface="Times"/>
                <a:ea typeface="Times"/>
                <a:cs typeface="Times"/>
                <a:sym typeface="Times"/>
              </a:rPr>
              <a:t>: a total of 699,263 criminal documents involving two or more defendants from the past 20 years as our raw corpus from China Judgments Online. </a:t>
            </a:r>
            <a:r>
              <a:rPr lang="en-US" sz="2000" dirty="0">
                <a:latin typeface="Times"/>
                <a:ea typeface="Times"/>
                <a:cs typeface="Times"/>
                <a:sym typeface="Times"/>
              </a:rPr>
              <a:t>Only keep the </a:t>
            </a:r>
            <a:r>
              <a:rPr lang="en-US" sz="2000" b="0" i="1" u="none" strike="noStrike" cap="none" dirty="0">
                <a:solidFill>
                  <a:srgbClr val="000000"/>
                </a:solidFill>
                <a:latin typeface="Times"/>
                <a:ea typeface="Times"/>
                <a:cs typeface="Times"/>
                <a:sym typeface="Times"/>
              </a:rPr>
              <a:t>judgment </a:t>
            </a:r>
            <a:r>
              <a:rPr lang="en-US" sz="2000" b="0" u="none" strike="noStrike" cap="none" dirty="0">
                <a:solidFill>
                  <a:srgbClr val="000000"/>
                </a:solidFill>
                <a:latin typeface="Times"/>
                <a:ea typeface="Times"/>
                <a:cs typeface="Times"/>
                <a:sym typeface="Times"/>
              </a:rPr>
              <a:t>documents for LJP tasks requirements.</a:t>
            </a:r>
            <a:endParaRPr lang="en-US" sz="2000" b="0" i="0" u="none" strike="noStrike" cap="none" dirty="0">
              <a:solidFill>
                <a:srgbClr val="000000"/>
              </a:solidFill>
              <a:latin typeface="Times"/>
              <a:ea typeface="Times"/>
              <a:cs typeface="Times"/>
              <a:sym typeface="Times"/>
            </a:endParaRPr>
          </a:p>
        </p:txBody>
      </p:sp>
      <p:sp>
        <p:nvSpPr>
          <p:cNvPr id="8" name="Google Shape;64;p13">
            <a:extLst>
              <a:ext uri="{FF2B5EF4-FFF2-40B4-BE49-F238E27FC236}">
                <a16:creationId xmlns:a16="http://schemas.microsoft.com/office/drawing/2014/main" id="{4EA94CA1-45D1-BA41-BF35-1784E3E94235}"/>
              </a:ext>
            </a:extLst>
          </p:cNvPr>
          <p:cNvSpPr txBox="1"/>
          <p:nvPr/>
        </p:nvSpPr>
        <p:spPr>
          <a:xfrm>
            <a:off x="271079" y="1939490"/>
            <a:ext cx="11334600" cy="477013"/>
          </a:xfrm>
          <a:prstGeom prst="rect">
            <a:avLst/>
          </a:prstGeom>
          <a:noFill/>
          <a:ln>
            <a:noFill/>
          </a:ln>
        </p:spPr>
        <p:txBody>
          <a:bodyPr spcFirstLastPara="1" wrap="square" lIns="91425" tIns="45700" rIns="91425" bIns="45700" anchor="t" anchorCtr="0">
            <a:spAutoFit/>
          </a:bodyPr>
          <a:lstStyle/>
          <a:p>
            <a:pPr marL="457200" marR="0" lvl="0" indent="-355600" algn="just" rtl="0">
              <a:lnSpc>
                <a:spcPct val="100000"/>
              </a:lnSpc>
              <a:spcBef>
                <a:spcPts val="600"/>
              </a:spcBef>
              <a:spcAft>
                <a:spcPts val="0"/>
              </a:spcAft>
              <a:buClr>
                <a:srgbClr val="000000"/>
              </a:buClr>
              <a:buSzPts val="2000"/>
              <a:buFont typeface="Times"/>
              <a:buChar char="●"/>
            </a:pPr>
            <a:r>
              <a:rPr lang="en-US" sz="2000" b="1" i="0" u="none" strike="noStrike" cap="none" dirty="0">
                <a:solidFill>
                  <a:srgbClr val="000000"/>
                </a:solidFill>
                <a:latin typeface="Times"/>
                <a:ea typeface="Times"/>
                <a:cs typeface="Times"/>
                <a:sym typeface="Times"/>
              </a:rPr>
              <a:t>Pre-Processing</a:t>
            </a:r>
            <a:r>
              <a:rPr lang="en-US" sz="2000" b="0" i="0" u="none" strike="noStrike" cap="none" dirty="0">
                <a:solidFill>
                  <a:srgbClr val="000000"/>
                </a:solidFill>
                <a:latin typeface="Times"/>
                <a:ea typeface="Times"/>
                <a:cs typeface="Times"/>
                <a:sym typeface="Times"/>
              </a:rPr>
              <a:t>: regular expressions are used to divide the documents into four parts:</a:t>
            </a:r>
          </a:p>
        </p:txBody>
      </p:sp>
      <p:sp>
        <p:nvSpPr>
          <p:cNvPr id="9" name="Google Shape;64;p13">
            <a:extLst>
              <a:ext uri="{FF2B5EF4-FFF2-40B4-BE49-F238E27FC236}">
                <a16:creationId xmlns:a16="http://schemas.microsoft.com/office/drawing/2014/main" id="{D38E9399-F4D0-FF41-9A09-AD25D7515CF8}"/>
              </a:ext>
            </a:extLst>
          </p:cNvPr>
          <p:cNvSpPr txBox="1"/>
          <p:nvPr/>
        </p:nvSpPr>
        <p:spPr>
          <a:xfrm>
            <a:off x="857400" y="2353351"/>
            <a:ext cx="11334600" cy="1508065"/>
          </a:xfrm>
          <a:prstGeom prst="rect">
            <a:avLst/>
          </a:prstGeom>
          <a:noFill/>
          <a:ln>
            <a:noFill/>
          </a:ln>
        </p:spPr>
        <p:txBody>
          <a:bodyPr spcFirstLastPara="1" wrap="square" lIns="91425" tIns="45700" rIns="91425" bIns="45700" anchor="t" anchorCtr="0">
            <a:spAutoFit/>
          </a:bodyPr>
          <a:lstStyle/>
          <a:p>
            <a:pPr marL="558800" marR="0" lvl="0" indent="-457200" algn="just" rtl="0">
              <a:lnSpc>
                <a:spcPct val="100000"/>
              </a:lnSpc>
              <a:spcBef>
                <a:spcPts val="600"/>
              </a:spcBef>
              <a:spcAft>
                <a:spcPts val="0"/>
              </a:spcAft>
              <a:buClr>
                <a:srgbClr val="000000"/>
              </a:buClr>
              <a:buSzPts val="2000"/>
              <a:buFont typeface="+mj-lt"/>
              <a:buAutoNum type="arabicPeriod"/>
            </a:pPr>
            <a:r>
              <a:rPr lang="en-US" sz="1800" b="0" i="0" u="none" strike="noStrike" cap="none" dirty="0">
                <a:solidFill>
                  <a:srgbClr val="000000"/>
                </a:solidFill>
                <a:latin typeface="Times"/>
                <a:ea typeface="Times"/>
                <a:cs typeface="Times"/>
                <a:sym typeface="Times"/>
              </a:rPr>
              <a:t>fact description</a:t>
            </a:r>
          </a:p>
          <a:p>
            <a:pPr marL="558800" marR="0" lvl="0" indent="-457200" algn="just" rtl="0">
              <a:lnSpc>
                <a:spcPct val="100000"/>
              </a:lnSpc>
              <a:spcBef>
                <a:spcPts val="600"/>
              </a:spcBef>
              <a:spcAft>
                <a:spcPts val="0"/>
              </a:spcAft>
              <a:buClr>
                <a:srgbClr val="000000"/>
              </a:buClr>
              <a:buSzPts val="2000"/>
              <a:buFont typeface="+mj-lt"/>
              <a:buAutoNum type="arabicPeriod"/>
            </a:pPr>
            <a:r>
              <a:rPr lang="en-US" sz="1800" dirty="0">
                <a:latin typeface="Times"/>
                <a:ea typeface="Times"/>
                <a:cs typeface="Times"/>
                <a:sym typeface="Times"/>
              </a:rPr>
              <a:t>court view</a:t>
            </a:r>
          </a:p>
          <a:p>
            <a:pPr marL="558800" marR="0" lvl="0" indent="-457200" algn="just" rtl="0">
              <a:lnSpc>
                <a:spcPct val="100000"/>
              </a:lnSpc>
              <a:spcBef>
                <a:spcPts val="600"/>
              </a:spcBef>
              <a:spcAft>
                <a:spcPts val="0"/>
              </a:spcAft>
              <a:buClr>
                <a:srgbClr val="000000"/>
              </a:buClr>
              <a:buSzPts val="2000"/>
              <a:buFont typeface="+mj-lt"/>
              <a:buAutoNum type="arabicPeriod"/>
            </a:pPr>
            <a:r>
              <a:rPr lang="en-US" sz="1800" b="0" i="0" u="none" strike="noStrike" cap="none" dirty="0">
                <a:solidFill>
                  <a:srgbClr val="000000"/>
                </a:solidFill>
                <a:latin typeface="Times"/>
                <a:ea typeface="Times"/>
                <a:cs typeface="Times"/>
                <a:sym typeface="Times"/>
              </a:rPr>
              <a:t>relevant laws</a:t>
            </a:r>
          </a:p>
          <a:p>
            <a:pPr marL="558800" marR="0" lvl="0" indent="-457200" algn="just" rtl="0">
              <a:lnSpc>
                <a:spcPct val="100000"/>
              </a:lnSpc>
              <a:spcBef>
                <a:spcPts val="600"/>
              </a:spcBef>
              <a:spcAft>
                <a:spcPts val="0"/>
              </a:spcAft>
              <a:buClr>
                <a:srgbClr val="000000"/>
              </a:buClr>
              <a:buSzPts val="2000"/>
              <a:buFont typeface="+mj-lt"/>
              <a:buAutoNum type="arabicPeriod"/>
            </a:pPr>
            <a:r>
              <a:rPr lang="en-US" sz="1800" dirty="0">
                <a:latin typeface="Times"/>
                <a:ea typeface="Times"/>
                <a:cs typeface="Times"/>
                <a:sym typeface="Times"/>
              </a:rPr>
              <a:t>judgments</a:t>
            </a:r>
            <a:endParaRPr lang="en-US" sz="1800" b="0" i="0" u="none" strike="noStrike" cap="none" dirty="0">
              <a:solidFill>
                <a:srgbClr val="000000"/>
              </a:solidFill>
              <a:latin typeface="Times"/>
              <a:ea typeface="Times"/>
              <a:cs typeface="Times"/>
              <a:sym typeface="Times"/>
            </a:endParaRPr>
          </a:p>
        </p:txBody>
      </p:sp>
      <p:grpSp>
        <p:nvGrpSpPr>
          <p:cNvPr id="4" name="组合 3">
            <a:extLst>
              <a:ext uri="{FF2B5EF4-FFF2-40B4-BE49-F238E27FC236}">
                <a16:creationId xmlns:a16="http://schemas.microsoft.com/office/drawing/2014/main" id="{70575A26-CD8E-F242-A769-9B5F3FF1A4C7}"/>
              </a:ext>
            </a:extLst>
          </p:cNvPr>
          <p:cNvGrpSpPr/>
          <p:nvPr/>
        </p:nvGrpSpPr>
        <p:grpSpPr>
          <a:xfrm>
            <a:off x="3462528" y="3152036"/>
            <a:ext cx="8729472" cy="3166817"/>
            <a:chOff x="3462528" y="3152036"/>
            <a:chExt cx="8729472" cy="3166817"/>
          </a:xfrm>
        </p:grpSpPr>
        <p:sp>
          <p:nvSpPr>
            <p:cNvPr id="65" name="Google Shape;65;p13" descr="\lnot "/>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图片 2">
              <a:extLst>
                <a:ext uri="{FF2B5EF4-FFF2-40B4-BE49-F238E27FC236}">
                  <a16:creationId xmlns:a16="http://schemas.microsoft.com/office/drawing/2014/main" id="{DD4241DC-1CC3-AF4D-8117-155D6E135582}"/>
                </a:ext>
              </a:extLst>
            </p:cNvPr>
            <p:cNvPicPr>
              <a:picLocks noChangeAspect="1"/>
            </p:cNvPicPr>
            <p:nvPr/>
          </p:nvPicPr>
          <p:blipFill>
            <a:blip r:embed="rId3"/>
            <a:stretch>
              <a:fillRect/>
            </a:stretch>
          </p:blipFill>
          <p:spPr>
            <a:xfrm>
              <a:off x="3462528" y="3152036"/>
              <a:ext cx="8729472" cy="2793779"/>
            </a:xfrm>
            <a:prstGeom prst="rect">
              <a:avLst/>
            </a:prstGeom>
          </p:spPr>
        </p:pic>
        <p:sp>
          <p:nvSpPr>
            <p:cNvPr id="12" name="文本框 11">
              <a:extLst>
                <a:ext uri="{FF2B5EF4-FFF2-40B4-BE49-F238E27FC236}">
                  <a16:creationId xmlns:a16="http://schemas.microsoft.com/office/drawing/2014/main" id="{81F3C444-5201-4546-B04F-83ABFFD1C708}"/>
                </a:ext>
              </a:extLst>
            </p:cNvPr>
            <p:cNvSpPr txBox="1"/>
            <p:nvPr/>
          </p:nvSpPr>
          <p:spPr>
            <a:xfrm>
              <a:off x="5136551" y="6011076"/>
              <a:ext cx="5381425" cy="307777"/>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Figure 2: The data processing and annotation process of our dataset.</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71"/>
        <p:cNvGrpSpPr/>
        <p:nvPr/>
      </p:nvGrpSpPr>
      <p:grpSpPr>
        <a:xfrm>
          <a:off x="0" y="0"/>
          <a:ext cx="0" cy="0"/>
          <a:chOff x="0" y="0"/>
          <a:chExt cx="0" cy="0"/>
        </a:xfrm>
      </p:grpSpPr>
      <p:sp>
        <p:nvSpPr>
          <p:cNvPr id="72" name="Google Shape;72;p14"/>
          <p:cNvSpPr txBox="1"/>
          <p:nvPr/>
        </p:nvSpPr>
        <p:spPr>
          <a:xfrm>
            <a:off x="2423693" y="188731"/>
            <a:ext cx="8544649"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altLang="zh-CN" sz="2800" b="1" i="0" u="none" strike="noStrike" cap="none" dirty="0">
                <a:solidFill>
                  <a:schemeClr val="tx1"/>
                </a:solidFill>
                <a:latin typeface="Times"/>
                <a:ea typeface="Times"/>
                <a:cs typeface="Times"/>
                <a:sym typeface="Times"/>
              </a:rPr>
              <a:t>Annotation- Charge</a:t>
            </a:r>
            <a:endParaRPr sz="2800" b="1" i="0" u="none" strike="noStrike" cap="none" dirty="0">
              <a:solidFill>
                <a:schemeClr val="tx1"/>
              </a:solidFill>
              <a:latin typeface="Microsoft Yahei"/>
              <a:ea typeface="Microsoft Yahei"/>
              <a:cs typeface="Microsoft Yahei"/>
              <a:sym typeface="Microsoft Yahei"/>
            </a:endParaRPr>
          </a:p>
        </p:txBody>
      </p:sp>
      <p:sp>
        <p:nvSpPr>
          <p:cNvPr id="74" name="Google Shape;74;p14" descr="\lnot "/>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 name="Google Shape;64;p13">
            <a:extLst>
              <a:ext uri="{FF2B5EF4-FFF2-40B4-BE49-F238E27FC236}">
                <a16:creationId xmlns:a16="http://schemas.microsoft.com/office/drawing/2014/main" id="{5E2C3A35-D155-E541-BD9A-6AB2D7D4F115}"/>
              </a:ext>
            </a:extLst>
          </p:cNvPr>
          <p:cNvSpPr txBox="1"/>
          <p:nvPr/>
        </p:nvSpPr>
        <p:spPr>
          <a:xfrm>
            <a:off x="271079" y="846924"/>
            <a:ext cx="11334600" cy="1169511"/>
          </a:xfrm>
          <a:prstGeom prst="rect">
            <a:avLst/>
          </a:prstGeom>
          <a:noFill/>
          <a:ln>
            <a:noFill/>
          </a:ln>
        </p:spPr>
        <p:txBody>
          <a:bodyPr spcFirstLastPara="1" wrap="square" lIns="91425" tIns="45700" rIns="91425" bIns="45700" anchor="t" anchorCtr="0">
            <a:spAutoFit/>
          </a:bodyPr>
          <a:lstStyle/>
          <a:p>
            <a:pPr marL="457200" marR="0" lvl="0" indent="-355600" algn="just" rtl="0">
              <a:lnSpc>
                <a:spcPct val="100000"/>
              </a:lnSpc>
              <a:spcBef>
                <a:spcPts val="600"/>
              </a:spcBef>
              <a:spcAft>
                <a:spcPts val="0"/>
              </a:spcAft>
              <a:buClr>
                <a:srgbClr val="000000"/>
              </a:buClr>
              <a:buSzPts val="2000"/>
              <a:buFont typeface="Times"/>
              <a:buChar char="●"/>
            </a:pPr>
            <a:r>
              <a:rPr lang="en-US" sz="2000" b="1" i="0" u="none" strike="noStrike" cap="none" dirty="0">
                <a:solidFill>
                  <a:srgbClr val="000000"/>
                </a:solidFill>
                <a:latin typeface="Times"/>
                <a:ea typeface="Times"/>
                <a:cs typeface="Times"/>
                <a:sym typeface="Times"/>
              </a:rPr>
              <a:t>Labels</a:t>
            </a:r>
            <a:r>
              <a:rPr lang="en-US" sz="2000" b="0" i="0" u="none" strike="noStrike" cap="none" dirty="0">
                <a:solidFill>
                  <a:srgbClr val="000000"/>
                </a:solidFill>
                <a:latin typeface="Times"/>
                <a:ea typeface="Times"/>
                <a:cs typeface="Times"/>
                <a:sym typeface="Times"/>
              </a:rPr>
              <a:t>: using a standardized mapping set of charges according to the latest 2023 version of The Criminal Law of China.</a:t>
            </a:r>
          </a:p>
          <a:p>
            <a:pPr marL="457200" marR="0" lvl="0" indent="-355600" algn="just" rtl="0">
              <a:lnSpc>
                <a:spcPct val="100000"/>
              </a:lnSpc>
              <a:spcBef>
                <a:spcPts val="600"/>
              </a:spcBef>
              <a:spcAft>
                <a:spcPts val="0"/>
              </a:spcAft>
              <a:buClr>
                <a:srgbClr val="000000"/>
              </a:buClr>
              <a:buSzPts val="2000"/>
              <a:buFont typeface="Times"/>
              <a:buChar char="●"/>
            </a:pPr>
            <a:r>
              <a:rPr lang="en-US" sz="2000" dirty="0">
                <a:latin typeface="Times"/>
                <a:ea typeface="Times"/>
                <a:cs typeface="Times"/>
                <a:sym typeface="Times"/>
              </a:rPr>
              <a:t>Charges extracted via regex are subsequently mapped to their respective standard.</a:t>
            </a:r>
            <a:endParaRPr lang="en-US" sz="2000" b="0" i="0" u="none" strike="noStrike" cap="none" dirty="0">
              <a:solidFill>
                <a:srgbClr val="000000"/>
              </a:solidFill>
              <a:latin typeface="Times"/>
              <a:ea typeface="Times"/>
              <a:cs typeface="Times"/>
              <a:sym typeface="Time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71"/>
        <p:cNvGrpSpPr/>
        <p:nvPr/>
      </p:nvGrpSpPr>
      <p:grpSpPr>
        <a:xfrm>
          <a:off x="0" y="0"/>
          <a:ext cx="0" cy="0"/>
          <a:chOff x="0" y="0"/>
          <a:chExt cx="0" cy="0"/>
        </a:xfrm>
      </p:grpSpPr>
      <p:sp>
        <p:nvSpPr>
          <p:cNvPr id="72" name="Google Shape;72;p14"/>
          <p:cNvSpPr txBox="1"/>
          <p:nvPr/>
        </p:nvSpPr>
        <p:spPr>
          <a:xfrm>
            <a:off x="2423693" y="188731"/>
            <a:ext cx="8544649"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altLang="zh-CN" sz="2800" b="1" i="0" u="none" strike="noStrike" cap="none" dirty="0">
                <a:solidFill>
                  <a:schemeClr val="tx1"/>
                </a:solidFill>
                <a:latin typeface="Times"/>
                <a:ea typeface="Times"/>
                <a:cs typeface="Times"/>
                <a:sym typeface="Times"/>
              </a:rPr>
              <a:t>Annotation- Law Article</a:t>
            </a:r>
            <a:endParaRPr sz="2800" b="1" i="0" u="none" strike="noStrike" cap="none" dirty="0">
              <a:solidFill>
                <a:schemeClr val="tx1"/>
              </a:solidFill>
              <a:latin typeface="Microsoft Yahei"/>
              <a:ea typeface="Microsoft Yahei"/>
              <a:cs typeface="Microsoft Yahei"/>
              <a:sym typeface="Microsoft Yahei"/>
            </a:endParaRPr>
          </a:p>
        </p:txBody>
      </p:sp>
      <p:sp>
        <p:nvSpPr>
          <p:cNvPr id="74" name="Google Shape;74;p14" descr="\lnot "/>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 name="Google Shape;64;p13">
            <a:extLst>
              <a:ext uri="{FF2B5EF4-FFF2-40B4-BE49-F238E27FC236}">
                <a16:creationId xmlns:a16="http://schemas.microsoft.com/office/drawing/2014/main" id="{5E2C3A35-D155-E541-BD9A-6AB2D7D4F115}"/>
              </a:ext>
            </a:extLst>
          </p:cNvPr>
          <p:cNvSpPr txBox="1"/>
          <p:nvPr/>
        </p:nvSpPr>
        <p:spPr>
          <a:xfrm>
            <a:off x="271079" y="846924"/>
            <a:ext cx="11334600" cy="1785064"/>
          </a:xfrm>
          <a:prstGeom prst="rect">
            <a:avLst/>
          </a:prstGeom>
          <a:noFill/>
          <a:ln>
            <a:noFill/>
          </a:ln>
        </p:spPr>
        <p:txBody>
          <a:bodyPr spcFirstLastPara="1" wrap="square" lIns="91425" tIns="45700" rIns="91425" bIns="45700" anchor="t" anchorCtr="0">
            <a:spAutoFit/>
          </a:bodyPr>
          <a:lstStyle/>
          <a:p>
            <a:pPr marL="457200" indent="-355600" algn="just">
              <a:spcBef>
                <a:spcPts val="600"/>
              </a:spcBef>
              <a:buSzPts val="2000"/>
              <a:buFont typeface="Times"/>
              <a:buChar char="●"/>
            </a:pPr>
            <a:r>
              <a:rPr lang="en-US" sz="2000" b="1" i="0" u="none" strike="noStrike" cap="none" dirty="0">
                <a:solidFill>
                  <a:srgbClr val="000000"/>
                </a:solidFill>
                <a:latin typeface="Times"/>
                <a:ea typeface="Times"/>
                <a:cs typeface="Times"/>
                <a:sym typeface="Times"/>
              </a:rPr>
              <a:t>Labels</a:t>
            </a:r>
            <a:r>
              <a:rPr lang="en-US" sz="2000" b="0" i="0" u="none" strike="noStrike" cap="none" dirty="0">
                <a:solidFill>
                  <a:srgbClr val="000000"/>
                </a:solidFill>
                <a:latin typeface="Times"/>
                <a:ea typeface="Times"/>
                <a:cs typeface="Times"/>
                <a:sym typeface="Times"/>
              </a:rPr>
              <a:t>: by going through the Criminal Law, a mapping set from the standard charges to their relative legal provisions are constructed.</a:t>
            </a:r>
            <a:r>
              <a:rPr lang="en-US" altLang="zh-CN" sz="2000" dirty="0">
                <a:latin typeface="Times"/>
                <a:ea typeface="Times"/>
                <a:cs typeface="Times"/>
                <a:sym typeface="Times"/>
              </a:rPr>
              <a:t> This paper provides paragraph-level law article annotations rather than article-level annotations. </a:t>
            </a:r>
          </a:p>
          <a:p>
            <a:pPr marL="457200" marR="0" lvl="0" indent="-355600" algn="just" rtl="0">
              <a:lnSpc>
                <a:spcPct val="100000"/>
              </a:lnSpc>
              <a:spcBef>
                <a:spcPts val="600"/>
              </a:spcBef>
              <a:spcAft>
                <a:spcPts val="0"/>
              </a:spcAft>
              <a:buClr>
                <a:srgbClr val="000000"/>
              </a:buClr>
              <a:buSzPts val="2000"/>
              <a:buFont typeface="Times"/>
              <a:buChar char="●"/>
            </a:pPr>
            <a:r>
              <a:rPr lang="en-US" sz="2000" b="0" i="0" u="none" strike="noStrike" cap="none" dirty="0">
                <a:solidFill>
                  <a:srgbClr val="000000"/>
                </a:solidFill>
                <a:latin typeface="Times"/>
                <a:ea typeface="Times"/>
                <a:cs typeface="Times"/>
                <a:sym typeface="Times"/>
              </a:rPr>
              <a:t>The specific label list for each defendant is constructed by mapping their charges to all possible relevant provisions through our mapping set and then including those that appear in the </a:t>
            </a:r>
            <a:r>
              <a:rPr lang="en-US" sz="2000" b="0" i="1" u="none" strike="noStrike" cap="none" dirty="0">
                <a:solidFill>
                  <a:srgbClr val="000000"/>
                </a:solidFill>
                <a:latin typeface="Times"/>
                <a:ea typeface="Times"/>
                <a:cs typeface="Times"/>
                <a:sym typeface="Times"/>
              </a:rPr>
              <a:t>relevant laws</a:t>
            </a:r>
            <a:r>
              <a:rPr lang="zh-CN" altLang="en-US" sz="2000" b="0" u="none" strike="noStrike" cap="none" dirty="0">
                <a:solidFill>
                  <a:srgbClr val="000000"/>
                </a:solidFill>
                <a:latin typeface="Times"/>
                <a:ea typeface="Times"/>
                <a:cs typeface="Times"/>
                <a:sym typeface="Times"/>
              </a:rPr>
              <a:t> </a:t>
            </a:r>
            <a:r>
              <a:rPr lang="en-US" altLang="zh-CN" sz="2000" b="0" u="none" strike="noStrike" cap="none" dirty="0">
                <a:solidFill>
                  <a:srgbClr val="000000"/>
                </a:solidFill>
                <a:latin typeface="Times"/>
                <a:ea typeface="Times"/>
                <a:cs typeface="Times"/>
                <a:sym typeface="Times"/>
              </a:rPr>
              <a:t>section</a:t>
            </a:r>
            <a:r>
              <a:rPr lang="en-US" altLang="zh-CN" sz="2000" dirty="0">
                <a:latin typeface="Times"/>
                <a:ea typeface="Times"/>
                <a:cs typeface="Times"/>
                <a:sym typeface="Times"/>
              </a:rPr>
              <a:t>.</a:t>
            </a:r>
            <a:endParaRPr lang="en-US" sz="2000" b="0" i="0" u="none" strike="noStrike" cap="none" dirty="0">
              <a:solidFill>
                <a:srgbClr val="000000"/>
              </a:solidFill>
              <a:latin typeface="Times"/>
              <a:ea typeface="Times"/>
              <a:cs typeface="Times"/>
              <a:sym typeface="Times"/>
            </a:endParaRPr>
          </a:p>
        </p:txBody>
      </p:sp>
    </p:spTree>
    <p:extLst>
      <p:ext uri="{BB962C8B-B14F-4D97-AF65-F5344CB8AC3E}">
        <p14:creationId xmlns:p14="http://schemas.microsoft.com/office/powerpoint/2010/main" val="1615576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71"/>
        <p:cNvGrpSpPr/>
        <p:nvPr/>
      </p:nvGrpSpPr>
      <p:grpSpPr>
        <a:xfrm>
          <a:off x="0" y="0"/>
          <a:ext cx="0" cy="0"/>
          <a:chOff x="0" y="0"/>
          <a:chExt cx="0" cy="0"/>
        </a:xfrm>
      </p:grpSpPr>
      <p:sp>
        <p:nvSpPr>
          <p:cNvPr id="72" name="Google Shape;72;p14"/>
          <p:cNvSpPr txBox="1"/>
          <p:nvPr/>
        </p:nvSpPr>
        <p:spPr>
          <a:xfrm>
            <a:off x="2423693" y="188731"/>
            <a:ext cx="8544649"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altLang="zh-CN" sz="2800" b="1" i="0" u="none" strike="noStrike" cap="none" dirty="0">
                <a:solidFill>
                  <a:schemeClr val="tx1"/>
                </a:solidFill>
                <a:latin typeface="Times"/>
                <a:ea typeface="Times"/>
                <a:cs typeface="Times"/>
                <a:sym typeface="Times"/>
              </a:rPr>
              <a:t>Annotation- Term of Penalty</a:t>
            </a:r>
            <a:endParaRPr sz="2800" b="1" i="0" u="none" strike="noStrike" cap="none" dirty="0">
              <a:solidFill>
                <a:schemeClr val="tx1"/>
              </a:solidFill>
              <a:latin typeface="Microsoft Yahei"/>
              <a:ea typeface="Microsoft Yahei"/>
              <a:cs typeface="Microsoft Yahei"/>
              <a:sym typeface="Microsoft Yahei"/>
            </a:endParaRPr>
          </a:p>
        </p:txBody>
      </p:sp>
      <p:sp>
        <p:nvSpPr>
          <p:cNvPr id="74" name="Google Shape;74;p14" descr="\lnot "/>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 name="Google Shape;64;p13">
            <a:extLst>
              <a:ext uri="{FF2B5EF4-FFF2-40B4-BE49-F238E27FC236}">
                <a16:creationId xmlns:a16="http://schemas.microsoft.com/office/drawing/2014/main" id="{5E2C3A35-D155-E541-BD9A-6AB2D7D4F115}"/>
              </a:ext>
            </a:extLst>
          </p:cNvPr>
          <p:cNvSpPr txBox="1"/>
          <p:nvPr/>
        </p:nvSpPr>
        <p:spPr>
          <a:xfrm>
            <a:off x="271079" y="846924"/>
            <a:ext cx="11334600" cy="784790"/>
          </a:xfrm>
          <a:prstGeom prst="rect">
            <a:avLst/>
          </a:prstGeom>
          <a:noFill/>
          <a:ln>
            <a:noFill/>
          </a:ln>
        </p:spPr>
        <p:txBody>
          <a:bodyPr spcFirstLastPara="1" wrap="square" lIns="91425" tIns="45700" rIns="91425" bIns="45700" anchor="t" anchorCtr="0">
            <a:spAutoFit/>
          </a:bodyPr>
          <a:lstStyle/>
          <a:p>
            <a:pPr marL="457200" indent="-355600" algn="just">
              <a:spcBef>
                <a:spcPts val="600"/>
              </a:spcBef>
              <a:buSzPts val="2000"/>
              <a:buFont typeface="Times"/>
              <a:buChar char="●"/>
            </a:pPr>
            <a:r>
              <a:rPr lang="en-US" altLang="zh-CN" sz="2000" b="1" dirty="0">
                <a:latin typeface="Times"/>
                <a:ea typeface="Times"/>
                <a:cs typeface="Times"/>
                <a:sym typeface="Times"/>
              </a:rPr>
              <a:t>Penalty type: </a:t>
            </a:r>
            <a:r>
              <a:rPr lang="en-US" altLang="zh-CN" sz="2000" dirty="0">
                <a:latin typeface="Times"/>
                <a:ea typeface="Times"/>
                <a:cs typeface="Times"/>
                <a:sym typeface="Times"/>
              </a:rPr>
              <a:t>death penalty, life imprisonment, fixed-term imprisonment, criminal detention, and public surveillance.</a:t>
            </a:r>
          </a:p>
        </p:txBody>
      </p:sp>
      <p:sp>
        <p:nvSpPr>
          <p:cNvPr id="6" name="Google Shape;64;p13">
            <a:extLst>
              <a:ext uri="{FF2B5EF4-FFF2-40B4-BE49-F238E27FC236}">
                <a16:creationId xmlns:a16="http://schemas.microsoft.com/office/drawing/2014/main" id="{3113FCB8-26C1-BA44-87C5-5063EF7A1497}"/>
              </a:ext>
            </a:extLst>
          </p:cNvPr>
          <p:cNvSpPr txBox="1"/>
          <p:nvPr/>
        </p:nvSpPr>
        <p:spPr>
          <a:xfrm>
            <a:off x="271079" y="1475171"/>
            <a:ext cx="11334600" cy="1169511"/>
          </a:xfrm>
          <a:prstGeom prst="rect">
            <a:avLst/>
          </a:prstGeom>
          <a:noFill/>
          <a:ln>
            <a:noFill/>
          </a:ln>
        </p:spPr>
        <p:txBody>
          <a:bodyPr spcFirstLastPara="1" wrap="square" lIns="91425" tIns="45700" rIns="91425" bIns="45700" anchor="t" anchorCtr="0">
            <a:spAutoFit/>
          </a:bodyPr>
          <a:lstStyle/>
          <a:p>
            <a:pPr marL="457200" indent="-355600" algn="just">
              <a:spcBef>
                <a:spcPts val="600"/>
              </a:spcBef>
              <a:buSzPts val="2000"/>
              <a:buFont typeface="Times"/>
              <a:buChar char="●"/>
            </a:pPr>
            <a:r>
              <a:rPr lang="en-US" sz="2000" dirty="0">
                <a:latin typeface="Times"/>
                <a:ea typeface="Times"/>
                <a:cs typeface="Times"/>
                <a:sym typeface="Times"/>
              </a:rPr>
              <a:t>The annotations should be able to reflect both penalty type and length.</a:t>
            </a:r>
          </a:p>
          <a:p>
            <a:pPr marL="457200" indent="-355600" algn="just">
              <a:spcBef>
                <a:spcPts val="600"/>
              </a:spcBef>
              <a:buSzPts val="2000"/>
              <a:buFont typeface="Times"/>
              <a:buChar char="●"/>
            </a:pPr>
            <a:r>
              <a:rPr lang="en-US" sz="2000" dirty="0">
                <a:latin typeface="Times"/>
                <a:ea typeface="Times"/>
                <a:cs typeface="Times"/>
                <a:sym typeface="Times"/>
              </a:rPr>
              <a:t> For a single defendant who commits several crimes, they typically receive a combined punishment, which is also annotated as the final penalty in addition to the penalty terms for each crime.</a:t>
            </a:r>
          </a:p>
        </p:txBody>
      </p:sp>
    </p:spTree>
    <p:extLst>
      <p:ext uri="{BB962C8B-B14F-4D97-AF65-F5344CB8AC3E}">
        <p14:creationId xmlns:p14="http://schemas.microsoft.com/office/powerpoint/2010/main" val="2797437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71"/>
        <p:cNvGrpSpPr/>
        <p:nvPr/>
      </p:nvGrpSpPr>
      <p:grpSpPr>
        <a:xfrm>
          <a:off x="0" y="0"/>
          <a:ext cx="0" cy="0"/>
          <a:chOff x="0" y="0"/>
          <a:chExt cx="0" cy="0"/>
        </a:xfrm>
      </p:grpSpPr>
      <p:sp>
        <p:nvSpPr>
          <p:cNvPr id="72" name="Google Shape;72;p14"/>
          <p:cNvSpPr txBox="1"/>
          <p:nvPr/>
        </p:nvSpPr>
        <p:spPr>
          <a:xfrm>
            <a:off x="2423693" y="188731"/>
            <a:ext cx="8544649"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altLang="zh-CN" sz="2800" b="1" i="0" u="none" strike="noStrike" cap="none" dirty="0">
                <a:solidFill>
                  <a:schemeClr val="tx1"/>
                </a:solidFill>
                <a:latin typeface="Times"/>
                <a:ea typeface="Times"/>
                <a:cs typeface="Times"/>
                <a:sym typeface="Times"/>
              </a:rPr>
              <a:t>Annotation- Fines</a:t>
            </a:r>
            <a:endParaRPr sz="2800" b="1" i="0" u="none" strike="noStrike" cap="none" dirty="0">
              <a:solidFill>
                <a:schemeClr val="tx1"/>
              </a:solidFill>
              <a:latin typeface="Microsoft Yahei"/>
              <a:ea typeface="Microsoft Yahei"/>
              <a:cs typeface="Microsoft Yahei"/>
              <a:sym typeface="Microsoft Yahei"/>
            </a:endParaRPr>
          </a:p>
        </p:txBody>
      </p:sp>
      <p:sp>
        <p:nvSpPr>
          <p:cNvPr id="74" name="Google Shape;74;p14" descr="\lnot "/>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 name="Google Shape;64;p13">
            <a:extLst>
              <a:ext uri="{FF2B5EF4-FFF2-40B4-BE49-F238E27FC236}">
                <a16:creationId xmlns:a16="http://schemas.microsoft.com/office/drawing/2014/main" id="{5E2C3A35-D155-E541-BD9A-6AB2D7D4F115}"/>
              </a:ext>
            </a:extLst>
          </p:cNvPr>
          <p:cNvSpPr txBox="1"/>
          <p:nvPr/>
        </p:nvSpPr>
        <p:spPr>
          <a:xfrm>
            <a:off x="271079" y="846924"/>
            <a:ext cx="11334600" cy="1169511"/>
          </a:xfrm>
          <a:prstGeom prst="rect">
            <a:avLst/>
          </a:prstGeom>
          <a:noFill/>
          <a:ln>
            <a:noFill/>
          </a:ln>
        </p:spPr>
        <p:txBody>
          <a:bodyPr spcFirstLastPara="1" wrap="square" lIns="91425" tIns="45700" rIns="91425" bIns="45700" anchor="t" anchorCtr="0">
            <a:spAutoFit/>
          </a:bodyPr>
          <a:lstStyle/>
          <a:p>
            <a:pPr marL="457200" indent="-355600" algn="just">
              <a:spcBef>
                <a:spcPts val="600"/>
              </a:spcBef>
              <a:buSzPts val="2000"/>
              <a:buFont typeface="Times"/>
              <a:buChar char="●"/>
            </a:pPr>
            <a:r>
              <a:rPr lang="en-US" altLang="zh-CN" sz="2000" dirty="0">
                <a:latin typeface="Times"/>
                <a:ea typeface="Times"/>
                <a:cs typeface="Times"/>
                <a:sym typeface="Times"/>
              </a:rPr>
              <a:t>Two types of annotations:</a:t>
            </a:r>
            <a:r>
              <a:rPr lang="zh-CN" altLang="en-US" sz="2000" dirty="0">
                <a:latin typeface="Times"/>
                <a:ea typeface="Times"/>
                <a:cs typeface="Times"/>
                <a:sym typeface="Times"/>
              </a:rPr>
              <a:t> </a:t>
            </a:r>
            <a:r>
              <a:rPr lang="en-US" altLang="zh-CN" sz="2000" dirty="0">
                <a:latin typeface="Times"/>
                <a:ea typeface="Times"/>
                <a:cs typeface="Times"/>
                <a:sym typeface="Times"/>
              </a:rPr>
              <a:t>specific amounts and being fined without a specified amount.</a:t>
            </a:r>
          </a:p>
          <a:p>
            <a:pPr marL="457200" indent="-355600" algn="just">
              <a:spcBef>
                <a:spcPts val="600"/>
              </a:spcBef>
              <a:buSzPts val="2000"/>
              <a:buFont typeface="Times"/>
              <a:buChar char="●"/>
            </a:pPr>
            <a:r>
              <a:rPr lang="en-US" altLang="zh-CN" sz="2000" dirty="0">
                <a:latin typeface="Times"/>
                <a:ea typeface="Times"/>
                <a:cs typeface="Times"/>
                <a:sym typeface="Times"/>
              </a:rPr>
              <a:t>The fines imposed on defendants are extracted using regular expressions and standardized as integer types.</a:t>
            </a:r>
          </a:p>
        </p:txBody>
      </p:sp>
      <p:sp>
        <p:nvSpPr>
          <p:cNvPr id="2" name="文本框 1">
            <a:extLst>
              <a:ext uri="{FF2B5EF4-FFF2-40B4-BE49-F238E27FC236}">
                <a16:creationId xmlns:a16="http://schemas.microsoft.com/office/drawing/2014/main" id="{824F204B-CB81-C348-9D10-2960CED41EC7}"/>
              </a:ext>
            </a:extLst>
          </p:cNvPr>
          <p:cNvSpPr txBox="1"/>
          <p:nvPr/>
        </p:nvSpPr>
        <p:spPr>
          <a:xfrm>
            <a:off x="581100" y="4372838"/>
            <a:ext cx="11334599" cy="400110"/>
          </a:xfrm>
          <a:prstGeom prst="rect">
            <a:avLst/>
          </a:prstGeom>
          <a:noFill/>
        </p:spPr>
        <p:txBody>
          <a:bodyPr wrap="square" rtlCol="0">
            <a:spAutoFit/>
          </a:bodyPr>
          <a:lstStyle/>
          <a:p>
            <a:pPr marL="342900" indent="-342900">
              <a:buFont typeface="Wingdings" pitchFamily="2" charset="2"/>
              <a:buChar char="l"/>
            </a:pPr>
            <a:endParaRPr lang="en-GB" sz="2000" dirty="0">
              <a:latin typeface="Times New Roman" panose="02020603050405020304" pitchFamily="18" charset="0"/>
              <a:cs typeface="Times New Roman" panose="02020603050405020304" pitchFamily="18" charset="0"/>
            </a:endParaRPr>
          </a:p>
        </p:txBody>
      </p:sp>
      <p:sp>
        <p:nvSpPr>
          <p:cNvPr id="7" name="Google Shape;64;p13">
            <a:extLst>
              <a:ext uri="{FF2B5EF4-FFF2-40B4-BE49-F238E27FC236}">
                <a16:creationId xmlns:a16="http://schemas.microsoft.com/office/drawing/2014/main" id="{B632C64E-00D8-0C4B-9BCA-0A3005324459}"/>
              </a:ext>
            </a:extLst>
          </p:cNvPr>
          <p:cNvSpPr txBox="1"/>
          <p:nvPr/>
        </p:nvSpPr>
        <p:spPr>
          <a:xfrm>
            <a:off x="271079" y="1899177"/>
            <a:ext cx="11334600" cy="477013"/>
          </a:xfrm>
          <a:prstGeom prst="rect">
            <a:avLst/>
          </a:prstGeom>
          <a:noFill/>
          <a:ln>
            <a:noFill/>
          </a:ln>
        </p:spPr>
        <p:txBody>
          <a:bodyPr spcFirstLastPara="1" wrap="square" lIns="91425" tIns="45700" rIns="91425" bIns="45700" anchor="t" anchorCtr="0">
            <a:spAutoFit/>
          </a:bodyPr>
          <a:lstStyle/>
          <a:p>
            <a:pPr marL="457200" indent="-355600" algn="just">
              <a:spcBef>
                <a:spcPts val="600"/>
              </a:spcBef>
              <a:buSzPts val="2000"/>
              <a:buFont typeface="Times"/>
              <a:buChar char="●"/>
            </a:pPr>
            <a:r>
              <a:rPr lang="en-US" altLang="zh-CN" sz="2000" dirty="0">
                <a:latin typeface="Times"/>
                <a:ea typeface="Times"/>
                <a:cs typeface="Times"/>
                <a:sym typeface="Times"/>
              </a:rPr>
              <a:t>Instances where fines are mentioned but without specifying exact amounts are also annotated.</a:t>
            </a:r>
          </a:p>
        </p:txBody>
      </p:sp>
    </p:spTree>
    <p:extLst>
      <p:ext uri="{BB962C8B-B14F-4D97-AF65-F5344CB8AC3E}">
        <p14:creationId xmlns:p14="http://schemas.microsoft.com/office/powerpoint/2010/main" val="2987556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71"/>
        <p:cNvGrpSpPr/>
        <p:nvPr/>
      </p:nvGrpSpPr>
      <p:grpSpPr>
        <a:xfrm>
          <a:off x="0" y="0"/>
          <a:ext cx="0" cy="0"/>
          <a:chOff x="0" y="0"/>
          <a:chExt cx="0" cy="0"/>
        </a:xfrm>
      </p:grpSpPr>
      <p:sp>
        <p:nvSpPr>
          <p:cNvPr id="72" name="Google Shape;72;p14"/>
          <p:cNvSpPr txBox="1"/>
          <p:nvPr/>
        </p:nvSpPr>
        <p:spPr>
          <a:xfrm>
            <a:off x="2423693" y="188731"/>
            <a:ext cx="8544649"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altLang="zh-CN" sz="2800" b="1" i="0" u="none" strike="noStrike" cap="none" dirty="0">
                <a:solidFill>
                  <a:schemeClr val="tx1"/>
                </a:solidFill>
                <a:latin typeface="Times"/>
                <a:ea typeface="Times"/>
                <a:cs typeface="Times"/>
                <a:sym typeface="Times"/>
              </a:rPr>
              <a:t>Anonymization</a:t>
            </a:r>
            <a:endParaRPr sz="2800" b="1" i="0" u="none" strike="noStrike" cap="none" dirty="0">
              <a:solidFill>
                <a:schemeClr val="tx1"/>
              </a:solidFill>
              <a:latin typeface="Microsoft Yahei"/>
              <a:ea typeface="Microsoft Yahei"/>
              <a:cs typeface="Microsoft Yahei"/>
              <a:sym typeface="Microsoft Yahei"/>
            </a:endParaRPr>
          </a:p>
        </p:txBody>
      </p:sp>
      <p:sp>
        <p:nvSpPr>
          <p:cNvPr id="7" name="Google Shape;64;p13">
            <a:extLst>
              <a:ext uri="{FF2B5EF4-FFF2-40B4-BE49-F238E27FC236}">
                <a16:creationId xmlns:a16="http://schemas.microsoft.com/office/drawing/2014/main" id="{B632C64E-00D8-0C4B-9BCA-0A3005324459}"/>
              </a:ext>
            </a:extLst>
          </p:cNvPr>
          <p:cNvSpPr txBox="1"/>
          <p:nvPr/>
        </p:nvSpPr>
        <p:spPr>
          <a:xfrm>
            <a:off x="276300" y="1026336"/>
            <a:ext cx="11334600" cy="784790"/>
          </a:xfrm>
          <a:prstGeom prst="rect">
            <a:avLst/>
          </a:prstGeom>
          <a:noFill/>
          <a:ln>
            <a:noFill/>
          </a:ln>
        </p:spPr>
        <p:txBody>
          <a:bodyPr spcFirstLastPara="1" wrap="square" lIns="91425" tIns="45700" rIns="91425" bIns="45700" anchor="t" anchorCtr="0">
            <a:spAutoFit/>
          </a:bodyPr>
          <a:lstStyle/>
          <a:p>
            <a:pPr marL="457200" indent="-355600" algn="just">
              <a:spcBef>
                <a:spcPts val="600"/>
              </a:spcBef>
              <a:buSzPts val="2000"/>
              <a:buFont typeface="Times"/>
              <a:buChar char="●"/>
            </a:pPr>
            <a:r>
              <a:rPr lang="en-US" altLang="zh-CN" sz="2000" dirty="0">
                <a:latin typeface="Times"/>
                <a:ea typeface="Times"/>
                <a:cs typeface="Times"/>
                <a:sym typeface="Times"/>
              </a:rPr>
              <a:t>Finally, anonymize personal information (e.g. names and location) to protect privacy and avoid potential biases.</a:t>
            </a:r>
          </a:p>
        </p:txBody>
      </p:sp>
      <p:grpSp>
        <p:nvGrpSpPr>
          <p:cNvPr id="8" name="组合 7">
            <a:extLst>
              <a:ext uri="{FF2B5EF4-FFF2-40B4-BE49-F238E27FC236}">
                <a16:creationId xmlns:a16="http://schemas.microsoft.com/office/drawing/2014/main" id="{664F26AC-5802-7540-978F-D314D89F734C}"/>
              </a:ext>
            </a:extLst>
          </p:cNvPr>
          <p:cNvGrpSpPr/>
          <p:nvPr/>
        </p:nvGrpSpPr>
        <p:grpSpPr>
          <a:xfrm>
            <a:off x="2068395" y="31757320"/>
            <a:ext cx="11702332" cy="7540666"/>
            <a:chOff x="2163603" y="34613764"/>
            <a:chExt cx="11702332" cy="7540666"/>
          </a:xfrm>
        </p:grpSpPr>
        <p:sp>
          <p:nvSpPr>
            <p:cNvPr id="9" name="矩形 8">
              <a:extLst>
                <a:ext uri="{FF2B5EF4-FFF2-40B4-BE49-F238E27FC236}">
                  <a16:creationId xmlns:a16="http://schemas.microsoft.com/office/drawing/2014/main" id="{A75667E8-1D55-1E48-B509-04D564E56643}"/>
                </a:ext>
              </a:extLst>
            </p:cNvPr>
            <p:cNvSpPr/>
            <p:nvPr/>
          </p:nvSpPr>
          <p:spPr>
            <a:xfrm>
              <a:off x="2163603" y="41188926"/>
              <a:ext cx="11122342" cy="965504"/>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indent="0" algn="ctr" eaLnBrk="0" fontAlgn="auto">
                <a:lnSpc>
                  <a:spcPct val="110000"/>
                </a:lnSpc>
              </a:pPr>
              <a:r>
                <a:rPr lang="en-US" altLang="zh-CN" sz="2800" dirty="0">
                  <a:solidFill>
                    <a:schemeClr val="tx1"/>
                  </a:solidFill>
                  <a:latin typeface="Times New Roman" panose="02020603050405020304" charset="0"/>
                  <a:cs typeface="Times New Roman" panose="02020603050405020304" charset="0"/>
                </a:rPr>
                <a:t>Figure 2:  Example of CMDL annotation.</a:t>
              </a:r>
            </a:p>
          </p:txBody>
        </p:sp>
        <p:sp>
          <p:nvSpPr>
            <p:cNvPr id="10" name="文本框 9">
              <a:extLst>
                <a:ext uri="{FF2B5EF4-FFF2-40B4-BE49-F238E27FC236}">
                  <a16:creationId xmlns:a16="http://schemas.microsoft.com/office/drawing/2014/main" id="{BAF82616-B28D-1E4C-9D41-998FABB7342C}"/>
                </a:ext>
              </a:extLst>
            </p:cNvPr>
            <p:cNvSpPr txBox="1"/>
            <p:nvPr/>
          </p:nvSpPr>
          <p:spPr>
            <a:xfrm>
              <a:off x="2492057" y="34613764"/>
              <a:ext cx="11373878" cy="6863417"/>
            </a:xfrm>
            <a:prstGeom prst="rect">
              <a:avLst/>
            </a:prstGeom>
            <a:noFill/>
            <a:ln w="38100">
              <a:solidFill>
                <a:schemeClr val="tx1"/>
              </a:solidFill>
              <a:prstDash val="sysDot"/>
            </a:ln>
          </p:spPr>
          <p:txBody>
            <a:bodyPr wrap="square" rtlCol="0">
              <a:spAutoFit/>
            </a:bodyPr>
            <a:lstStyle/>
            <a:p>
              <a:r>
                <a:rPr lang="en-GB" sz="2000" b="1" dirty="0">
                  <a:latin typeface="Times New Roman" panose="02020603050405020304" pitchFamily="18" charset="0"/>
                  <a:cs typeface="Times New Roman" panose="02020603050405020304" pitchFamily="18" charset="0"/>
                </a:rPr>
                <a:t>Facts</a:t>
              </a:r>
              <a:r>
                <a:rPr lang="en-GB" sz="2000" dirty="0">
                  <a:latin typeface="Times New Roman" panose="02020603050405020304" pitchFamily="18" charset="0"/>
                  <a:cs typeface="Times New Roman" panose="02020603050405020304" pitchFamily="18" charset="0"/>
                </a:rPr>
                <a:t> (input)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a:t>
              </a:r>
              <a:r>
                <a:rPr lang="en-GB" sz="2000" dirty="0">
                  <a:latin typeface="Times New Roman" panose="02020603050405020304" pitchFamily="18" charset="0"/>
                  <a:cs typeface="Times New Roman" panose="02020603050405020304" pitchFamily="18" charset="0"/>
                </a:rPr>
                <a:t>: On July 15, 2016, defendants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A,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B, and others used the method of breaking into a villa at No. 58 xx Villa Area to commit theft, stealing over 10,000 yuan in cash from the victim , Zhong…</a:t>
              </a:r>
            </a:p>
            <a:p>
              <a:r>
                <a:rPr lang="en-GB" sz="2000" b="1" dirty="0">
                  <a:latin typeface="Times New Roman" panose="02020603050405020304" pitchFamily="18" charset="0"/>
                  <a:cs typeface="Times New Roman" panose="02020603050405020304" pitchFamily="18" charset="0"/>
                </a:rPr>
                <a:t>Court View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a:t>
              </a:r>
              <a:r>
                <a:rPr lang="en-GB" sz="2000" dirty="0">
                  <a:latin typeface="Times New Roman" panose="02020603050405020304" pitchFamily="18" charset="0"/>
                  <a:cs typeface="Times New Roman" panose="02020603050405020304" pitchFamily="18" charset="0"/>
                </a:rPr>
                <a:t>: The public prosecutor believes that the actions of the defendants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A and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B violated Article 264 of the Criminal Law and should be held criminally liable for theft. Defendants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A and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B are jointly and intentionally committing crimes and should be subject to Article 25, paragraph 1 of the Criminal Law…</a:t>
              </a:r>
            </a:p>
            <a:p>
              <a:r>
                <a:rPr lang="en-GB" sz="2000" b="1" dirty="0">
                  <a:latin typeface="Times New Roman" panose="02020603050405020304" pitchFamily="18" charset="0"/>
                  <a:cs typeface="Times New Roman" panose="02020603050405020304" pitchFamily="18" charset="0"/>
                </a:rPr>
                <a:t>Defendants</a:t>
              </a:r>
              <a:r>
                <a:rPr lang="en-GB" sz="2000" dirty="0">
                  <a:latin typeface="Times New Roman" panose="02020603050405020304" pitchFamily="18" charset="0"/>
                  <a:cs typeface="Times New Roman" panose="02020603050405020304" pitchFamily="18" charset="0"/>
                </a:rPr>
                <a:t> (input)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 list]</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A,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B]</a:t>
              </a:r>
            </a:p>
            <a:p>
              <a:r>
                <a:rPr lang="en-GB" sz="2000" b="1" dirty="0">
                  <a:latin typeface="Times New Roman" panose="02020603050405020304" pitchFamily="18" charset="0"/>
                  <a:cs typeface="Times New Roman" panose="02020603050405020304" pitchFamily="18" charset="0"/>
                </a:rPr>
                <a:t>Outcomes</a:t>
              </a:r>
              <a:r>
                <a:rPr lang="en-GB" sz="2000" dirty="0">
                  <a:latin typeface="Times New Roman" panose="02020603050405020304" pitchFamily="18" charset="0"/>
                  <a:cs typeface="Times New Roman" panose="02020603050405020304" pitchFamily="18" charset="0"/>
                </a:rPr>
                <a:t> (ground truth)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json-obj</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list]</a:t>
              </a:r>
              <a:r>
                <a:rPr lang="en-GB" sz="2000" dirty="0">
                  <a:latin typeface="Times New Roman" panose="02020603050405020304" pitchFamily="18" charset="0"/>
                  <a:cs typeface="Times New Roman" panose="02020603050405020304" pitchFamily="18" charset="0"/>
                </a:rPr>
                <a:t>: [</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Name</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A,</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Judgment</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json-obj</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list]</a:t>
              </a:r>
              <a:r>
                <a:rPr lang="en-GB" sz="2000" dirty="0">
                  <a:latin typeface="Times New Roman" panose="02020603050405020304" pitchFamily="18" charset="0"/>
                  <a:cs typeface="Times New Roman" panose="02020603050405020304" pitchFamily="18" charset="0"/>
                </a:rPr>
                <a:t>: [{</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Accusation</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a:t>
              </a:r>
              <a:r>
                <a:rPr lang="en-GB" sz="2000" dirty="0">
                  <a:latin typeface="Times New Roman" panose="02020603050405020304" pitchFamily="18" charset="0"/>
                  <a:cs typeface="Times New Roman" panose="02020603050405020304" pitchFamily="18" charset="0"/>
                </a:rPr>
                <a:t>: The Crime of Theft,</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Standard Accusation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a:t>
              </a:r>
              <a:r>
                <a:rPr lang="en-GB" sz="2000" dirty="0">
                  <a:latin typeface="Times New Roman" panose="02020603050405020304" pitchFamily="18" charset="0"/>
                  <a:cs typeface="Times New Roman" panose="02020603050405020304" pitchFamily="18" charset="0"/>
                </a:rPr>
                <a:t>: The Crime of Theft,</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Related Law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 list]</a:t>
              </a:r>
              <a:r>
                <a:rPr lang="en-GB" sz="2000" dirty="0">
                  <a:latin typeface="Times New Roman" panose="02020603050405020304" pitchFamily="18" charset="0"/>
                  <a:cs typeface="Times New Roman" panose="02020603050405020304" pitchFamily="18" charset="0"/>
                </a:rPr>
                <a:t>: [264],</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Penalty</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json-obj</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list]</a:t>
              </a:r>
              <a:r>
                <a:rPr lang="en-GB" sz="2000" dirty="0">
                  <a:latin typeface="Times New Roman" panose="02020603050405020304" pitchFamily="18" charset="0"/>
                  <a:cs typeface="Times New Roman" panose="02020603050405020304" pitchFamily="18" charset="0"/>
                </a:rPr>
                <a:t>: {</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Surveillance</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int</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unit month, default 0]</a:t>
              </a:r>
              <a:r>
                <a:rPr lang="en-GB" sz="2000" dirty="0">
                  <a:latin typeface="Times New Roman" panose="02020603050405020304" pitchFamily="18" charset="0"/>
                  <a:cs typeface="Times New Roman" panose="02020603050405020304" pitchFamily="18" charset="0"/>
                </a:rPr>
                <a:t>: 0,</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Detention</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int</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unit month, default 0]</a:t>
              </a:r>
              <a:r>
                <a:rPr lang="en-GB" sz="2000" dirty="0">
                  <a:latin typeface="Times New Roman" panose="02020603050405020304" pitchFamily="18" charset="0"/>
                  <a:cs typeface="Times New Roman" panose="02020603050405020304" pitchFamily="18" charset="0"/>
                </a:rPr>
                <a:t>: 0,</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Imprisonment</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int</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unit month, default 0]</a:t>
              </a:r>
              <a:r>
                <a:rPr lang="en-GB" sz="2000" dirty="0">
                  <a:latin typeface="Times New Roman" panose="02020603050405020304" pitchFamily="18" charset="0"/>
                  <a:cs typeface="Times New Roman" panose="02020603050405020304" pitchFamily="18" charset="0"/>
                </a:rPr>
                <a:t>: 54,</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Death Penalty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[bool, default False]</a:t>
              </a:r>
              <a:r>
                <a:rPr lang="en-GB" sz="2000" dirty="0">
                  <a:latin typeface="Times New Roman" panose="02020603050405020304" pitchFamily="18" charset="0"/>
                  <a:cs typeface="Times New Roman" panose="02020603050405020304" pitchFamily="18" charset="0"/>
                </a:rPr>
                <a:t>: False, </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Life Imprisonment</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[bool, default False]</a:t>
              </a:r>
              <a:r>
                <a:rPr lang="en-GB" sz="2000" dirty="0">
                  <a:latin typeface="Times New Roman" panose="02020603050405020304" pitchFamily="18" charset="0"/>
                  <a:cs typeface="Times New Roman" panose="02020603050405020304" pitchFamily="18" charset="0"/>
                </a:rPr>
                <a:t>: False,</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Fine</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int</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unit CNY]</a:t>
              </a:r>
              <a:r>
                <a:rPr lang="en-GB" sz="2000" dirty="0">
                  <a:latin typeface="Times New Roman" panose="02020603050405020304" pitchFamily="18" charset="0"/>
                  <a:cs typeface="Times New Roman" panose="02020603050405020304" pitchFamily="18" charset="0"/>
                </a:rPr>
                <a:t>: 30000,</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Fine Without Amount</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[bool, default False]</a:t>
              </a:r>
              <a:r>
                <a:rPr lang="en-GB" sz="2000" dirty="0">
                  <a:latin typeface="Times New Roman" panose="02020603050405020304" pitchFamily="18" charset="0"/>
                  <a:cs typeface="Times New Roman" panose="02020603050405020304" pitchFamily="18" charset="0"/>
                </a:rPr>
                <a:t>: False}}]},</a:t>
              </a:r>
            </a:p>
            <a:p>
              <a:r>
                <a:rPr lang="en-GB" sz="2000" dirty="0">
                  <a:latin typeface="Times New Roman" panose="02020603050405020304" pitchFamily="18" charset="0"/>
                  <a:cs typeface="Times New Roman" panose="02020603050405020304" pitchFamily="18" charset="0"/>
                </a:rPr>
                <a:t>	{…}]</a:t>
              </a:r>
            </a:p>
          </p:txBody>
        </p:sp>
      </p:grpSp>
      <p:grpSp>
        <p:nvGrpSpPr>
          <p:cNvPr id="11" name="组合 10">
            <a:extLst>
              <a:ext uri="{FF2B5EF4-FFF2-40B4-BE49-F238E27FC236}">
                <a16:creationId xmlns:a16="http://schemas.microsoft.com/office/drawing/2014/main" id="{C2709210-0D2B-E641-8E8B-7AD3A7746BBD}"/>
              </a:ext>
            </a:extLst>
          </p:cNvPr>
          <p:cNvGrpSpPr/>
          <p:nvPr/>
        </p:nvGrpSpPr>
        <p:grpSpPr>
          <a:xfrm>
            <a:off x="2220795" y="31909720"/>
            <a:ext cx="11702332" cy="7540666"/>
            <a:chOff x="2163603" y="34613764"/>
            <a:chExt cx="11702332" cy="7540666"/>
          </a:xfrm>
        </p:grpSpPr>
        <p:sp>
          <p:nvSpPr>
            <p:cNvPr id="12" name="矩形 11">
              <a:extLst>
                <a:ext uri="{FF2B5EF4-FFF2-40B4-BE49-F238E27FC236}">
                  <a16:creationId xmlns:a16="http://schemas.microsoft.com/office/drawing/2014/main" id="{7C0782B1-488B-E843-8DAB-2BD190DC0A40}"/>
                </a:ext>
              </a:extLst>
            </p:cNvPr>
            <p:cNvSpPr/>
            <p:nvPr/>
          </p:nvSpPr>
          <p:spPr>
            <a:xfrm>
              <a:off x="2163603" y="41188926"/>
              <a:ext cx="11122342" cy="965504"/>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indent="0" algn="ctr" eaLnBrk="0" fontAlgn="auto">
                <a:lnSpc>
                  <a:spcPct val="110000"/>
                </a:lnSpc>
              </a:pPr>
              <a:r>
                <a:rPr lang="en-US" altLang="zh-CN" sz="2800" dirty="0">
                  <a:solidFill>
                    <a:schemeClr val="tx1"/>
                  </a:solidFill>
                  <a:latin typeface="Times New Roman" panose="02020603050405020304" charset="0"/>
                  <a:cs typeface="Times New Roman" panose="02020603050405020304" charset="0"/>
                </a:rPr>
                <a:t>Figure 2:  Example of CMDL annotation.</a:t>
              </a:r>
            </a:p>
          </p:txBody>
        </p:sp>
        <p:sp>
          <p:nvSpPr>
            <p:cNvPr id="13" name="文本框 12">
              <a:extLst>
                <a:ext uri="{FF2B5EF4-FFF2-40B4-BE49-F238E27FC236}">
                  <a16:creationId xmlns:a16="http://schemas.microsoft.com/office/drawing/2014/main" id="{CB69EA66-EBB8-5B46-AC30-A378EB9D24CE}"/>
                </a:ext>
              </a:extLst>
            </p:cNvPr>
            <p:cNvSpPr txBox="1"/>
            <p:nvPr/>
          </p:nvSpPr>
          <p:spPr>
            <a:xfrm>
              <a:off x="2492057" y="34613764"/>
              <a:ext cx="11373878" cy="6863417"/>
            </a:xfrm>
            <a:prstGeom prst="rect">
              <a:avLst/>
            </a:prstGeom>
            <a:noFill/>
            <a:ln w="38100">
              <a:solidFill>
                <a:schemeClr val="tx1"/>
              </a:solidFill>
              <a:prstDash val="sysDot"/>
            </a:ln>
          </p:spPr>
          <p:txBody>
            <a:bodyPr wrap="square" rtlCol="0">
              <a:spAutoFit/>
            </a:bodyPr>
            <a:lstStyle/>
            <a:p>
              <a:r>
                <a:rPr lang="en-GB" sz="2000" b="1" dirty="0">
                  <a:latin typeface="Times New Roman" panose="02020603050405020304" pitchFamily="18" charset="0"/>
                  <a:cs typeface="Times New Roman" panose="02020603050405020304" pitchFamily="18" charset="0"/>
                </a:rPr>
                <a:t>Facts</a:t>
              </a:r>
              <a:r>
                <a:rPr lang="en-GB" sz="2000" dirty="0">
                  <a:latin typeface="Times New Roman" panose="02020603050405020304" pitchFamily="18" charset="0"/>
                  <a:cs typeface="Times New Roman" panose="02020603050405020304" pitchFamily="18" charset="0"/>
                </a:rPr>
                <a:t> (input)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a:t>
              </a:r>
              <a:r>
                <a:rPr lang="en-GB" sz="2000" dirty="0">
                  <a:latin typeface="Times New Roman" panose="02020603050405020304" pitchFamily="18" charset="0"/>
                  <a:cs typeface="Times New Roman" panose="02020603050405020304" pitchFamily="18" charset="0"/>
                </a:rPr>
                <a:t>: On July 15, 2016, defendants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A,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B, and others used the method of breaking into a villa at No. 58 xx Villa Area to commit theft, stealing over 10,000 yuan in cash from the victim , Zhong…</a:t>
              </a:r>
            </a:p>
            <a:p>
              <a:r>
                <a:rPr lang="en-GB" sz="2000" b="1" dirty="0">
                  <a:latin typeface="Times New Roman" panose="02020603050405020304" pitchFamily="18" charset="0"/>
                  <a:cs typeface="Times New Roman" panose="02020603050405020304" pitchFamily="18" charset="0"/>
                </a:rPr>
                <a:t>Court View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a:t>
              </a:r>
              <a:r>
                <a:rPr lang="en-GB" sz="2000" dirty="0">
                  <a:latin typeface="Times New Roman" panose="02020603050405020304" pitchFamily="18" charset="0"/>
                  <a:cs typeface="Times New Roman" panose="02020603050405020304" pitchFamily="18" charset="0"/>
                </a:rPr>
                <a:t>: The public prosecutor believes that the actions of the defendants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A and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B violated Article 264 of the Criminal Law and should be held criminally liable for theft. Defendants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A and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B are jointly and intentionally committing crimes and should be subject to Article 25, paragraph 1 of the Criminal Law…</a:t>
              </a:r>
            </a:p>
            <a:p>
              <a:r>
                <a:rPr lang="en-GB" sz="2000" b="1" dirty="0">
                  <a:latin typeface="Times New Roman" panose="02020603050405020304" pitchFamily="18" charset="0"/>
                  <a:cs typeface="Times New Roman" panose="02020603050405020304" pitchFamily="18" charset="0"/>
                </a:rPr>
                <a:t>Defendants</a:t>
              </a:r>
              <a:r>
                <a:rPr lang="en-GB" sz="2000" dirty="0">
                  <a:latin typeface="Times New Roman" panose="02020603050405020304" pitchFamily="18" charset="0"/>
                  <a:cs typeface="Times New Roman" panose="02020603050405020304" pitchFamily="18" charset="0"/>
                </a:rPr>
                <a:t> (input)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 list]</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A,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B]</a:t>
              </a:r>
            </a:p>
            <a:p>
              <a:r>
                <a:rPr lang="en-GB" sz="2000" b="1" dirty="0">
                  <a:latin typeface="Times New Roman" panose="02020603050405020304" pitchFamily="18" charset="0"/>
                  <a:cs typeface="Times New Roman" panose="02020603050405020304" pitchFamily="18" charset="0"/>
                </a:rPr>
                <a:t>Outcomes</a:t>
              </a:r>
              <a:r>
                <a:rPr lang="en-GB" sz="2000" dirty="0">
                  <a:latin typeface="Times New Roman" panose="02020603050405020304" pitchFamily="18" charset="0"/>
                  <a:cs typeface="Times New Roman" panose="02020603050405020304" pitchFamily="18" charset="0"/>
                </a:rPr>
                <a:t> (ground truth)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json-obj</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list]</a:t>
              </a:r>
              <a:r>
                <a:rPr lang="en-GB" sz="2000" dirty="0">
                  <a:latin typeface="Times New Roman" panose="02020603050405020304" pitchFamily="18" charset="0"/>
                  <a:cs typeface="Times New Roman" panose="02020603050405020304" pitchFamily="18" charset="0"/>
                </a:rPr>
                <a:t>: [</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Name</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A,</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Judgment</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json-obj</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list]</a:t>
              </a:r>
              <a:r>
                <a:rPr lang="en-GB" sz="2000" dirty="0">
                  <a:latin typeface="Times New Roman" panose="02020603050405020304" pitchFamily="18" charset="0"/>
                  <a:cs typeface="Times New Roman" panose="02020603050405020304" pitchFamily="18" charset="0"/>
                </a:rPr>
                <a:t>: [{</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Accusation</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a:t>
              </a:r>
              <a:r>
                <a:rPr lang="en-GB" sz="2000" dirty="0">
                  <a:latin typeface="Times New Roman" panose="02020603050405020304" pitchFamily="18" charset="0"/>
                  <a:cs typeface="Times New Roman" panose="02020603050405020304" pitchFamily="18" charset="0"/>
                </a:rPr>
                <a:t>: The Crime of Theft,</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Standard Accusation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a:t>
              </a:r>
              <a:r>
                <a:rPr lang="en-GB" sz="2000" dirty="0">
                  <a:latin typeface="Times New Roman" panose="02020603050405020304" pitchFamily="18" charset="0"/>
                  <a:cs typeface="Times New Roman" panose="02020603050405020304" pitchFamily="18" charset="0"/>
                </a:rPr>
                <a:t>: The Crime of Theft,</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Related Law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 list]</a:t>
              </a:r>
              <a:r>
                <a:rPr lang="en-GB" sz="2000" dirty="0">
                  <a:latin typeface="Times New Roman" panose="02020603050405020304" pitchFamily="18" charset="0"/>
                  <a:cs typeface="Times New Roman" panose="02020603050405020304" pitchFamily="18" charset="0"/>
                </a:rPr>
                <a:t>: [264],</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Penalty</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json-obj</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list]</a:t>
              </a:r>
              <a:r>
                <a:rPr lang="en-GB" sz="2000" dirty="0">
                  <a:latin typeface="Times New Roman" panose="02020603050405020304" pitchFamily="18" charset="0"/>
                  <a:cs typeface="Times New Roman" panose="02020603050405020304" pitchFamily="18" charset="0"/>
                </a:rPr>
                <a:t>: {</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Surveillance</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int</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unit month, default 0]</a:t>
              </a:r>
              <a:r>
                <a:rPr lang="en-GB" sz="2000" dirty="0">
                  <a:latin typeface="Times New Roman" panose="02020603050405020304" pitchFamily="18" charset="0"/>
                  <a:cs typeface="Times New Roman" panose="02020603050405020304" pitchFamily="18" charset="0"/>
                </a:rPr>
                <a:t>: 0,</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Detention</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int</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unit month, default 0]</a:t>
              </a:r>
              <a:r>
                <a:rPr lang="en-GB" sz="2000" dirty="0">
                  <a:latin typeface="Times New Roman" panose="02020603050405020304" pitchFamily="18" charset="0"/>
                  <a:cs typeface="Times New Roman" panose="02020603050405020304" pitchFamily="18" charset="0"/>
                </a:rPr>
                <a:t>: 0,</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Imprisonment</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int</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unit month, default 0]</a:t>
              </a:r>
              <a:r>
                <a:rPr lang="en-GB" sz="2000" dirty="0">
                  <a:latin typeface="Times New Roman" panose="02020603050405020304" pitchFamily="18" charset="0"/>
                  <a:cs typeface="Times New Roman" panose="02020603050405020304" pitchFamily="18" charset="0"/>
                </a:rPr>
                <a:t>: 54,</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Death Penalty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[bool, default False]</a:t>
              </a:r>
              <a:r>
                <a:rPr lang="en-GB" sz="2000" dirty="0">
                  <a:latin typeface="Times New Roman" panose="02020603050405020304" pitchFamily="18" charset="0"/>
                  <a:cs typeface="Times New Roman" panose="02020603050405020304" pitchFamily="18" charset="0"/>
                </a:rPr>
                <a:t>: False, </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Life Imprisonment</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[bool, default False]</a:t>
              </a:r>
              <a:r>
                <a:rPr lang="en-GB" sz="2000" dirty="0">
                  <a:latin typeface="Times New Roman" panose="02020603050405020304" pitchFamily="18" charset="0"/>
                  <a:cs typeface="Times New Roman" panose="02020603050405020304" pitchFamily="18" charset="0"/>
                </a:rPr>
                <a:t>: False,</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Fine</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int</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unit CNY]</a:t>
              </a:r>
              <a:r>
                <a:rPr lang="en-GB" sz="2000" dirty="0">
                  <a:latin typeface="Times New Roman" panose="02020603050405020304" pitchFamily="18" charset="0"/>
                  <a:cs typeface="Times New Roman" panose="02020603050405020304" pitchFamily="18" charset="0"/>
                </a:rPr>
                <a:t>: 30000,</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Fine Without Amount</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[bool, default False]</a:t>
              </a:r>
              <a:r>
                <a:rPr lang="en-GB" sz="2000" dirty="0">
                  <a:latin typeface="Times New Roman" panose="02020603050405020304" pitchFamily="18" charset="0"/>
                  <a:cs typeface="Times New Roman" panose="02020603050405020304" pitchFamily="18" charset="0"/>
                </a:rPr>
                <a:t>: False}}]},</a:t>
              </a:r>
            </a:p>
            <a:p>
              <a:r>
                <a:rPr lang="en-GB" sz="2000" dirty="0">
                  <a:latin typeface="Times New Roman" panose="02020603050405020304" pitchFamily="18" charset="0"/>
                  <a:cs typeface="Times New Roman" panose="02020603050405020304" pitchFamily="18" charset="0"/>
                </a:rPr>
                <a:t>	{…}]</a:t>
              </a:r>
            </a:p>
          </p:txBody>
        </p:sp>
      </p:grpSp>
      <p:sp>
        <p:nvSpPr>
          <p:cNvPr id="14" name="文本框 13">
            <a:extLst>
              <a:ext uri="{FF2B5EF4-FFF2-40B4-BE49-F238E27FC236}">
                <a16:creationId xmlns:a16="http://schemas.microsoft.com/office/drawing/2014/main" id="{AA7201A6-FDF4-8F43-A210-705536A5A692}"/>
              </a:ext>
            </a:extLst>
          </p:cNvPr>
          <p:cNvSpPr txBox="1"/>
          <p:nvPr/>
        </p:nvSpPr>
        <p:spPr>
          <a:xfrm>
            <a:off x="2701649" y="32062120"/>
            <a:ext cx="11373878" cy="6863417"/>
          </a:xfrm>
          <a:prstGeom prst="rect">
            <a:avLst/>
          </a:prstGeom>
          <a:noFill/>
          <a:ln w="38100">
            <a:solidFill>
              <a:schemeClr val="tx1"/>
            </a:solidFill>
            <a:prstDash val="sysDot"/>
          </a:ln>
        </p:spPr>
        <p:txBody>
          <a:bodyPr wrap="square" rtlCol="0">
            <a:spAutoFit/>
          </a:bodyPr>
          <a:lstStyle/>
          <a:p>
            <a:r>
              <a:rPr lang="en-GB" sz="2000" b="1" dirty="0">
                <a:latin typeface="Times New Roman" panose="02020603050405020304" pitchFamily="18" charset="0"/>
                <a:cs typeface="Times New Roman" panose="02020603050405020304" pitchFamily="18" charset="0"/>
              </a:rPr>
              <a:t>Facts</a:t>
            </a:r>
            <a:r>
              <a:rPr lang="en-GB" sz="2000" dirty="0">
                <a:latin typeface="Times New Roman" panose="02020603050405020304" pitchFamily="18" charset="0"/>
                <a:cs typeface="Times New Roman" panose="02020603050405020304" pitchFamily="18" charset="0"/>
              </a:rPr>
              <a:t> (input)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a:t>
            </a:r>
            <a:r>
              <a:rPr lang="en-GB" sz="2000" dirty="0">
                <a:latin typeface="Times New Roman" panose="02020603050405020304" pitchFamily="18" charset="0"/>
                <a:cs typeface="Times New Roman" panose="02020603050405020304" pitchFamily="18" charset="0"/>
              </a:rPr>
              <a:t>: On July 15, 2016, defendants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A,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B, and others used the method of breaking into a villa at No. 58 xx Villa Area to commit theft, stealing over 10,000 yuan in cash from the victim , Zhong…</a:t>
            </a:r>
          </a:p>
          <a:p>
            <a:r>
              <a:rPr lang="en-GB" sz="2000" b="1" dirty="0">
                <a:latin typeface="Times New Roman" panose="02020603050405020304" pitchFamily="18" charset="0"/>
                <a:cs typeface="Times New Roman" panose="02020603050405020304" pitchFamily="18" charset="0"/>
              </a:rPr>
              <a:t>Court View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a:t>
            </a:r>
            <a:r>
              <a:rPr lang="en-GB" sz="2000" dirty="0">
                <a:latin typeface="Times New Roman" panose="02020603050405020304" pitchFamily="18" charset="0"/>
                <a:cs typeface="Times New Roman" panose="02020603050405020304" pitchFamily="18" charset="0"/>
              </a:rPr>
              <a:t>: The public prosecutor believes that the actions of the defendants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A and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B violated Article 264 of the Criminal Law and should be held criminally liable for theft. Defendants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A and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B are jointly and intentionally committing crimes and should be subject to Article 25, paragraph 1 of the Criminal Law…</a:t>
            </a:r>
          </a:p>
          <a:p>
            <a:r>
              <a:rPr lang="en-GB" sz="2000" b="1" dirty="0">
                <a:latin typeface="Times New Roman" panose="02020603050405020304" pitchFamily="18" charset="0"/>
                <a:cs typeface="Times New Roman" panose="02020603050405020304" pitchFamily="18" charset="0"/>
              </a:rPr>
              <a:t>Defendants</a:t>
            </a:r>
            <a:r>
              <a:rPr lang="en-GB" sz="2000" dirty="0">
                <a:latin typeface="Times New Roman" panose="02020603050405020304" pitchFamily="18" charset="0"/>
                <a:cs typeface="Times New Roman" panose="02020603050405020304" pitchFamily="18" charset="0"/>
              </a:rPr>
              <a:t> (input)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 list]</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A,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B]</a:t>
            </a:r>
          </a:p>
          <a:p>
            <a:r>
              <a:rPr lang="en-GB" sz="2000" b="1" dirty="0">
                <a:latin typeface="Times New Roman" panose="02020603050405020304" pitchFamily="18" charset="0"/>
                <a:cs typeface="Times New Roman" panose="02020603050405020304" pitchFamily="18" charset="0"/>
              </a:rPr>
              <a:t>Outcomes</a:t>
            </a:r>
            <a:r>
              <a:rPr lang="en-GB" sz="2000" dirty="0">
                <a:latin typeface="Times New Roman" panose="02020603050405020304" pitchFamily="18" charset="0"/>
                <a:cs typeface="Times New Roman" panose="02020603050405020304" pitchFamily="18" charset="0"/>
              </a:rPr>
              <a:t> (ground truth)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json-obj</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list]</a:t>
            </a:r>
            <a:r>
              <a:rPr lang="en-GB" sz="2000" dirty="0">
                <a:latin typeface="Times New Roman" panose="02020603050405020304" pitchFamily="18" charset="0"/>
                <a:cs typeface="Times New Roman" panose="02020603050405020304" pitchFamily="18" charset="0"/>
              </a:rPr>
              <a:t>: [</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Name</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Ou</a:t>
            </a:r>
            <a:r>
              <a:rPr lang="en-GB" sz="2000" dirty="0">
                <a:latin typeface="Times New Roman" panose="02020603050405020304" pitchFamily="18" charset="0"/>
                <a:cs typeface="Times New Roman" panose="02020603050405020304" pitchFamily="18" charset="0"/>
              </a:rPr>
              <a:t> A,</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Judgment</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json-obj</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list]</a:t>
            </a:r>
            <a:r>
              <a:rPr lang="en-GB" sz="2000" dirty="0">
                <a:latin typeface="Times New Roman" panose="02020603050405020304" pitchFamily="18" charset="0"/>
                <a:cs typeface="Times New Roman" panose="02020603050405020304" pitchFamily="18" charset="0"/>
              </a:rPr>
              <a:t>: [{</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Accusation</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a:t>
            </a:r>
            <a:r>
              <a:rPr lang="en-GB" sz="2000" dirty="0">
                <a:latin typeface="Times New Roman" panose="02020603050405020304" pitchFamily="18" charset="0"/>
                <a:cs typeface="Times New Roman" panose="02020603050405020304" pitchFamily="18" charset="0"/>
              </a:rPr>
              <a:t>: The Crime of Theft,</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Standard Accusation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a:t>
            </a:r>
            <a:r>
              <a:rPr lang="en-GB" sz="2000" dirty="0">
                <a:latin typeface="Times New Roman" panose="02020603050405020304" pitchFamily="18" charset="0"/>
                <a:cs typeface="Times New Roman" panose="02020603050405020304" pitchFamily="18" charset="0"/>
              </a:rPr>
              <a:t>: The Crime of Theft,</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Related Law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[string list]</a:t>
            </a:r>
            <a:r>
              <a:rPr lang="en-GB" sz="2000" dirty="0">
                <a:latin typeface="Times New Roman" panose="02020603050405020304" pitchFamily="18" charset="0"/>
                <a:cs typeface="Times New Roman" panose="02020603050405020304" pitchFamily="18" charset="0"/>
              </a:rPr>
              <a:t>: [264],</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Penalty</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json-obj</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list]</a:t>
            </a:r>
            <a:r>
              <a:rPr lang="en-GB" sz="2000" dirty="0">
                <a:latin typeface="Times New Roman" panose="02020603050405020304" pitchFamily="18" charset="0"/>
                <a:cs typeface="Times New Roman" panose="02020603050405020304" pitchFamily="18" charset="0"/>
              </a:rPr>
              <a:t>: {</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Surveillance</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int</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unit month, default 0]</a:t>
            </a:r>
            <a:r>
              <a:rPr lang="en-GB" sz="2000" dirty="0">
                <a:latin typeface="Times New Roman" panose="02020603050405020304" pitchFamily="18" charset="0"/>
                <a:cs typeface="Times New Roman" panose="02020603050405020304" pitchFamily="18" charset="0"/>
              </a:rPr>
              <a:t>: 0,</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Detention</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int</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unit month, default 0]</a:t>
            </a:r>
            <a:r>
              <a:rPr lang="en-GB" sz="2000" dirty="0">
                <a:latin typeface="Times New Roman" panose="02020603050405020304" pitchFamily="18" charset="0"/>
                <a:cs typeface="Times New Roman" panose="02020603050405020304" pitchFamily="18" charset="0"/>
              </a:rPr>
              <a:t>: 0,</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Imprisonment</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int</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unit month, default 0]</a:t>
            </a:r>
            <a:r>
              <a:rPr lang="en-GB" sz="2000" dirty="0">
                <a:latin typeface="Times New Roman" panose="02020603050405020304" pitchFamily="18" charset="0"/>
                <a:cs typeface="Times New Roman" panose="02020603050405020304" pitchFamily="18" charset="0"/>
              </a:rPr>
              <a:t>: 54,</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Death Penalty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[bool, default False]</a:t>
            </a:r>
            <a:r>
              <a:rPr lang="en-GB" sz="2000" dirty="0">
                <a:latin typeface="Times New Roman" panose="02020603050405020304" pitchFamily="18" charset="0"/>
                <a:cs typeface="Times New Roman" panose="02020603050405020304" pitchFamily="18" charset="0"/>
              </a:rPr>
              <a:t>: False, </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Life Imprisonment</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[bool, default False]</a:t>
            </a:r>
            <a:r>
              <a:rPr lang="en-GB" sz="2000" dirty="0">
                <a:latin typeface="Times New Roman" panose="02020603050405020304" pitchFamily="18" charset="0"/>
                <a:cs typeface="Times New Roman" panose="02020603050405020304" pitchFamily="18" charset="0"/>
              </a:rPr>
              <a:t>: False,</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Fine</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a:t>
            </a:r>
            <a:r>
              <a:rPr lang="en-GB" sz="2000" dirty="0" err="1">
                <a:solidFill>
                  <a:schemeClr val="accent1">
                    <a:lumMod val="60000"/>
                    <a:lumOff val="40000"/>
                  </a:schemeClr>
                </a:solidFill>
                <a:latin typeface="Times New Roman" panose="02020603050405020304" pitchFamily="18" charset="0"/>
                <a:cs typeface="Times New Roman" panose="02020603050405020304" pitchFamily="18" charset="0"/>
              </a:rPr>
              <a:t>int</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 unit CNY]</a:t>
            </a:r>
            <a:r>
              <a:rPr lang="en-GB" sz="2000" dirty="0">
                <a:latin typeface="Times New Roman" panose="02020603050405020304" pitchFamily="18" charset="0"/>
                <a:cs typeface="Times New Roman" panose="02020603050405020304" pitchFamily="18" charset="0"/>
              </a:rPr>
              <a:t>: 30000,</a:t>
            </a: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Fine Without Amount</a:t>
            </a:r>
            <a:r>
              <a:rPr lang="en-GB" sz="2000" dirty="0">
                <a:latin typeface="Times New Roman" panose="02020603050405020304" pitchFamily="18" charset="0"/>
                <a:cs typeface="Times New Roman" panose="02020603050405020304" pitchFamily="18" charset="0"/>
              </a:rPr>
              <a:t> </a:t>
            </a:r>
            <a:r>
              <a:rPr lang="en-GB" sz="2000" dirty="0">
                <a:solidFill>
                  <a:schemeClr val="accent1">
                    <a:lumMod val="60000"/>
                    <a:lumOff val="40000"/>
                  </a:schemeClr>
                </a:solidFill>
                <a:latin typeface="Times New Roman" panose="02020603050405020304" pitchFamily="18" charset="0"/>
                <a:cs typeface="Times New Roman" panose="02020603050405020304" pitchFamily="18" charset="0"/>
              </a:rPr>
              <a:t>[bool, default False]</a:t>
            </a:r>
            <a:r>
              <a:rPr lang="en-GB" sz="2000" dirty="0">
                <a:latin typeface="Times New Roman" panose="02020603050405020304" pitchFamily="18" charset="0"/>
                <a:cs typeface="Times New Roman" panose="02020603050405020304" pitchFamily="18" charset="0"/>
              </a:rPr>
              <a:t>: False}}]},</a:t>
            </a:r>
          </a:p>
          <a:p>
            <a:r>
              <a:rPr lang="en-GB" sz="2000" dirty="0">
                <a:latin typeface="Times New Roman" panose="02020603050405020304" pitchFamily="18" charset="0"/>
                <a:cs typeface="Times New Roman" panose="02020603050405020304" pitchFamily="18" charset="0"/>
              </a:rPr>
              <a:t>	{…}]</a:t>
            </a:r>
          </a:p>
        </p:txBody>
      </p:sp>
      <p:grpSp>
        <p:nvGrpSpPr>
          <p:cNvPr id="6" name="组合 5">
            <a:extLst>
              <a:ext uri="{FF2B5EF4-FFF2-40B4-BE49-F238E27FC236}">
                <a16:creationId xmlns:a16="http://schemas.microsoft.com/office/drawing/2014/main" id="{0C78F4C7-751A-0A49-98AC-187E679BD166}"/>
              </a:ext>
            </a:extLst>
          </p:cNvPr>
          <p:cNvGrpSpPr/>
          <p:nvPr/>
        </p:nvGrpSpPr>
        <p:grpSpPr>
          <a:xfrm>
            <a:off x="5092647" y="2125551"/>
            <a:ext cx="6518253" cy="4260399"/>
            <a:chOff x="5092647" y="2125551"/>
            <a:chExt cx="6518253" cy="4260399"/>
          </a:xfrm>
        </p:grpSpPr>
        <p:pic>
          <p:nvPicPr>
            <p:cNvPr id="4" name="图片 3">
              <a:extLst>
                <a:ext uri="{FF2B5EF4-FFF2-40B4-BE49-F238E27FC236}">
                  <a16:creationId xmlns:a16="http://schemas.microsoft.com/office/drawing/2014/main" id="{21DDD0AF-2A5D-6F46-B3DF-75E6ABBDC4F9}"/>
                </a:ext>
              </a:extLst>
            </p:cNvPr>
            <p:cNvPicPr>
              <a:picLocks noChangeAspect="1"/>
            </p:cNvPicPr>
            <p:nvPr/>
          </p:nvPicPr>
          <p:blipFill>
            <a:blip r:embed="rId3"/>
            <a:stretch>
              <a:fillRect/>
            </a:stretch>
          </p:blipFill>
          <p:spPr>
            <a:xfrm>
              <a:off x="5092647" y="2125551"/>
              <a:ext cx="6518253" cy="3954111"/>
            </a:xfrm>
            <a:prstGeom prst="rect">
              <a:avLst/>
            </a:prstGeom>
          </p:spPr>
        </p:pic>
        <p:sp>
          <p:nvSpPr>
            <p:cNvPr id="16" name="文本框 15">
              <a:extLst>
                <a:ext uri="{FF2B5EF4-FFF2-40B4-BE49-F238E27FC236}">
                  <a16:creationId xmlns:a16="http://schemas.microsoft.com/office/drawing/2014/main" id="{CAF6DEFB-2368-E74D-8008-A84755F18E6B}"/>
                </a:ext>
              </a:extLst>
            </p:cNvPr>
            <p:cNvSpPr txBox="1"/>
            <p:nvPr/>
          </p:nvSpPr>
          <p:spPr>
            <a:xfrm>
              <a:off x="6756164" y="6078173"/>
              <a:ext cx="3264847" cy="307777"/>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Figure 4: CMDL data example.</a:t>
              </a:r>
            </a:p>
          </p:txBody>
        </p:sp>
      </p:grpSp>
      <p:sp>
        <p:nvSpPr>
          <p:cNvPr id="18" name="Google Shape;64;p13">
            <a:extLst>
              <a:ext uri="{FF2B5EF4-FFF2-40B4-BE49-F238E27FC236}">
                <a16:creationId xmlns:a16="http://schemas.microsoft.com/office/drawing/2014/main" id="{08F7267D-A7BC-F640-A8BA-4D14997D474E}"/>
              </a:ext>
            </a:extLst>
          </p:cNvPr>
          <p:cNvSpPr txBox="1"/>
          <p:nvPr/>
        </p:nvSpPr>
        <p:spPr>
          <a:xfrm>
            <a:off x="276300" y="2924677"/>
            <a:ext cx="4710228" cy="784790"/>
          </a:xfrm>
          <a:prstGeom prst="rect">
            <a:avLst/>
          </a:prstGeom>
          <a:noFill/>
          <a:ln>
            <a:noFill/>
          </a:ln>
        </p:spPr>
        <p:txBody>
          <a:bodyPr spcFirstLastPara="1" wrap="square" lIns="91425" tIns="45700" rIns="91425" bIns="45700" anchor="t" anchorCtr="0">
            <a:spAutoFit/>
          </a:bodyPr>
          <a:lstStyle/>
          <a:p>
            <a:pPr marL="457200" indent="-355600">
              <a:spcBef>
                <a:spcPts val="600"/>
              </a:spcBef>
              <a:buSzPts val="2000"/>
              <a:buFont typeface="Times"/>
              <a:buChar char="●"/>
            </a:pPr>
            <a:r>
              <a:rPr lang="en-US" altLang="zh-CN" sz="2000" dirty="0">
                <a:latin typeface="Times"/>
                <a:ea typeface="Times"/>
                <a:cs typeface="Times"/>
                <a:sym typeface="Times"/>
              </a:rPr>
              <a:t>An example of a case in the dataset is shown in Figure 4 .</a:t>
            </a:r>
          </a:p>
        </p:txBody>
      </p:sp>
    </p:spTree>
    <p:extLst>
      <p:ext uri="{BB962C8B-B14F-4D97-AF65-F5344CB8AC3E}">
        <p14:creationId xmlns:p14="http://schemas.microsoft.com/office/powerpoint/2010/main" val="1997367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78"/>
        <p:cNvGrpSpPr/>
        <p:nvPr/>
      </p:nvGrpSpPr>
      <p:grpSpPr>
        <a:xfrm>
          <a:off x="0" y="0"/>
          <a:ext cx="0" cy="0"/>
          <a:chOff x="0" y="0"/>
          <a:chExt cx="0" cy="0"/>
        </a:xfrm>
      </p:grpSpPr>
      <p:sp>
        <p:nvSpPr>
          <p:cNvPr id="79" name="Google Shape;79;p15"/>
          <p:cNvSpPr txBox="1"/>
          <p:nvPr/>
        </p:nvSpPr>
        <p:spPr>
          <a:xfrm>
            <a:off x="2423693" y="188731"/>
            <a:ext cx="8544649"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altLang="zh-CN" sz="2800" b="1" dirty="0">
                <a:solidFill>
                  <a:schemeClr val="tx1"/>
                </a:solidFill>
                <a:latin typeface="Times"/>
                <a:ea typeface="Times"/>
                <a:cs typeface="Times"/>
                <a:sym typeface="Times"/>
              </a:rPr>
              <a:t>Hierarchical Case Categorization</a:t>
            </a:r>
            <a:endParaRPr sz="2800" b="1" i="0" u="none" strike="noStrike" cap="none" dirty="0">
              <a:solidFill>
                <a:schemeClr val="tx1"/>
              </a:solidFill>
              <a:latin typeface="Microsoft Yahei"/>
              <a:ea typeface="Microsoft Yahei"/>
              <a:cs typeface="Microsoft Yahei"/>
              <a:sym typeface="Microsoft Yahei"/>
            </a:endParaRPr>
          </a:p>
        </p:txBody>
      </p:sp>
      <p:grpSp>
        <p:nvGrpSpPr>
          <p:cNvPr id="4" name="组合 3">
            <a:extLst>
              <a:ext uri="{FF2B5EF4-FFF2-40B4-BE49-F238E27FC236}">
                <a16:creationId xmlns:a16="http://schemas.microsoft.com/office/drawing/2014/main" id="{E3FD711D-ABC4-9549-AFD4-1F1C61692701}"/>
              </a:ext>
            </a:extLst>
          </p:cNvPr>
          <p:cNvGrpSpPr/>
          <p:nvPr/>
        </p:nvGrpSpPr>
        <p:grpSpPr>
          <a:xfrm>
            <a:off x="2569974" y="1502664"/>
            <a:ext cx="7052052" cy="3355777"/>
            <a:chOff x="5025390" y="2551176"/>
            <a:chExt cx="7052052" cy="3355777"/>
          </a:xfrm>
        </p:grpSpPr>
        <p:pic>
          <p:nvPicPr>
            <p:cNvPr id="3" name="图片 2">
              <a:extLst>
                <a:ext uri="{FF2B5EF4-FFF2-40B4-BE49-F238E27FC236}">
                  <a16:creationId xmlns:a16="http://schemas.microsoft.com/office/drawing/2014/main" id="{0488824D-FC15-C344-8EEC-6E0529D3496D}"/>
                </a:ext>
              </a:extLst>
            </p:cNvPr>
            <p:cNvPicPr>
              <a:picLocks noChangeAspect="1"/>
            </p:cNvPicPr>
            <p:nvPr/>
          </p:nvPicPr>
          <p:blipFill>
            <a:blip r:embed="rId3"/>
            <a:stretch>
              <a:fillRect/>
            </a:stretch>
          </p:blipFill>
          <p:spPr>
            <a:xfrm>
              <a:off x="5025390" y="2551176"/>
              <a:ext cx="6286500" cy="3048000"/>
            </a:xfrm>
            <a:prstGeom prst="rect">
              <a:avLst/>
            </a:prstGeom>
          </p:spPr>
        </p:pic>
        <p:sp>
          <p:nvSpPr>
            <p:cNvPr id="7" name="文本框 6">
              <a:extLst>
                <a:ext uri="{FF2B5EF4-FFF2-40B4-BE49-F238E27FC236}">
                  <a16:creationId xmlns:a16="http://schemas.microsoft.com/office/drawing/2014/main" id="{F3AA63EB-12F2-494F-A561-D33DCA753C7B}"/>
                </a:ext>
              </a:extLst>
            </p:cNvPr>
            <p:cNvSpPr txBox="1"/>
            <p:nvPr/>
          </p:nvSpPr>
          <p:spPr>
            <a:xfrm>
              <a:off x="6696017" y="5599176"/>
              <a:ext cx="5381425" cy="307777"/>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Figure 4: Hierarchical case categorization.</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85"/>
        <p:cNvGrpSpPr/>
        <p:nvPr/>
      </p:nvGrpSpPr>
      <p:grpSpPr>
        <a:xfrm>
          <a:off x="0" y="0"/>
          <a:ext cx="0" cy="0"/>
          <a:chOff x="0" y="0"/>
          <a:chExt cx="0" cy="0"/>
        </a:xfrm>
      </p:grpSpPr>
      <p:sp>
        <p:nvSpPr>
          <p:cNvPr id="86" name="Google Shape;86;p16"/>
          <p:cNvSpPr txBox="1"/>
          <p:nvPr/>
        </p:nvSpPr>
        <p:spPr>
          <a:xfrm>
            <a:off x="2423693" y="188731"/>
            <a:ext cx="85446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altLang="zh-CN" sz="2800" b="1" dirty="0">
                <a:solidFill>
                  <a:schemeClr val="tx1"/>
                </a:solidFill>
                <a:latin typeface="Times"/>
                <a:ea typeface="Times"/>
                <a:cs typeface="Times"/>
                <a:sym typeface="Times"/>
              </a:rPr>
              <a:t>Dataset Statistics</a:t>
            </a:r>
            <a:endParaRPr sz="2800" b="1" i="0" u="none" strike="noStrike" cap="none" dirty="0">
              <a:solidFill>
                <a:schemeClr val="tx1"/>
              </a:solidFill>
              <a:latin typeface="Microsoft Yahei"/>
              <a:ea typeface="Microsoft Yahei"/>
              <a:cs typeface="Microsoft Yahei"/>
              <a:sym typeface="Microsoft Yahei"/>
            </a:endParaRPr>
          </a:p>
        </p:txBody>
      </p:sp>
      <p:pic>
        <p:nvPicPr>
          <p:cNvPr id="3" name="图片 2">
            <a:extLst>
              <a:ext uri="{FF2B5EF4-FFF2-40B4-BE49-F238E27FC236}">
                <a16:creationId xmlns:a16="http://schemas.microsoft.com/office/drawing/2014/main" id="{3C9BC5B7-004A-4841-B0FE-15F7C6B4803D}"/>
              </a:ext>
            </a:extLst>
          </p:cNvPr>
          <p:cNvPicPr>
            <a:picLocks noChangeAspect="1"/>
          </p:cNvPicPr>
          <p:nvPr/>
        </p:nvPicPr>
        <p:blipFill>
          <a:blip r:embed="rId3"/>
          <a:stretch>
            <a:fillRect/>
          </a:stretch>
        </p:blipFill>
        <p:spPr>
          <a:xfrm>
            <a:off x="1082802" y="2014656"/>
            <a:ext cx="4506199" cy="3662934"/>
          </a:xfrm>
          <a:prstGeom prst="rect">
            <a:avLst/>
          </a:prstGeom>
        </p:spPr>
      </p:pic>
      <p:sp>
        <p:nvSpPr>
          <p:cNvPr id="8" name="文本框 7">
            <a:extLst>
              <a:ext uri="{FF2B5EF4-FFF2-40B4-BE49-F238E27FC236}">
                <a16:creationId xmlns:a16="http://schemas.microsoft.com/office/drawing/2014/main" id="{ABE5CA54-A3AB-9743-ADB4-E1AAB267805A}"/>
              </a:ext>
            </a:extLst>
          </p:cNvPr>
          <p:cNvSpPr txBox="1"/>
          <p:nvPr/>
        </p:nvSpPr>
        <p:spPr>
          <a:xfrm>
            <a:off x="2037860" y="5677590"/>
            <a:ext cx="3264847" cy="307777"/>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Table 1: Statistics of CMDL.</a:t>
            </a:r>
          </a:p>
        </p:txBody>
      </p:sp>
      <p:grpSp>
        <p:nvGrpSpPr>
          <p:cNvPr id="6" name="组合 5">
            <a:extLst>
              <a:ext uri="{FF2B5EF4-FFF2-40B4-BE49-F238E27FC236}">
                <a16:creationId xmlns:a16="http://schemas.microsoft.com/office/drawing/2014/main" id="{1BF12FB1-E3E4-0F4C-A48C-6D8D575A3FE4}"/>
              </a:ext>
            </a:extLst>
          </p:cNvPr>
          <p:cNvGrpSpPr/>
          <p:nvPr/>
        </p:nvGrpSpPr>
        <p:grpSpPr>
          <a:xfrm>
            <a:off x="6431018" y="2014656"/>
            <a:ext cx="5563852" cy="3756647"/>
            <a:chOff x="6431018" y="1920943"/>
            <a:chExt cx="5563852" cy="3756647"/>
          </a:xfrm>
        </p:grpSpPr>
        <p:pic>
          <p:nvPicPr>
            <p:cNvPr id="5" name="图片 4">
              <a:extLst>
                <a:ext uri="{FF2B5EF4-FFF2-40B4-BE49-F238E27FC236}">
                  <a16:creationId xmlns:a16="http://schemas.microsoft.com/office/drawing/2014/main" id="{BDB8EF29-FE14-804D-AF3F-CF4EC9D96FBC}"/>
                </a:ext>
              </a:extLst>
            </p:cNvPr>
            <p:cNvPicPr>
              <a:picLocks noChangeAspect="1"/>
            </p:cNvPicPr>
            <p:nvPr/>
          </p:nvPicPr>
          <p:blipFill>
            <a:blip r:embed="rId4"/>
            <a:stretch>
              <a:fillRect/>
            </a:stretch>
          </p:blipFill>
          <p:spPr>
            <a:xfrm>
              <a:off x="6431018" y="1920943"/>
              <a:ext cx="5043940" cy="3234807"/>
            </a:xfrm>
            <a:prstGeom prst="rect">
              <a:avLst/>
            </a:prstGeom>
          </p:spPr>
        </p:pic>
        <p:sp>
          <p:nvSpPr>
            <p:cNvPr id="9" name="文本框 8">
              <a:extLst>
                <a:ext uri="{FF2B5EF4-FFF2-40B4-BE49-F238E27FC236}">
                  <a16:creationId xmlns:a16="http://schemas.microsoft.com/office/drawing/2014/main" id="{D2EC565D-9580-FF42-B35B-5A2768E7CF3F}"/>
                </a:ext>
              </a:extLst>
            </p:cNvPr>
            <p:cNvSpPr txBox="1"/>
            <p:nvPr/>
          </p:nvSpPr>
          <p:spPr>
            <a:xfrm>
              <a:off x="6431018" y="5369813"/>
              <a:ext cx="5563852" cy="307777"/>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Figure 5: The distribution of top-100 frequent charges in our dataset.</a:t>
              </a:r>
            </a:p>
          </p:txBody>
        </p:sp>
      </p:grpSp>
      <p:sp>
        <p:nvSpPr>
          <p:cNvPr id="11" name="Google Shape;64;p13">
            <a:extLst>
              <a:ext uri="{FF2B5EF4-FFF2-40B4-BE49-F238E27FC236}">
                <a16:creationId xmlns:a16="http://schemas.microsoft.com/office/drawing/2014/main" id="{9A7502B4-C310-5040-8F3D-04BD46B31B4F}"/>
              </a:ext>
            </a:extLst>
          </p:cNvPr>
          <p:cNvSpPr txBox="1"/>
          <p:nvPr/>
        </p:nvSpPr>
        <p:spPr>
          <a:xfrm>
            <a:off x="276300" y="1026336"/>
            <a:ext cx="11334600" cy="477013"/>
          </a:xfrm>
          <a:prstGeom prst="rect">
            <a:avLst/>
          </a:prstGeom>
          <a:noFill/>
          <a:ln>
            <a:noFill/>
          </a:ln>
        </p:spPr>
        <p:txBody>
          <a:bodyPr spcFirstLastPara="1" wrap="square" lIns="91425" tIns="45700" rIns="91425" bIns="45700" anchor="t" anchorCtr="0">
            <a:spAutoFit/>
          </a:bodyPr>
          <a:lstStyle/>
          <a:p>
            <a:pPr marL="457200" indent="-355600" algn="just">
              <a:spcBef>
                <a:spcPts val="600"/>
              </a:spcBef>
              <a:buSzPts val="2000"/>
              <a:buFont typeface="Times"/>
              <a:buChar char="●"/>
            </a:pPr>
            <a:r>
              <a:rPr lang="en-US" altLang="zh-CN" sz="2000" dirty="0">
                <a:latin typeface="Times"/>
                <a:ea typeface="Times"/>
                <a:cs typeface="Times"/>
                <a:sym typeface="Times"/>
              </a:rPr>
              <a:t>The CMDL dataset consists of 393,945 criminal cases involving nearly 1.2 million defendants in total.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91"/>
        <p:cNvGrpSpPr/>
        <p:nvPr/>
      </p:nvGrpSpPr>
      <p:grpSpPr>
        <a:xfrm>
          <a:off x="0" y="0"/>
          <a:ext cx="0" cy="0"/>
          <a:chOff x="0" y="0"/>
          <a:chExt cx="0" cy="0"/>
        </a:xfrm>
      </p:grpSpPr>
      <p:sp>
        <p:nvSpPr>
          <p:cNvPr id="92" name="Google Shape;92;p17"/>
          <p:cNvSpPr txBox="1"/>
          <p:nvPr/>
        </p:nvSpPr>
        <p:spPr>
          <a:xfrm>
            <a:off x="2423700" y="188725"/>
            <a:ext cx="95616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altLang="zh-CN" sz="2800" b="1" dirty="0">
                <a:solidFill>
                  <a:schemeClr val="tx1"/>
                </a:solidFill>
                <a:latin typeface="Times"/>
                <a:ea typeface="Times"/>
                <a:cs typeface="Times"/>
                <a:sym typeface="Times"/>
              </a:rPr>
              <a:t>Evaluation Setting</a:t>
            </a:r>
            <a:endParaRPr sz="2800" b="1" i="0" u="none" strike="noStrike" cap="none" dirty="0">
              <a:solidFill>
                <a:schemeClr val="tx1"/>
              </a:solidFill>
              <a:latin typeface="Microsoft Yahei"/>
              <a:ea typeface="Microsoft Yahei"/>
              <a:cs typeface="Microsoft Yahei"/>
              <a:sym typeface="Microsoft Yahei"/>
            </a:endParaRPr>
          </a:p>
        </p:txBody>
      </p:sp>
      <p:sp>
        <p:nvSpPr>
          <p:cNvPr id="94" name="Google Shape;94;p17" descr="\lnot "/>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 name="Google Shape;64;p13">
            <a:extLst>
              <a:ext uri="{FF2B5EF4-FFF2-40B4-BE49-F238E27FC236}">
                <a16:creationId xmlns:a16="http://schemas.microsoft.com/office/drawing/2014/main" id="{A0460A43-BF20-194B-812D-C6DA9EEF789E}"/>
              </a:ext>
            </a:extLst>
          </p:cNvPr>
          <p:cNvSpPr txBox="1"/>
          <p:nvPr/>
        </p:nvSpPr>
        <p:spPr>
          <a:xfrm>
            <a:off x="276300" y="1026336"/>
            <a:ext cx="11334600" cy="477013"/>
          </a:xfrm>
          <a:prstGeom prst="rect">
            <a:avLst/>
          </a:prstGeom>
          <a:noFill/>
          <a:ln>
            <a:noFill/>
          </a:ln>
        </p:spPr>
        <p:txBody>
          <a:bodyPr spcFirstLastPara="1" wrap="square" lIns="91425" tIns="45700" rIns="91425" bIns="45700" anchor="t" anchorCtr="0">
            <a:spAutoFit/>
          </a:bodyPr>
          <a:lstStyle/>
          <a:p>
            <a:pPr marL="457200" indent="-355600" algn="just">
              <a:spcBef>
                <a:spcPts val="600"/>
              </a:spcBef>
              <a:buSzPts val="2000"/>
              <a:buFont typeface="Times"/>
              <a:buChar char="●"/>
            </a:pPr>
            <a:r>
              <a:rPr lang="en-US" altLang="zh-CN" sz="2000" dirty="0">
                <a:latin typeface="Times"/>
                <a:ea typeface="Times"/>
                <a:cs typeface="Times"/>
                <a:sym typeface="Times"/>
              </a:rPr>
              <a:t>This paper evaluates LJP models’ ability for multi-defendant cases with two sets of metrics:</a:t>
            </a:r>
          </a:p>
        </p:txBody>
      </p:sp>
      <p:sp>
        <p:nvSpPr>
          <p:cNvPr id="6" name="Google Shape;64;p13">
            <a:extLst>
              <a:ext uri="{FF2B5EF4-FFF2-40B4-BE49-F238E27FC236}">
                <a16:creationId xmlns:a16="http://schemas.microsoft.com/office/drawing/2014/main" id="{5CBAE533-BA62-984E-B278-1CC5B92F3CC9}"/>
              </a:ext>
            </a:extLst>
          </p:cNvPr>
          <p:cNvSpPr txBox="1"/>
          <p:nvPr/>
        </p:nvSpPr>
        <p:spPr>
          <a:xfrm>
            <a:off x="650700" y="1360044"/>
            <a:ext cx="11334600" cy="800179"/>
          </a:xfrm>
          <a:prstGeom prst="rect">
            <a:avLst/>
          </a:prstGeom>
          <a:noFill/>
          <a:ln>
            <a:noFill/>
          </a:ln>
        </p:spPr>
        <p:txBody>
          <a:bodyPr spcFirstLastPara="1" wrap="square" lIns="91425" tIns="45700" rIns="91425" bIns="45700" anchor="t" anchorCtr="0">
            <a:spAutoFit/>
          </a:bodyPr>
          <a:lstStyle/>
          <a:p>
            <a:pPr marL="558800" indent="-457200" algn="just">
              <a:spcBef>
                <a:spcPts val="600"/>
              </a:spcBef>
              <a:buSzPts val="2000"/>
              <a:buFont typeface="+mj-lt"/>
              <a:buAutoNum type="arabicPeriod"/>
            </a:pPr>
            <a:r>
              <a:rPr lang="en-US" altLang="zh-CN" sz="1800" dirty="0">
                <a:latin typeface="Times"/>
                <a:ea typeface="Times"/>
                <a:cs typeface="Times"/>
                <a:sym typeface="Times"/>
              </a:rPr>
              <a:t>Defendant-level metrics: Accuracy, Macro-Precision, Macro-Recall, and Macro-F1.</a:t>
            </a:r>
          </a:p>
          <a:p>
            <a:pPr marL="558800" indent="-457200" algn="just">
              <a:spcBef>
                <a:spcPts val="600"/>
              </a:spcBef>
              <a:buSzPts val="2000"/>
              <a:buFont typeface="+mj-lt"/>
              <a:buAutoNum type="arabicPeriod"/>
            </a:pPr>
            <a:r>
              <a:rPr lang="en-US" altLang="zh-CN" sz="1800" dirty="0">
                <a:latin typeface="Times"/>
                <a:ea typeface="Times"/>
                <a:cs typeface="Times"/>
                <a:sym typeface="Times"/>
              </a:rPr>
              <a:t>Case-level metrics: Accuracy, Precision, Recall, and F1.</a:t>
            </a:r>
          </a:p>
        </p:txBody>
      </p:sp>
      <p:sp>
        <p:nvSpPr>
          <p:cNvPr id="7" name="Google Shape;64;p13">
            <a:extLst>
              <a:ext uri="{FF2B5EF4-FFF2-40B4-BE49-F238E27FC236}">
                <a16:creationId xmlns:a16="http://schemas.microsoft.com/office/drawing/2014/main" id="{F3148A93-0ED4-544E-910D-4BA06A072F6B}"/>
              </a:ext>
            </a:extLst>
          </p:cNvPr>
          <p:cNvSpPr txBox="1"/>
          <p:nvPr/>
        </p:nvSpPr>
        <p:spPr>
          <a:xfrm>
            <a:off x="1025100" y="2047695"/>
            <a:ext cx="10516200" cy="723235"/>
          </a:xfrm>
          <a:prstGeom prst="rect">
            <a:avLst/>
          </a:prstGeom>
          <a:noFill/>
          <a:ln>
            <a:noFill/>
          </a:ln>
        </p:spPr>
        <p:txBody>
          <a:bodyPr spcFirstLastPara="1" wrap="square" lIns="91425" tIns="45700" rIns="91425" bIns="45700" anchor="t" anchorCtr="0">
            <a:spAutoFit/>
          </a:bodyPr>
          <a:lstStyle/>
          <a:p>
            <a:pPr marL="387350" indent="-285750" algn="just">
              <a:spcBef>
                <a:spcPts val="600"/>
              </a:spcBef>
              <a:buSzPts val="2000"/>
              <a:buFont typeface="Arial" panose="020B0604020202020204" pitchFamily="34" charset="0"/>
              <a:buChar char="•"/>
            </a:pPr>
            <a:r>
              <a:rPr lang="en-US" altLang="zh-CN" sz="1800" dirty="0">
                <a:latin typeface="Times"/>
                <a:ea typeface="Times"/>
                <a:cs typeface="Times"/>
                <a:sym typeface="Times"/>
              </a:rPr>
              <a:t>Final scores are weighted by the number of defendants in each case. And for individual cases, the score for each metric is determined by averaging the respective defendant-level metrics for all defendants involved.</a:t>
            </a:r>
          </a:p>
        </p:txBody>
      </p:sp>
      <p:sp>
        <p:nvSpPr>
          <p:cNvPr id="8" name="Google Shape;64;p13">
            <a:extLst>
              <a:ext uri="{FF2B5EF4-FFF2-40B4-BE49-F238E27FC236}">
                <a16:creationId xmlns:a16="http://schemas.microsoft.com/office/drawing/2014/main" id="{68B02A3A-0089-2A40-BD12-75126344B910}"/>
              </a:ext>
            </a:extLst>
          </p:cNvPr>
          <p:cNvSpPr txBox="1"/>
          <p:nvPr/>
        </p:nvSpPr>
        <p:spPr>
          <a:xfrm>
            <a:off x="276300" y="3047928"/>
            <a:ext cx="11334600" cy="477013"/>
          </a:xfrm>
          <a:prstGeom prst="rect">
            <a:avLst/>
          </a:prstGeom>
          <a:noFill/>
          <a:ln>
            <a:noFill/>
          </a:ln>
        </p:spPr>
        <p:txBody>
          <a:bodyPr spcFirstLastPara="1" wrap="square" lIns="91425" tIns="45700" rIns="91425" bIns="45700" anchor="t" anchorCtr="0">
            <a:spAutoFit/>
          </a:bodyPr>
          <a:lstStyle/>
          <a:p>
            <a:pPr marL="457200" indent="-355600" algn="just">
              <a:spcBef>
                <a:spcPts val="600"/>
              </a:spcBef>
              <a:buSzPts val="2000"/>
              <a:buFont typeface="Times"/>
              <a:buChar char="●"/>
            </a:pPr>
            <a:r>
              <a:rPr lang="en-US" altLang="zh-CN" sz="2000" dirty="0">
                <a:latin typeface="Times"/>
                <a:ea typeface="Times"/>
                <a:cs typeface="Times"/>
                <a:sym typeface="Times"/>
              </a:rPr>
              <a:t>Baselines: </a:t>
            </a:r>
            <a:r>
              <a:rPr lang="en-US" altLang="zh-CN" sz="2000" dirty="0" err="1">
                <a:latin typeface="Times"/>
                <a:ea typeface="Times"/>
                <a:cs typeface="Times"/>
                <a:sym typeface="Times"/>
              </a:rPr>
              <a:t>TopJudge</a:t>
            </a:r>
            <a:r>
              <a:rPr lang="en-US" altLang="zh-CN" sz="2000" dirty="0">
                <a:latin typeface="Times"/>
                <a:ea typeface="Times"/>
                <a:cs typeface="Times"/>
                <a:sym typeface="Times"/>
              </a:rPr>
              <a:t>, </a:t>
            </a:r>
            <a:r>
              <a:rPr lang="en-US" altLang="zh-CN" sz="2000" dirty="0" err="1">
                <a:latin typeface="Times"/>
                <a:ea typeface="Times"/>
                <a:cs typeface="Times"/>
                <a:sym typeface="Times"/>
              </a:rPr>
              <a:t>NeurJudge</a:t>
            </a:r>
            <a:r>
              <a:rPr lang="en-US" altLang="zh-CN" sz="2000" dirty="0">
                <a:latin typeface="Times"/>
                <a:ea typeface="Times"/>
                <a:cs typeface="Times"/>
                <a:sym typeface="Times"/>
              </a:rPr>
              <a:t>, BERT, LEGAL-BERT-SC, </a:t>
            </a:r>
            <a:r>
              <a:rPr lang="en-US" altLang="zh-CN" sz="2000" dirty="0" err="1">
                <a:latin typeface="Times"/>
                <a:ea typeface="Times"/>
                <a:cs typeface="Times"/>
                <a:sym typeface="Times"/>
              </a:rPr>
              <a:t>Lawformer</a:t>
            </a:r>
            <a:r>
              <a:rPr lang="en-US" altLang="zh-CN" sz="2000" dirty="0">
                <a:latin typeface="Times"/>
                <a:ea typeface="Times"/>
                <a:cs typeface="Times"/>
                <a:sym typeface="Times"/>
              </a:rPr>
              <a:t>, Dependant-T5, MAMD.</a:t>
            </a:r>
          </a:p>
        </p:txBody>
      </p:sp>
      <p:sp>
        <p:nvSpPr>
          <p:cNvPr id="9" name="Google Shape;64;p13">
            <a:extLst>
              <a:ext uri="{FF2B5EF4-FFF2-40B4-BE49-F238E27FC236}">
                <a16:creationId xmlns:a16="http://schemas.microsoft.com/office/drawing/2014/main" id="{C992A237-F67E-DD40-B17D-13C607653D76}"/>
              </a:ext>
            </a:extLst>
          </p:cNvPr>
          <p:cNvSpPr txBox="1"/>
          <p:nvPr/>
        </p:nvSpPr>
        <p:spPr>
          <a:xfrm>
            <a:off x="276300" y="3607237"/>
            <a:ext cx="11334600" cy="477013"/>
          </a:xfrm>
          <a:prstGeom prst="rect">
            <a:avLst/>
          </a:prstGeom>
          <a:noFill/>
          <a:ln>
            <a:noFill/>
          </a:ln>
        </p:spPr>
        <p:txBody>
          <a:bodyPr spcFirstLastPara="1" wrap="square" lIns="91425" tIns="45700" rIns="91425" bIns="45700" anchor="t" anchorCtr="0">
            <a:spAutoFit/>
          </a:bodyPr>
          <a:lstStyle/>
          <a:p>
            <a:pPr marL="457200" indent="-355600" algn="just">
              <a:spcBef>
                <a:spcPts val="600"/>
              </a:spcBef>
              <a:buSzPts val="2000"/>
              <a:buFont typeface="Times"/>
              <a:buChar char="●"/>
            </a:pPr>
            <a:r>
              <a:rPr lang="en-US" altLang="zh-CN" sz="2000" dirty="0">
                <a:latin typeface="Times"/>
                <a:ea typeface="Times"/>
                <a:cs typeface="Times"/>
                <a:sym typeface="Times"/>
              </a:rPr>
              <a:t>Experimental Settings</a:t>
            </a:r>
          </a:p>
        </p:txBody>
      </p:sp>
      <p:sp>
        <p:nvSpPr>
          <p:cNvPr id="11" name="Google Shape;64;p13">
            <a:extLst>
              <a:ext uri="{FF2B5EF4-FFF2-40B4-BE49-F238E27FC236}">
                <a16:creationId xmlns:a16="http://schemas.microsoft.com/office/drawing/2014/main" id="{FEDE373E-40F1-174C-BACD-64CB41C68BF9}"/>
              </a:ext>
            </a:extLst>
          </p:cNvPr>
          <p:cNvSpPr txBox="1"/>
          <p:nvPr/>
        </p:nvSpPr>
        <p:spPr>
          <a:xfrm>
            <a:off x="650700" y="4012556"/>
            <a:ext cx="11334600" cy="800179"/>
          </a:xfrm>
          <a:prstGeom prst="rect">
            <a:avLst/>
          </a:prstGeom>
          <a:noFill/>
          <a:ln>
            <a:noFill/>
          </a:ln>
        </p:spPr>
        <p:txBody>
          <a:bodyPr spcFirstLastPara="1" wrap="square" lIns="91425" tIns="45700" rIns="91425" bIns="45700" anchor="t" anchorCtr="0">
            <a:spAutoFit/>
          </a:bodyPr>
          <a:lstStyle/>
          <a:p>
            <a:pPr marL="558800" indent="-457200" algn="just">
              <a:spcBef>
                <a:spcPts val="600"/>
              </a:spcBef>
              <a:buSzPts val="2000"/>
              <a:buFont typeface="+mj-lt"/>
              <a:buAutoNum type="arabicPeriod"/>
            </a:pPr>
            <a:r>
              <a:rPr lang="en-US" altLang="zh-CN" sz="1800" dirty="0">
                <a:latin typeface="Times"/>
                <a:ea typeface="Times"/>
                <a:cs typeface="Times"/>
                <a:sym typeface="Times"/>
              </a:rPr>
              <a:t>Defendant-level results on CMDL-small article-level law prediction and paragraph-level law prediction.</a:t>
            </a:r>
          </a:p>
          <a:p>
            <a:pPr marL="558800" indent="-457200" algn="just">
              <a:spcBef>
                <a:spcPts val="600"/>
              </a:spcBef>
              <a:buSzPts val="2000"/>
              <a:buFont typeface="+mj-lt"/>
              <a:buAutoNum type="arabicPeriod"/>
            </a:pPr>
            <a:r>
              <a:rPr lang="en-US" altLang="zh-CN" sz="1800" dirty="0">
                <a:latin typeface="Times"/>
                <a:ea typeface="Times"/>
                <a:cs typeface="Times"/>
                <a:sym typeface="Times"/>
              </a:rPr>
              <a:t>Case-level results on CMDL-small.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12"/>
        <p:cNvGrpSpPr/>
        <p:nvPr/>
      </p:nvGrpSpPr>
      <p:grpSpPr>
        <a:xfrm>
          <a:off x="0" y="0"/>
          <a:ext cx="0" cy="0"/>
          <a:chOff x="0" y="0"/>
          <a:chExt cx="0" cy="0"/>
        </a:xfrm>
      </p:grpSpPr>
      <p:sp>
        <p:nvSpPr>
          <p:cNvPr id="113" name="Google Shape;113;p20"/>
          <p:cNvSpPr txBox="1"/>
          <p:nvPr/>
        </p:nvSpPr>
        <p:spPr>
          <a:xfrm>
            <a:off x="2423693" y="188731"/>
            <a:ext cx="85446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altLang="zh-CN" sz="2800" b="1" dirty="0">
                <a:solidFill>
                  <a:schemeClr val="tx1"/>
                </a:solidFill>
                <a:latin typeface="Times"/>
                <a:ea typeface="Times"/>
                <a:cs typeface="Times"/>
                <a:sym typeface="Times"/>
              </a:rPr>
              <a:t>Experimental Results</a:t>
            </a:r>
            <a:endParaRPr sz="2800" b="1" i="0" u="none" strike="noStrike" cap="none" dirty="0">
              <a:solidFill>
                <a:schemeClr val="tx1"/>
              </a:solidFill>
              <a:latin typeface="Microsoft Yahei"/>
              <a:ea typeface="Microsoft Yahei"/>
              <a:cs typeface="Microsoft Yahei"/>
              <a:sym typeface="Microsoft Yahei"/>
            </a:endParaRPr>
          </a:p>
        </p:txBody>
      </p:sp>
      <p:sp>
        <p:nvSpPr>
          <p:cNvPr id="114" name="Google Shape;114;p20"/>
          <p:cNvSpPr txBox="1"/>
          <p:nvPr/>
        </p:nvSpPr>
        <p:spPr>
          <a:xfrm>
            <a:off x="428709" y="1217614"/>
            <a:ext cx="11334600" cy="4002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1200"/>
              </a:spcAft>
              <a:buNone/>
            </a:pPr>
            <a:endParaRPr sz="2000">
              <a:latin typeface="Times"/>
              <a:ea typeface="Times"/>
              <a:cs typeface="Times"/>
              <a:sym typeface="Times"/>
            </a:endParaRPr>
          </a:p>
        </p:txBody>
      </p:sp>
      <p:pic>
        <p:nvPicPr>
          <p:cNvPr id="9" name="图片 8">
            <a:extLst>
              <a:ext uri="{FF2B5EF4-FFF2-40B4-BE49-F238E27FC236}">
                <a16:creationId xmlns:a16="http://schemas.microsoft.com/office/drawing/2014/main" id="{7BF89D05-0CF4-9C4E-92CD-2E93F1DA7D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67143" y="22336975"/>
            <a:ext cx="12311558" cy="3368367"/>
          </a:xfrm>
          <a:prstGeom prst="rect">
            <a:avLst/>
          </a:prstGeom>
        </p:spPr>
      </p:pic>
      <p:pic>
        <p:nvPicPr>
          <p:cNvPr id="3" name="图片 2">
            <a:extLst>
              <a:ext uri="{FF2B5EF4-FFF2-40B4-BE49-F238E27FC236}">
                <a16:creationId xmlns:a16="http://schemas.microsoft.com/office/drawing/2014/main" id="{14EF2C59-0B8B-2746-A445-CC061BE0CE4C}"/>
              </a:ext>
            </a:extLst>
          </p:cNvPr>
          <p:cNvPicPr>
            <a:picLocks noChangeAspect="1"/>
          </p:cNvPicPr>
          <p:nvPr/>
        </p:nvPicPr>
        <p:blipFill>
          <a:blip r:embed="rId4"/>
          <a:stretch>
            <a:fillRect/>
          </a:stretch>
        </p:blipFill>
        <p:spPr>
          <a:xfrm>
            <a:off x="1060704" y="1000026"/>
            <a:ext cx="10070592" cy="2784053"/>
          </a:xfrm>
          <a:prstGeom prst="rect">
            <a:avLst/>
          </a:prstGeom>
        </p:spPr>
      </p:pic>
      <p:pic>
        <p:nvPicPr>
          <p:cNvPr id="10" name="图片 9">
            <a:extLst>
              <a:ext uri="{FF2B5EF4-FFF2-40B4-BE49-F238E27FC236}">
                <a16:creationId xmlns:a16="http://schemas.microsoft.com/office/drawing/2014/main" id="{74DFA55A-A9EA-E642-9317-281771A9922E}"/>
              </a:ext>
            </a:extLst>
          </p:cNvPr>
          <p:cNvPicPr>
            <a:picLocks noChangeAspect="1"/>
          </p:cNvPicPr>
          <p:nvPr/>
        </p:nvPicPr>
        <p:blipFill>
          <a:blip r:embed="rId5"/>
          <a:stretch>
            <a:fillRect/>
          </a:stretch>
        </p:blipFill>
        <p:spPr>
          <a:xfrm>
            <a:off x="1060704" y="4001667"/>
            <a:ext cx="10070592" cy="2481578"/>
          </a:xfrm>
          <a:prstGeom prst="rect">
            <a:avLst/>
          </a:prstGeom>
        </p:spPr>
      </p:pic>
      <p:sp>
        <p:nvSpPr>
          <p:cNvPr id="14" name="文本框 13">
            <a:extLst>
              <a:ext uri="{FF2B5EF4-FFF2-40B4-BE49-F238E27FC236}">
                <a16:creationId xmlns:a16="http://schemas.microsoft.com/office/drawing/2014/main" id="{DF88136F-02D6-FB46-A4A5-A9575ABA89E6}"/>
              </a:ext>
            </a:extLst>
          </p:cNvPr>
          <p:cNvSpPr txBox="1"/>
          <p:nvPr/>
        </p:nvSpPr>
        <p:spPr>
          <a:xfrm>
            <a:off x="3820625" y="3747217"/>
            <a:ext cx="5750735" cy="307777"/>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Table 2: Defendant-level results on CMDL-small reporting article-level laws.</a:t>
            </a:r>
          </a:p>
        </p:txBody>
      </p:sp>
      <p:sp>
        <p:nvSpPr>
          <p:cNvPr id="15" name="文本框 14">
            <a:extLst>
              <a:ext uri="{FF2B5EF4-FFF2-40B4-BE49-F238E27FC236}">
                <a16:creationId xmlns:a16="http://schemas.microsoft.com/office/drawing/2014/main" id="{5C74FCF7-953B-AE40-B4D0-B33EAEC32FF9}"/>
              </a:ext>
            </a:extLst>
          </p:cNvPr>
          <p:cNvSpPr txBox="1"/>
          <p:nvPr/>
        </p:nvSpPr>
        <p:spPr>
          <a:xfrm>
            <a:off x="3674640" y="6504730"/>
            <a:ext cx="6042704" cy="307777"/>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Table 3: Defendant-level results on CMDL-small reporting paragraph-level laws.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19"/>
        <p:cNvGrpSpPr/>
        <p:nvPr/>
      </p:nvGrpSpPr>
      <p:grpSpPr>
        <a:xfrm>
          <a:off x="0" y="0"/>
          <a:ext cx="0" cy="0"/>
          <a:chOff x="0" y="0"/>
          <a:chExt cx="0" cy="0"/>
        </a:xfrm>
      </p:grpSpPr>
      <p:sp>
        <p:nvSpPr>
          <p:cNvPr id="120" name="Google Shape;120;p21"/>
          <p:cNvSpPr txBox="1"/>
          <p:nvPr/>
        </p:nvSpPr>
        <p:spPr>
          <a:xfrm>
            <a:off x="2423693" y="188731"/>
            <a:ext cx="85446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altLang="zh-CN" sz="2800" b="1" dirty="0">
                <a:solidFill>
                  <a:schemeClr val="tx1"/>
                </a:solidFill>
                <a:latin typeface="Times"/>
                <a:ea typeface="Times"/>
                <a:cs typeface="Times"/>
                <a:sym typeface="Times"/>
              </a:rPr>
              <a:t>Experimental Results (cont.)</a:t>
            </a:r>
            <a:endParaRPr sz="2800" b="1" i="0" u="none" strike="noStrike" cap="none" dirty="0">
              <a:solidFill>
                <a:schemeClr val="tx1"/>
              </a:solidFill>
              <a:latin typeface="Microsoft Yahei"/>
              <a:ea typeface="Microsoft Yahei"/>
              <a:cs typeface="Microsoft Yahei"/>
              <a:sym typeface="Microsoft Yahei"/>
            </a:endParaRPr>
          </a:p>
        </p:txBody>
      </p:sp>
      <p:pic>
        <p:nvPicPr>
          <p:cNvPr id="3" name="图片 2">
            <a:extLst>
              <a:ext uri="{FF2B5EF4-FFF2-40B4-BE49-F238E27FC236}">
                <a16:creationId xmlns:a16="http://schemas.microsoft.com/office/drawing/2014/main" id="{E8866026-1A3E-E14D-ABCC-8CDB6B0FB5FD}"/>
              </a:ext>
            </a:extLst>
          </p:cNvPr>
          <p:cNvPicPr>
            <a:picLocks noChangeAspect="1"/>
          </p:cNvPicPr>
          <p:nvPr/>
        </p:nvPicPr>
        <p:blipFill>
          <a:blip r:embed="rId3"/>
          <a:stretch>
            <a:fillRect/>
          </a:stretch>
        </p:blipFill>
        <p:spPr>
          <a:xfrm>
            <a:off x="786384" y="1595652"/>
            <a:ext cx="10619232" cy="3075846"/>
          </a:xfrm>
          <a:prstGeom prst="rect">
            <a:avLst/>
          </a:prstGeom>
        </p:spPr>
      </p:pic>
      <p:sp>
        <p:nvSpPr>
          <p:cNvPr id="8" name="文本框 7">
            <a:extLst>
              <a:ext uri="{FF2B5EF4-FFF2-40B4-BE49-F238E27FC236}">
                <a16:creationId xmlns:a16="http://schemas.microsoft.com/office/drawing/2014/main" id="{D531E0B5-91BF-5648-8493-A86BCFE86A9B}"/>
              </a:ext>
            </a:extLst>
          </p:cNvPr>
          <p:cNvSpPr txBox="1"/>
          <p:nvPr/>
        </p:nvSpPr>
        <p:spPr>
          <a:xfrm>
            <a:off x="3674641" y="4671498"/>
            <a:ext cx="6042704" cy="307777"/>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Table 4: Case-level results on CMDL-small reporting article-level laws.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27"/>
        <p:cNvGrpSpPr/>
        <p:nvPr/>
      </p:nvGrpSpPr>
      <p:grpSpPr>
        <a:xfrm>
          <a:off x="0" y="0"/>
          <a:ext cx="0" cy="0"/>
          <a:chOff x="0" y="0"/>
          <a:chExt cx="0" cy="0"/>
        </a:xfrm>
      </p:grpSpPr>
      <p:sp>
        <p:nvSpPr>
          <p:cNvPr id="128" name="Google Shape;128;p22"/>
          <p:cNvSpPr txBox="1"/>
          <p:nvPr/>
        </p:nvSpPr>
        <p:spPr>
          <a:xfrm>
            <a:off x="2423693" y="188731"/>
            <a:ext cx="85446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altLang="zh-CN" sz="2800" b="1" dirty="0">
                <a:solidFill>
                  <a:schemeClr val="tx1"/>
                </a:solidFill>
                <a:latin typeface="Times"/>
                <a:ea typeface="Times"/>
                <a:cs typeface="Times"/>
                <a:sym typeface="Times"/>
              </a:rPr>
              <a:t>Experimental Results (cont.)</a:t>
            </a:r>
            <a:endParaRPr sz="2800" b="1" i="0" u="none" strike="noStrike" cap="none" dirty="0">
              <a:solidFill>
                <a:schemeClr val="tx1"/>
              </a:solidFill>
              <a:latin typeface="Microsoft Yahei"/>
              <a:ea typeface="Microsoft Yahei"/>
              <a:cs typeface="Microsoft Yahei"/>
              <a:sym typeface="Microsoft Yahei"/>
            </a:endParaRPr>
          </a:p>
        </p:txBody>
      </p:sp>
      <p:pic>
        <p:nvPicPr>
          <p:cNvPr id="3" name="图片 2">
            <a:extLst>
              <a:ext uri="{FF2B5EF4-FFF2-40B4-BE49-F238E27FC236}">
                <a16:creationId xmlns:a16="http://schemas.microsoft.com/office/drawing/2014/main" id="{8156B3A4-E375-2241-BE0B-B0DA34715628}"/>
              </a:ext>
            </a:extLst>
          </p:cNvPr>
          <p:cNvPicPr>
            <a:picLocks noChangeAspect="1"/>
          </p:cNvPicPr>
          <p:nvPr/>
        </p:nvPicPr>
        <p:blipFill>
          <a:blip r:embed="rId3"/>
          <a:stretch>
            <a:fillRect/>
          </a:stretch>
        </p:blipFill>
        <p:spPr>
          <a:xfrm>
            <a:off x="0" y="1428314"/>
            <a:ext cx="12192000" cy="2523886"/>
          </a:xfrm>
          <a:prstGeom prst="rect">
            <a:avLst/>
          </a:prstGeom>
        </p:spPr>
      </p:pic>
      <p:sp>
        <p:nvSpPr>
          <p:cNvPr id="8" name="文本框 7">
            <a:extLst>
              <a:ext uri="{FF2B5EF4-FFF2-40B4-BE49-F238E27FC236}">
                <a16:creationId xmlns:a16="http://schemas.microsoft.com/office/drawing/2014/main" id="{1FF857B0-4781-0B4A-8581-A90105F1A265}"/>
              </a:ext>
            </a:extLst>
          </p:cNvPr>
          <p:cNvSpPr txBox="1"/>
          <p:nvPr/>
        </p:nvSpPr>
        <p:spPr>
          <a:xfrm>
            <a:off x="3440729" y="4125142"/>
            <a:ext cx="6510528" cy="307777"/>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Figure 6: Reported F1 scores of judgment prediction results on different types of cases.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143"/>
        <p:cNvGrpSpPr/>
        <p:nvPr/>
      </p:nvGrpSpPr>
      <p:grpSpPr>
        <a:xfrm>
          <a:off x="0" y="0"/>
          <a:ext cx="0" cy="0"/>
          <a:chOff x="0" y="0"/>
          <a:chExt cx="0" cy="0"/>
        </a:xfrm>
      </p:grpSpPr>
      <p:sp>
        <p:nvSpPr>
          <p:cNvPr id="144" name="Google Shape;144;p24"/>
          <p:cNvSpPr txBox="1"/>
          <p:nvPr/>
        </p:nvSpPr>
        <p:spPr>
          <a:xfrm>
            <a:off x="2423693" y="188731"/>
            <a:ext cx="85446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chemeClr val="tx1"/>
                </a:solidFill>
                <a:latin typeface="Times"/>
                <a:ea typeface="Microsoft Yahei"/>
                <a:cs typeface="Microsoft Yahei"/>
                <a:sym typeface="Times"/>
              </a:rPr>
              <a:t>Conclusions</a:t>
            </a:r>
            <a:endParaRPr sz="2800" b="1" i="0" u="none" strike="noStrike" cap="none" dirty="0">
              <a:solidFill>
                <a:schemeClr val="tx1"/>
              </a:solidFill>
              <a:latin typeface="Microsoft Yahei"/>
              <a:ea typeface="Microsoft Yahei"/>
              <a:cs typeface="Microsoft Yahei"/>
              <a:sym typeface="Microsoft Yahei"/>
            </a:endParaRPr>
          </a:p>
        </p:txBody>
      </p:sp>
      <p:sp>
        <p:nvSpPr>
          <p:cNvPr id="145" name="Google Shape;145;p24"/>
          <p:cNvSpPr txBox="1"/>
          <p:nvPr/>
        </p:nvSpPr>
        <p:spPr>
          <a:xfrm>
            <a:off x="512700" y="1124900"/>
            <a:ext cx="10838100" cy="2985392"/>
          </a:xfrm>
          <a:prstGeom prst="rect">
            <a:avLst/>
          </a:prstGeom>
          <a:noFill/>
          <a:ln>
            <a:noFill/>
          </a:ln>
        </p:spPr>
        <p:txBody>
          <a:bodyPr spcFirstLastPara="1" wrap="square" lIns="91425" tIns="45700" rIns="91425" bIns="45700" anchor="t" anchorCtr="0">
            <a:spAutoFit/>
          </a:bodyPr>
          <a:lstStyle/>
          <a:p>
            <a:pPr marL="457200" marR="0" lvl="0" indent="-355600" algn="l" rtl="0">
              <a:lnSpc>
                <a:spcPct val="115000"/>
              </a:lnSpc>
              <a:spcBef>
                <a:spcPts val="1200"/>
              </a:spcBef>
              <a:spcAft>
                <a:spcPts val="0"/>
              </a:spcAft>
              <a:buSzPts val="2000"/>
              <a:buFont typeface="Times"/>
              <a:buChar char="●"/>
            </a:pPr>
            <a:r>
              <a:rPr lang="en-US" sz="2000" dirty="0">
                <a:latin typeface="Times"/>
                <a:ea typeface="Times"/>
                <a:cs typeface="Times"/>
                <a:sym typeface="Times"/>
              </a:rPr>
              <a:t>Pre-trained models have a clear advantage in multi-defendant LJP.</a:t>
            </a:r>
          </a:p>
          <a:p>
            <a:pPr marL="457200" marR="0" lvl="0" indent="-355600" algn="l" rtl="0">
              <a:lnSpc>
                <a:spcPct val="115000"/>
              </a:lnSpc>
              <a:spcBef>
                <a:spcPts val="1200"/>
              </a:spcBef>
              <a:spcAft>
                <a:spcPts val="0"/>
              </a:spcAft>
              <a:buSzPts val="2000"/>
              <a:buFont typeface="Times"/>
              <a:buChar char="●"/>
            </a:pPr>
            <a:r>
              <a:rPr lang="en-US" sz="2000" dirty="0">
                <a:latin typeface="Times"/>
                <a:ea typeface="Times"/>
                <a:cs typeface="Times"/>
                <a:sym typeface="Times"/>
              </a:rPr>
              <a:t>Models struggle more with the prediction of finer-grained legal provision labels.</a:t>
            </a:r>
          </a:p>
          <a:p>
            <a:pPr marL="457200" marR="0" lvl="0" indent="-355600" algn="l" rtl="0">
              <a:lnSpc>
                <a:spcPct val="115000"/>
              </a:lnSpc>
              <a:spcBef>
                <a:spcPts val="1200"/>
              </a:spcBef>
              <a:spcAft>
                <a:spcPts val="0"/>
              </a:spcAft>
              <a:buSzPts val="2000"/>
              <a:buFont typeface="Times"/>
              <a:buChar char="●"/>
            </a:pPr>
            <a:r>
              <a:rPr lang="en-US" sz="2000" dirty="0">
                <a:latin typeface="Times"/>
                <a:ea typeface="Times"/>
                <a:cs typeface="Times"/>
                <a:sym typeface="Times"/>
              </a:rPr>
              <a:t>All models show unsatisfactory performance  in terms of penalty predictions.</a:t>
            </a:r>
          </a:p>
          <a:p>
            <a:pPr marL="457200" marR="0" lvl="0" indent="-355600" algn="l" rtl="0">
              <a:lnSpc>
                <a:spcPct val="115000"/>
              </a:lnSpc>
              <a:spcBef>
                <a:spcPts val="1200"/>
              </a:spcBef>
              <a:spcAft>
                <a:spcPts val="0"/>
              </a:spcAft>
              <a:buSzPts val="2000"/>
              <a:buFont typeface="Times"/>
              <a:buChar char="●"/>
            </a:pPr>
            <a:r>
              <a:rPr lang="en-US" sz="2000" dirty="0">
                <a:latin typeface="Times"/>
                <a:ea typeface="Times"/>
                <a:cs typeface="Times"/>
                <a:sym typeface="Times"/>
              </a:rPr>
              <a:t>Predicting cases involving defendants with multiple charges is more challenging than those where all defendants only with a single charge (SC).</a:t>
            </a:r>
          </a:p>
          <a:p>
            <a:pPr marL="457200" marR="0" lvl="0" indent="-355600" algn="l" rtl="0">
              <a:lnSpc>
                <a:spcPct val="115000"/>
              </a:lnSpc>
              <a:spcBef>
                <a:spcPts val="1200"/>
              </a:spcBef>
              <a:spcAft>
                <a:spcPts val="0"/>
              </a:spcAft>
              <a:buSzPts val="2000"/>
              <a:buFont typeface="Times"/>
              <a:buChar char="●"/>
            </a:pPr>
            <a:r>
              <a:rPr lang="en-US" sz="2000" dirty="0">
                <a:latin typeface="Times"/>
                <a:ea typeface="Times"/>
                <a:cs typeface="Times"/>
                <a:sym typeface="Times"/>
              </a:rPr>
              <a:t>Predicting different penalties for defendants with the same charge is evidently more challenging.</a:t>
            </a:r>
            <a:endParaRPr sz="2000" dirty="0">
              <a:latin typeface="Times"/>
              <a:ea typeface="Times"/>
              <a:cs typeface="Times"/>
              <a:sym typeface="Time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4;p24">
            <a:extLst>
              <a:ext uri="{FF2B5EF4-FFF2-40B4-BE49-F238E27FC236}">
                <a16:creationId xmlns:a16="http://schemas.microsoft.com/office/drawing/2014/main" id="{6F359DD9-C300-CF0B-10EE-85E31EA5137E}"/>
              </a:ext>
            </a:extLst>
          </p:cNvPr>
          <p:cNvSpPr txBox="1"/>
          <p:nvPr/>
        </p:nvSpPr>
        <p:spPr>
          <a:xfrm>
            <a:off x="2423693" y="188731"/>
            <a:ext cx="85446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chemeClr val="tx1"/>
                </a:solidFill>
                <a:latin typeface="Times"/>
                <a:ea typeface="Microsoft Yahei"/>
                <a:cs typeface="Microsoft Yahei"/>
                <a:sym typeface="Times"/>
              </a:rPr>
              <a:t>Strengths and Weaknesses</a:t>
            </a:r>
            <a:endParaRPr sz="2800" b="1" i="0" u="none" strike="noStrike" cap="none" dirty="0">
              <a:solidFill>
                <a:schemeClr val="tx1"/>
              </a:solidFill>
              <a:latin typeface="Microsoft Yahei"/>
              <a:ea typeface="Microsoft Yahei"/>
              <a:cs typeface="Microsoft Yahei"/>
              <a:sym typeface="Microsoft Yahei"/>
            </a:endParaRPr>
          </a:p>
        </p:txBody>
      </p:sp>
      <p:sp>
        <p:nvSpPr>
          <p:cNvPr id="3" name="Google Shape;145;p24">
            <a:extLst>
              <a:ext uri="{FF2B5EF4-FFF2-40B4-BE49-F238E27FC236}">
                <a16:creationId xmlns:a16="http://schemas.microsoft.com/office/drawing/2014/main" id="{525FF329-9113-7C96-7DD2-E84B29D5935B}"/>
              </a:ext>
            </a:extLst>
          </p:cNvPr>
          <p:cNvSpPr txBox="1"/>
          <p:nvPr/>
        </p:nvSpPr>
        <p:spPr>
          <a:xfrm>
            <a:off x="512700" y="1124900"/>
            <a:ext cx="10838100" cy="600124"/>
          </a:xfrm>
          <a:prstGeom prst="rect">
            <a:avLst/>
          </a:prstGeom>
          <a:noFill/>
          <a:ln>
            <a:noFill/>
          </a:ln>
        </p:spPr>
        <p:txBody>
          <a:bodyPr spcFirstLastPara="1" wrap="square" lIns="91425" tIns="45700" rIns="91425" bIns="45700" anchor="t" anchorCtr="0">
            <a:spAutoFit/>
          </a:bodyPr>
          <a:lstStyle/>
          <a:p>
            <a:pPr marL="457200" marR="0" lvl="0" indent="-355600" algn="l" rtl="0">
              <a:lnSpc>
                <a:spcPct val="115000"/>
              </a:lnSpc>
              <a:spcBef>
                <a:spcPts val="1200"/>
              </a:spcBef>
              <a:spcAft>
                <a:spcPts val="0"/>
              </a:spcAft>
              <a:buSzPts val="2000"/>
              <a:buFont typeface="Times"/>
              <a:buChar char="●"/>
            </a:pPr>
            <a:r>
              <a:rPr lang="en-US" sz="2000" dirty="0">
                <a:latin typeface="Times"/>
                <a:ea typeface="Times"/>
                <a:cs typeface="Times"/>
                <a:sym typeface="Times"/>
              </a:rPr>
              <a:t>Strengths:</a:t>
            </a:r>
          </a:p>
        </p:txBody>
      </p:sp>
      <p:sp>
        <p:nvSpPr>
          <p:cNvPr id="4" name="Google Shape;145;p24">
            <a:extLst>
              <a:ext uri="{FF2B5EF4-FFF2-40B4-BE49-F238E27FC236}">
                <a16:creationId xmlns:a16="http://schemas.microsoft.com/office/drawing/2014/main" id="{F6AA5E75-4DC1-BAC3-7DBA-0661419BE1EB}"/>
              </a:ext>
            </a:extLst>
          </p:cNvPr>
          <p:cNvSpPr txBox="1"/>
          <p:nvPr/>
        </p:nvSpPr>
        <p:spPr>
          <a:xfrm>
            <a:off x="676950" y="1451815"/>
            <a:ext cx="10838100" cy="2123618"/>
          </a:xfrm>
          <a:prstGeom prst="rect">
            <a:avLst/>
          </a:prstGeom>
          <a:noFill/>
          <a:ln>
            <a:noFill/>
          </a:ln>
        </p:spPr>
        <p:txBody>
          <a:bodyPr spcFirstLastPara="1" wrap="square" lIns="91425" tIns="45700" rIns="91425" bIns="45700" anchor="t" anchorCtr="0">
            <a:spAutoFit/>
          </a:bodyPr>
          <a:lstStyle/>
          <a:p>
            <a:pPr marL="457200" marR="0" lvl="0" indent="-355600" algn="l" rtl="0">
              <a:lnSpc>
                <a:spcPct val="115000"/>
              </a:lnSpc>
              <a:spcBef>
                <a:spcPts val="1200"/>
              </a:spcBef>
              <a:spcAft>
                <a:spcPts val="0"/>
              </a:spcAft>
              <a:buSzPts val="2000"/>
              <a:buFont typeface="Times"/>
              <a:buChar char="●"/>
            </a:pPr>
            <a:r>
              <a:rPr lang="en-US" sz="2000" dirty="0">
                <a:latin typeface="Times"/>
                <a:ea typeface="Times"/>
                <a:cs typeface="Times"/>
                <a:sym typeface="Times"/>
              </a:rPr>
              <a:t>Large-scale</a:t>
            </a:r>
          </a:p>
          <a:p>
            <a:pPr marL="457200" marR="0" lvl="0" indent="-355600" algn="l" rtl="0">
              <a:lnSpc>
                <a:spcPct val="115000"/>
              </a:lnSpc>
              <a:spcBef>
                <a:spcPts val="1200"/>
              </a:spcBef>
              <a:spcAft>
                <a:spcPts val="0"/>
              </a:spcAft>
              <a:buSzPts val="2000"/>
              <a:buFont typeface="Times"/>
              <a:buChar char="●"/>
            </a:pPr>
            <a:r>
              <a:rPr lang="en-US" sz="2000" dirty="0">
                <a:latin typeface="Times"/>
                <a:ea typeface="Times"/>
                <a:cs typeface="Times"/>
                <a:sym typeface="Times"/>
              </a:rPr>
              <a:t>Rich, structured annotations</a:t>
            </a:r>
          </a:p>
          <a:p>
            <a:pPr marL="457200" marR="0" lvl="0" indent="-355600" algn="l" rtl="0">
              <a:lnSpc>
                <a:spcPct val="115000"/>
              </a:lnSpc>
              <a:spcBef>
                <a:spcPts val="1200"/>
              </a:spcBef>
              <a:spcAft>
                <a:spcPts val="0"/>
              </a:spcAft>
              <a:buSzPts val="2000"/>
              <a:buFont typeface="Times"/>
              <a:buChar char="●"/>
            </a:pPr>
            <a:r>
              <a:rPr lang="en-US" sz="2000" dirty="0">
                <a:latin typeface="Times"/>
                <a:ea typeface="Times"/>
                <a:cs typeface="Times"/>
                <a:sym typeface="Times"/>
              </a:rPr>
              <a:t>Case-level metrics that better reflect real multi-defendant difficulty</a:t>
            </a:r>
          </a:p>
          <a:p>
            <a:pPr marL="457200" marR="0" lvl="0" indent="-355600" algn="l" rtl="0">
              <a:lnSpc>
                <a:spcPct val="115000"/>
              </a:lnSpc>
              <a:spcBef>
                <a:spcPts val="1200"/>
              </a:spcBef>
              <a:spcAft>
                <a:spcPts val="0"/>
              </a:spcAft>
              <a:buSzPts val="2000"/>
              <a:buFont typeface="Times"/>
              <a:buChar char="●"/>
            </a:pPr>
            <a:r>
              <a:rPr lang="en-US" sz="2000" dirty="0">
                <a:latin typeface="Times"/>
                <a:ea typeface="Times"/>
                <a:cs typeface="Times"/>
                <a:sym typeface="Times"/>
              </a:rPr>
              <a:t>Automatic pipeline that make the dataset extendable</a:t>
            </a:r>
          </a:p>
        </p:txBody>
      </p:sp>
      <p:sp>
        <p:nvSpPr>
          <p:cNvPr id="5" name="Google Shape;145;p24">
            <a:extLst>
              <a:ext uri="{FF2B5EF4-FFF2-40B4-BE49-F238E27FC236}">
                <a16:creationId xmlns:a16="http://schemas.microsoft.com/office/drawing/2014/main" id="{C159715B-C7A4-178E-693B-03E55AE2422E}"/>
              </a:ext>
            </a:extLst>
          </p:cNvPr>
          <p:cNvSpPr txBox="1"/>
          <p:nvPr/>
        </p:nvSpPr>
        <p:spPr>
          <a:xfrm>
            <a:off x="512700" y="3602286"/>
            <a:ext cx="10838100" cy="600124"/>
          </a:xfrm>
          <a:prstGeom prst="rect">
            <a:avLst/>
          </a:prstGeom>
          <a:noFill/>
          <a:ln>
            <a:noFill/>
          </a:ln>
        </p:spPr>
        <p:txBody>
          <a:bodyPr spcFirstLastPara="1" wrap="square" lIns="91425" tIns="45700" rIns="91425" bIns="45700" anchor="t" anchorCtr="0">
            <a:spAutoFit/>
          </a:bodyPr>
          <a:lstStyle/>
          <a:p>
            <a:pPr marL="457200" marR="0" lvl="0" indent="-355600" algn="l" rtl="0">
              <a:lnSpc>
                <a:spcPct val="115000"/>
              </a:lnSpc>
              <a:spcBef>
                <a:spcPts val="1200"/>
              </a:spcBef>
              <a:spcAft>
                <a:spcPts val="0"/>
              </a:spcAft>
              <a:buSzPts val="2000"/>
              <a:buFont typeface="Times"/>
              <a:buChar char="●"/>
            </a:pPr>
            <a:r>
              <a:rPr lang="en-US" sz="2000" dirty="0">
                <a:latin typeface="Times"/>
                <a:ea typeface="Times"/>
                <a:cs typeface="Times"/>
                <a:sym typeface="Times"/>
              </a:rPr>
              <a:t>Weaknesses:</a:t>
            </a:r>
          </a:p>
        </p:txBody>
      </p:sp>
      <p:sp>
        <p:nvSpPr>
          <p:cNvPr id="6" name="Google Shape;145;p24">
            <a:extLst>
              <a:ext uri="{FF2B5EF4-FFF2-40B4-BE49-F238E27FC236}">
                <a16:creationId xmlns:a16="http://schemas.microsoft.com/office/drawing/2014/main" id="{526DBD7D-7FED-A5C1-22D2-8C2BAAD4A281}"/>
              </a:ext>
            </a:extLst>
          </p:cNvPr>
          <p:cNvSpPr txBox="1"/>
          <p:nvPr/>
        </p:nvSpPr>
        <p:spPr>
          <a:xfrm>
            <a:off x="676950" y="3956054"/>
            <a:ext cx="10838100" cy="1107955"/>
          </a:xfrm>
          <a:prstGeom prst="rect">
            <a:avLst/>
          </a:prstGeom>
          <a:noFill/>
          <a:ln>
            <a:noFill/>
          </a:ln>
        </p:spPr>
        <p:txBody>
          <a:bodyPr spcFirstLastPara="1" wrap="square" lIns="91425" tIns="45700" rIns="91425" bIns="45700" anchor="t" anchorCtr="0">
            <a:spAutoFit/>
          </a:bodyPr>
          <a:lstStyle/>
          <a:p>
            <a:pPr marL="457200" marR="0" lvl="0" indent="-355600" algn="l" rtl="0">
              <a:lnSpc>
                <a:spcPct val="115000"/>
              </a:lnSpc>
              <a:spcBef>
                <a:spcPts val="1200"/>
              </a:spcBef>
              <a:spcAft>
                <a:spcPts val="0"/>
              </a:spcAft>
              <a:buSzPts val="2000"/>
              <a:buFont typeface="Times"/>
              <a:buChar char="●"/>
            </a:pPr>
            <a:r>
              <a:rPr lang="en-US" sz="2000" dirty="0">
                <a:latin typeface="Times"/>
                <a:ea typeface="Times"/>
                <a:cs typeface="Times"/>
                <a:sym typeface="Times"/>
              </a:rPr>
              <a:t>No end-to-end multi-defendant model is evaluated.</a:t>
            </a:r>
          </a:p>
          <a:p>
            <a:pPr marL="457200" marR="0" lvl="0" indent="-355600" algn="l" rtl="0">
              <a:lnSpc>
                <a:spcPct val="115000"/>
              </a:lnSpc>
              <a:spcBef>
                <a:spcPts val="1200"/>
              </a:spcBef>
              <a:spcAft>
                <a:spcPts val="0"/>
              </a:spcAft>
              <a:buSzPts val="2000"/>
              <a:buFont typeface="Times"/>
              <a:buChar char="●"/>
            </a:pPr>
            <a:r>
              <a:rPr lang="en-US" sz="2000" dirty="0">
                <a:latin typeface="Times"/>
                <a:ea typeface="Times"/>
                <a:cs typeface="Times"/>
                <a:sym typeface="Times"/>
              </a:rPr>
              <a:t>The evaluated baseline do not model legal interactions among defendants.</a:t>
            </a:r>
          </a:p>
        </p:txBody>
      </p:sp>
    </p:spTree>
    <p:extLst>
      <p:ext uri="{BB962C8B-B14F-4D97-AF65-F5344CB8AC3E}">
        <p14:creationId xmlns:p14="http://schemas.microsoft.com/office/powerpoint/2010/main" val="1659822627"/>
      </p:ext>
    </p:extLst>
  </p:cSld>
  <p:clrMapOvr>
    <a:masterClrMapping/>
  </p:clrMapOvr>
</p:sld>
</file>

<file path=ppt/theme/theme1.xml><?xml version="1.0" encoding="utf-8"?>
<a:theme xmlns:a="http://schemas.openxmlformats.org/drawingml/2006/main" name="自定义设计方案">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设计方案">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自定义 1">
      <a:dk1>
        <a:srgbClr val="000000"/>
      </a:dk1>
      <a:lt1>
        <a:srgbClr val="FFFFFF"/>
      </a:lt1>
      <a:dk2>
        <a:srgbClr val="69125E"/>
      </a:dk2>
      <a:lt2>
        <a:srgbClr val="FFFFFF"/>
      </a:lt2>
      <a:accent1>
        <a:srgbClr val="FFFFFF"/>
      </a:accent1>
      <a:accent2>
        <a:srgbClr val="69125E"/>
      </a:accent2>
      <a:accent3>
        <a:srgbClr val="FFFFFF"/>
      </a:accent3>
      <a:accent4>
        <a:srgbClr val="000000"/>
      </a:accent4>
      <a:accent5>
        <a:srgbClr val="FFFFFF"/>
      </a:accent5>
      <a:accent6>
        <a:srgbClr val="69125E"/>
      </a:accent6>
      <a:hlink>
        <a:srgbClr val="FFFFFF"/>
      </a:hlink>
      <a:folHlink>
        <a:srgbClr val="69125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2937</TotalTime>
  <Words>3147</Words>
  <Application>Microsoft Macintosh PowerPoint</Application>
  <PresentationFormat>宽屏</PresentationFormat>
  <Paragraphs>229</Paragraphs>
  <Slides>21</Slides>
  <Notes>21</Notes>
  <HiddenSlides>0</HiddenSlides>
  <MMClips>0</MMClips>
  <ScaleCrop>false</ScaleCrop>
  <HeadingPairs>
    <vt:vector size="6" baseType="variant">
      <vt:variant>
        <vt:lpstr>已用的字体</vt:lpstr>
      </vt:variant>
      <vt:variant>
        <vt:i4>5</vt:i4>
      </vt:variant>
      <vt:variant>
        <vt:lpstr>主题</vt:lpstr>
      </vt:variant>
      <vt:variant>
        <vt:i4>3</vt:i4>
      </vt:variant>
      <vt:variant>
        <vt:lpstr>幻灯片标题</vt:lpstr>
      </vt:variant>
      <vt:variant>
        <vt:i4>21</vt:i4>
      </vt:variant>
    </vt:vector>
  </HeadingPairs>
  <TitlesOfParts>
    <vt:vector size="29" baseType="lpstr">
      <vt:lpstr>Microsoft Yahei</vt:lpstr>
      <vt:lpstr>Times</vt:lpstr>
      <vt:lpstr>Arial</vt:lpstr>
      <vt:lpstr>Times New Roman</vt:lpstr>
      <vt:lpstr>Wingdings</vt:lpstr>
      <vt:lpstr>自定义设计方案</vt:lpstr>
      <vt:lpstr>自定义设计方案</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HAN Zhuo</cp:lastModifiedBy>
  <cp:revision>67</cp:revision>
  <dcterms:modified xsi:type="dcterms:W3CDTF">2025-11-07T03:30:59Z</dcterms:modified>
</cp:coreProperties>
</file>